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7f713336bf0415e" /><Relationship Type="http://schemas.openxmlformats.org/officeDocument/2006/relationships/extended-properties" Target="/docProps/app.xml" Id="Rd0c9c648ba054035" /><Relationship Type="http://schemas.openxmlformats.org/officeDocument/2006/relationships/officeDocument" Target="/ppt/presentation.xml" Id="R6c4447055ae84afc" /></Relationships>
</file>

<file path=ppt/presentation.xml><?xml version="1.0" encoding="utf-8"?>
<p:presentation xmlns:p="http://schemas.openxmlformats.org/presentationml/2006/main">
  <p:sldMasterIdLst>
    <p:sldMasterId xmlns:r="http://schemas.openxmlformats.org/officeDocument/2006/relationships" id="2147483648" r:id="Rd06eb24e984a4e15"/>
  </p:sldMasterIdLst>
  <p:notesMasterIdLst>
    <p:notesMasterId xmlns:r="http://schemas.openxmlformats.org/officeDocument/2006/relationships" r:id="R0dc8cfb09f9043e9"/>
  </p:notesMasterIdLst>
  <p:sldIdLst>
    <p:sldId xmlns:r="http://schemas.openxmlformats.org/officeDocument/2006/relationships" id="256" r:id="Re4862b5bccbd49fb"/>
    <p:sldId xmlns:r="http://schemas.openxmlformats.org/officeDocument/2006/relationships" id="257" r:id="R030f09fce62f4e6d"/>
    <p:sldId xmlns:r="http://schemas.openxmlformats.org/officeDocument/2006/relationships" id="258" r:id="Rdfe2818f7f8d472d"/>
    <p:sldId xmlns:r="http://schemas.openxmlformats.org/officeDocument/2006/relationships" id="259" r:id="Rb0e5c31ae52f4d9b"/>
    <p:sldId xmlns:r="http://schemas.openxmlformats.org/officeDocument/2006/relationships" id="260" r:id="R3e0a682cc0da4034"/>
    <p:sldId xmlns:r="http://schemas.openxmlformats.org/officeDocument/2006/relationships" id="261" r:id="R62a000c6df5241f3"/>
    <p:sldId xmlns:r="http://schemas.openxmlformats.org/officeDocument/2006/relationships" id="262" r:id="Rae2c408dbbd04a4c"/>
    <p:sldId xmlns:r="http://schemas.openxmlformats.org/officeDocument/2006/relationships" id="263" r:id="Rfd9eec52ed904110"/>
    <p:sldId xmlns:r="http://schemas.openxmlformats.org/officeDocument/2006/relationships" id="264" r:id="R9b46df9a92ec4175"/>
    <p:sldId xmlns:r="http://schemas.openxmlformats.org/officeDocument/2006/relationships" id="265" r:id="R629b1af80848410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23221e0a3cd449d" /><Relationship Type="http://schemas.openxmlformats.org/officeDocument/2006/relationships/slideMaster" Target="/ppt/slideMasters/slideMaster1.xml" Id="Rd06eb24e984a4e15" /><Relationship Type="http://schemas.openxmlformats.org/officeDocument/2006/relationships/notesMaster" Target="/ppt/notesMasters/notesMaster1.xml" Id="R0dc8cfb09f9043e9" /><Relationship Type="http://schemas.openxmlformats.org/officeDocument/2006/relationships/presProps" Target="/ppt/presProps.xml" Id="R8c16b657dc4240dc" /><Relationship Type="http://schemas.openxmlformats.org/officeDocument/2006/relationships/tableStyles" Target="/ppt/tableStyles.xml" Id="Rd029ab4b7dc34993" /><Relationship Type="http://schemas.openxmlformats.org/officeDocument/2006/relationships/slide" Target="/ppt/slides/slide1.xml" Id="Re4862b5bccbd49fb" /><Relationship Type="http://schemas.openxmlformats.org/officeDocument/2006/relationships/slide" Target="/ppt/slides/slide2.xml" Id="R030f09fce62f4e6d" /><Relationship Type="http://schemas.openxmlformats.org/officeDocument/2006/relationships/slide" Target="/ppt/slides/slide3.xml" Id="Rdfe2818f7f8d472d" /><Relationship Type="http://schemas.openxmlformats.org/officeDocument/2006/relationships/slide" Target="/ppt/slides/slide4.xml" Id="Rb0e5c31ae52f4d9b" /><Relationship Type="http://schemas.openxmlformats.org/officeDocument/2006/relationships/slide" Target="/ppt/slides/slide5.xml" Id="R3e0a682cc0da4034" /><Relationship Type="http://schemas.openxmlformats.org/officeDocument/2006/relationships/slide" Target="/ppt/slides/slide6.xml" Id="R62a000c6df5241f3" /><Relationship Type="http://schemas.openxmlformats.org/officeDocument/2006/relationships/slide" Target="/ppt/slides/slide7.xml" Id="Rae2c408dbbd04a4c" /><Relationship Type="http://schemas.openxmlformats.org/officeDocument/2006/relationships/slide" Target="/ppt/slides/slide8.xml" Id="Rfd9eec52ed904110" /><Relationship Type="http://schemas.openxmlformats.org/officeDocument/2006/relationships/slide" Target="/ppt/slides/slide9.xml" Id="R9b46df9a92ec4175" /><Relationship Type="http://schemas.openxmlformats.org/officeDocument/2006/relationships/slide" Target="/ppt/slides/slide10.xml" Id="R629b1af80848410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2d72962f51148b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Mathguard / Classic Shield">
      <a:dk1>
        <a:srgbClr val="101D32"/>
      </a:dk1>
      <a:lt1>
        <a:srgbClr val="F6F4ED"/>
      </a:lt1>
      <a:dk2>
        <a:srgbClr val="536172"/>
      </a:dk2>
      <a:lt2>
        <a:srgbClr val="C6D0DB"/>
      </a:lt2>
      <a:accent1>
        <a:srgbClr val="C5A567"/>
      </a:accent1>
      <a:accent2>
        <a:srgbClr val="2B5279"/>
      </a:accent2>
      <a:accent3>
        <a:srgbClr val="536172"/>
      </a:accent3>
      <a:accent4>
        <a:srgbClr val="95483E"/>
      </a:accent4>
      <a:accent5>
        <a:srgbClr val="376554"/>
      </a:accent5>
      <a:accent6>
        <a:srgbClr val="D3D7DB"/>
      </a:accent6>
      <a:hlink>
        <a:srgbClr val="C5A567"/>
      </a:hlink>
      <a:folHlink>
        <a:srgbClr val="C5A567"/>
      </a:folHlink>
    </a:clrScheme>
    <a:fontScheme name="">
      <a:majorFont>
        <a:latin typeface="Aptos"/>
        <a:ea typeface=""/>
        <a:cs typeface=""/>
      </a:majorFont>
      <a:minorFont>
        <a:latin typeface="Aptos"/>
        <a:ea typeface=""/>
        <a:cs typeface=""/>
      </a:minorFont>
    </a:fontScheme>
    <a:fmtScheme name="Mathguard / Classic Shield">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9024c6834f4cda" /><Relationship Type="http://schemas.openxmlformats.org/officeDocument/2006/relationships/notesMaster" Target="/ppt/notesMasters/notesMaster1.xml" Id="Rd8557a86f1144a4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5091f555dbd4d14" /><Relationship Type="http://schemas.openxmlformats.org/officeDocument/2006/relationships/notesMaster" Target="/ppt/notesMasters/notesMaster1.xml" Id="Rd35191a0a4a945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22c4b141af4f56" /><Relationship Type="http://schemas.openxmlformats.org/officeDocument/2006/relationships/notesMaster" Target="/ppt/notesMasters/notesMaster1.xml" Id="Rb68997e6f1db4465" /></Relationships>
</file>

<file path=ppt/notesSlides/_rels/notesSlide4.xml.rels>&#65279;<?xml version="1.0" encoding="utf-8"?><Relationships xmlns="http://schemas.openxmlformats.org/package/2006/relationships"><Relationship Type="http://schemas.openxmlformats.org/officeDocument/2006/relationships/slide" Target="/ppt/slides/slide4.xml" Id="R6b4ec73357f84f10" /><Relationship Type="http://schemas.openxmlformats.org/officeDocument/2006/relationships/notesMaster" Target="/ppt/notesMasters/notesMaster1.xml" Id="R598ca1f10d874a0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eda778b83a24c1f" /><Relationship Type="http://schemas.openxmlformats.org/officeDocument/2006/relationships/notesMaster" Target="/ppt/notesMasters/notesMaster1.xml" Id="Rd2b5986e87ac4eb9"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85ee53fb3f4859" /><Relationship Type="http://schemas.openxmlformats.org/officeDocument/2006/relationships/notesMaster" Target="/ppt/notesMasters/notesMaster1.xml" Id="R45bb0f5c143d480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ffbf6dbd0744ad9" /><Relationship Type="http://schemas.openxmlformats.org/officeDocument/2006/relationships/notesMaster" Target="/ppt/notesMasters/notesMaster1.xml" Id="Rc5128a4ad67f4c5a"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9768f02c704890" /><Relationship Type="http://schemas.openxmlformats.org/officeDocument/2006/relationships/notesMaster" Target="/ppt/notesMasters/notesMaster1.xml" Id="Rdf042dc9a34b4749" /></Relationships>
</file>

<file path=ppt/notesSlides/_rels/notesSlide9.xml.rels>&#65279;<?xml version="1.0" encoding="utf-8"?><Relationships xmlns="http://schemas.openxmlformats.org/package/2006/relationships"><Relationship Type="http://schemas.openxmlformats.org/officeDocument/2006/relationships/slide" Target="/ppt/slides/slide9.xml" Id="R9710d81fc02a405d" /><Relationship Type="http://schemas.openxmlformats.org/officeDocument/2006/relationships/notesMaster" Target="/ppt/notesMasters/notesMaster1.xml" Id="R07d32bd723aa468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eaa052e97ee4356" /><Relationship Type="http://schemas.openxmlformats.org/officeDocument/2006/relationships/notesMaster" Target="/ppt/notesMasters/notesMaster1.xml" Id="R2eab0cd0785a4a9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 POLSKU</a:t>
            </a:r>
          </a:p>
          <a:p xmlns:a="http://schemas.openxmlformats.org/drawingml/2006/main">
            <a:r>
              <a:t>To bramka bezpieczeństwa. Aplikacja nadal wybiera model i narzędzia, a Mathguard decyduje, czy dana interakcja może przejść.</a:t>
            </a:r>
          </a:p>
          <a:p xmlns:a="http://schemas.openxmlformats.org/drawingml/2006/main">
            <a:r>
              <a:t/>
            </a:r>
          </a:p>
          <a:p xmlns:a="http://schemas.openxmlformats.org/drawingml/2006/main">
            <a:r>
              <a:t>ENGLISH SCRIPT</a:t>
            </a:r>
          </a:p>
          <a:p xmlns:a="http://schemas.openxmlformats.org/drawingml/2006/main">
            <a:r>
              <a:t>Mathguard sits between an application and its AI interactions. It applies a live policy before releasing content or committing a tool effect. The model and the application stay under the developer’s control.</a:t>
            </a:r>
          </a:p>
          <a:p xmlns:a="http://schemas.openxmlformats.org/drawingml/2006/main">
            <a:r>
              <a:t/>
            </a:r>
          </a:p>
          <a:p xmlns:a="http://schemas.openxmlformats.org/drawingml/2006/main">
            <a:r>
              <a:t>SOURCE</a:t>
            </a:r>
          </a:p>
          <a:p xmlns:a="http://schemas.openxmlformats.org/drawingml/2006/main">
            <a:r>
              <a:t>docs/15-FINAL-RELEASE-PLAN.md; gateway/server.py; gateway/sdk.py; submission/brand/CLASSIC-IDENTITY.md</a:t>
            </a:r>
          </a:p>
          <a:p xmlns:a="http://schemas.openxmlformats.org/drawingml/2006/main">
            <a:r>
              <a:t/>
            </a:r>
          </a:p>
          <a:p xmlns:a="http://schemas.openxmlformats.org/drawingml/2006/main">
            <a:r>
              <a:t>Full rehearsal guide: docs/18-PRESENTATION-TUTORIAL.md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 POLSKU</a:t>
            </a:r>
          </a:p>
          <a:p xmlns:a="http://schemas.openxmlformats.org/drawingml/2006/main">
            <a:r>
              <a:t>Wskaż wejście, bramkę i wyjście. Plik polityki steruje bramką. Dashboard pokazuje wynik. Każda zintegrowana ścieżka przechodzi przez tę samą decyzję. Autoryzacja odróżnia agenta, właściciela i operatora.</a:t>
            </a:r>
          </a:p>
          <a:p xmlns:a="http://schemas.openxmlformats.org/drawingml/2006/main">
            <a:r>
              <a:t/>
            </a:r>
          </a:p>
          <a:p xmlns:a="http://schemas.openxmlformats.org/drawingml/2006/main">
            <a:r>
              <a:t>ENGLISH SCRIPT</a:t>
            </a:r>
          </a:p>
          <a:p xmlns:a="http://schemas.openxmlformats.org/drawingml/2006/main">
            <a:r>
              <a:t>Applications use the gateway or SDK for prompts, model replies, tools, agent messages and artifacts. Rules and a local classifier produce facts. The compiled Lean worker decides admission and resource use. The dashboard receives sanitized audit metadata.</a:t>
            </a:r>
          </a:p>
          <a:p xmlns:a="http://schemas.openxmlformats.org/drawingml/2006/main">
            <a:r>
              <a:t/>
            </a:r>
          </a:p>
          <a:p xmlns:a="http://schemas.openxmlformats.org/drawingml/2006/main">
            <a:r>
              <a:t>SOURCE</a:t>
            </a:r>
          </a:p>
          <a:p xmlns:a="http://schemas.openxmlformats.org/drawingml/2006/main">
            <a:r>
              <a:t>gateway/server.py; gateway/sdk.py; gateway/engine.py; Mathguard/Control.lean; docs/09-ENFORCEMENT-HANDOFF.md</a:t>
            </a:r>
          </a:p>
          <a:p xmlns:a="http://schemas.openxmlformats.org/drawingml/2006/main">
            <a:r>
              <a:t/>
            </a:r>
          </a:p>
          <a:p xmlns:a="http://schemas.openxmlformats.org/drawingml/2006/main">
            <a:r>
              <a:t>Full rehearsal guide: docs/18-PRESENTATION-TUTORIAL.md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 POLSKU</a:t>
            </a:r>
          </a:p>
          <a:p xmlns:a="http://schemas.openxmlformats.org/drawingml/2006/main">
            <a:r>
              <a:t>To najważniejszy slajd hybrydowej obrony. Model może wykryć zagrożenie, ale nigdy nie odwołuje zakazu reguły. Redakcja zmienia tylko bezpiecznie zidentyfikowane pola. Review nie uruchamia działania.</a:t>
            </a:r>
          </a:p>
          <a:p xmlns:a="http://schemas.openxmlformats.org/drawingml/2006/main">
            <a:r>
              <a:t/>
            </a:r>
          </a:p>
          <a:p xmlns:a="http://schemas.openxmlformats.org/drawingml/2006/main">
            <a:r>
              <a:t>ENGLISH SCRIPT</a:t>
            </a:r>
          </a:p>
          <a:p xmlns:a="http://schemas.openxmlformats.org/drawingml/2006/main">
            <a:r>
              <a:t>A deterministic denial always wins, even when the local model says safe. Semantic detection can add restrictions. The final result is pass, redact, review or block. Strict mode blocks when the classifier times out or returns malformed output.</a:t>
            </a:r>
          </a:p>
          <a:p xmlns:a="http://schemas.openxmlformats.org/drawingml/2006/main">
            <a:r>
              <a:t/>
            </a:r>
          </a:p>
          <a:p xmlns:a="http://schemas.openxmlformats.org/drawingml/2006/main">
            <a:r>
              <a:t>SOURCE</a:t>
            </a:r>
          </a:p>
          <a:p xmlns:a="http://schemas.openxmlformats.org/drawingml/2006/main">
            <a:r>
              <a:t>Mathguard/Control.lean gate_executes_imp_hard, Decision.combine_executes; gateway/control.py; gateway/engine.py</a:t>
            </a:r>
          </a:p>
          <a:p xmlns:a="http://schemas.openxmlformats.org/drawingml/2006/main">
            <a:r>
              <a:t/>
            </a:r>
          </a:p>
          <a:p xmlns:a="http://schemas.openxmlformats.org/drawingml/2006/main">
            <a:r>
              <a:t>Full rehearsal guide: docs/18-PRESENTATION-TUTORIAL.md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 POLSKU</a:t>
            </a:r>
          </a:p>
          <a:p xmlns:a="http://schemas.openxmlformats.org/drawingml/2006/main">
            <a:r>
              <a:t>Juror może edytować plik podczas pracy. Prawidłowa zmiana staje się aktywna. Nieprawidłowa zachowuje ostatnią dobrą wersję. Brak jakiejkolwiek poprawnej wersji zamyka dostęp. Zmiana polityki nie resetuje zużytego budżetu.</a:t>
            </a:r>
          </a:p>
          <a:p xmlns:a="http://schemas.openxmlformats.org/drawingml/2006/main">
            <a:r>
              <a:t/>
            </a:r>
          </a:p>
          <a:p xmlns:a="http://schemas.openxmlformats.org/drawingml/2006/main">
            <a:r>
              <a:t>ENGLISH SCRIPT</a:t>
            </a:r>
          </a:p>
          <a:p xmlns:a="http://schemas.openxmlformats.org/drawingml/2006/main">
            <a:r>
              <a:t>The judges can edit the policy while the gateway is running. A valid edit activates. An invalid edit keeps the last valid version. With no valid policy, traffic is blocked. Reloading does not reset balances or consumed resources.</a:t>
            </a:r>
          </a:p>
          <a:p xmlns:a="http://schemas.openxmlformats.org/drawingml/2006/main">
            <a:r>
              <a:t/>
            </a:r>
          </a:p>
          <a:p xmlns:a="http://schemas.openxmlformats.org/drawingml/2006/main">
            <a:r>
              <a:t>SOURCE</a:t>
            </a:r>
          </a:p>
          <a:p xmlns:a="http://schemas.openxmlformats.org/drawingml/2006/main">
            <a:r>
              <a:t>Mathguard/Control.lean reloadAll_active_valid, no_policy_fail_closed; gateway/engine.py; policies/demo.json; tests/test_runtime_hardening.py</a:t>
            </a:r>
          </a:p>
          <a:p xmlns:a="http://schemas.openxmlformats.org/drawingml/2006/main">
            <a:r>
              <a:t/>
            </a:r>
          </a:p>
          <a:p xmlns:a="http://schemas.openxmlformats.org/drawingml/2006/main">
            <a:r>
              <a:t>Full rehearsal guide: docs/18-PRESENTATION-TUTORIAL.md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 POLSKU</a:t>
            </a:r>
          </a:p>
          <a:p xmlns:a="http://schemas.openxmlformats.org/drawingml/2006/main">
            <a:r>
              <a:t>Detektory badają również odpowiedzi i dane z narzędzi. Mamy przypadki polskie, kodowane, dzielone i pośrednie. Dla artefaktów sprawdzamy skrót i ograniczony nagłówek. Nie wykonujemy ani nie deserializujemy pliku. Testy nie dowodzą wykrycia wszystkich ataków.</a:t>
            </a:r>
          </a:p>
          <a:p xmlns:a="http://schemas.openxmlformats.org/drawingml/2006/main">
            <a:r>
              <a:t/>
            </a:r>
          </a:p>
          <a:p xmlns:a="http://schemas.openxmlformats.org/drawingml/2006/main">
            <a:r>
              <a:t>ENGLISH SCRIPT</a:t>
            </a:r>
          </a:p>
          <a:p xmlns:a="http://schemas.openxmlformats.org/drawingml/2006/main">
            <a:r>
              <a:t>We inspect incoming and outgoing content. Secrets are blocked or redacted by policy. Personal data can be redacted or blocked by policy. Artifact admission checks a pinned hash and bounded inert format structure. Pickle and executable formats are refused. Detection coverage is empirical.</a:t>
            </a:r>
          </a:p>
          <a:p xmlns:a="http://schemas.openxmlformats.org/drawingml/2006/main">
            <a:r>
              <a:t/>
            </a:r>
          </a:p>
          <a:p xmlns:a="http://schemas.openxmlformats.org/drawingml/2006/main">
            <a:r>
              <a:t>SOURCE</a:t>
            </a:r>
          </a:p>
          <a:p xmlns:a="http://schemas.openxmlformats.org/drawingml/2006/main">
            <a:r>
              <a:t>gateway/control.py; tests/test_detection_hardening.py; policies/README.md; feeds/README.md</a:t>
            </a:r>
          </a:p>
          <a:p xmlns:a="http://schemas.openxmlformats.org/drawingml/2006/main">
            <a:r>
              <a:t/>
            </a:r>
          </a:p>
          <a:p xmlns:a="http://schemas.openxmlformats.org/drawingml/2006/main">
            <a:r>
              <a:t>Full rehearsal guide: docs/18-PRESENTATION-TUTORIAL.md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 POLSKU</a:t>
            </a:r>
          </a:p>
          <a:p xmlns:a="http://schemas.openxmlformats.org/drawingml/2006/main">
            <a:r>
              <a:t>Najpierw zapisujemy rezerwację, dopiero potem wywołujemy model. Rozróżnij limit i zaobserwowane użycie. Timeout adaptera nie dowodzi, że GPU przestało pracować. Niepewny koszt zachowujemy konserwatywnie i blokujemy dalsze wywołania do sprawdzenia przez operatora.</a:t>
            </a:r>
          </a:p>
          <a:p xmlns:a="http://schemas.openxmlformats.org/drawingml/2006/main">
            <a:r>
              <a:t/>
            </a:r>
          </a:p>
          <a:p xmlns:a="http://schemas.openxmlformats.org/drawingml/2006/main">
            <a:r>
              <a:t>ENGLISH SCRIPT</a:t>
            </a:r>
          </a:p>
          <a:p xmlns:a="http://schemas.openxmlformats.org/drawingml/2006/main">
            <a:r>
              <a:t>The gateway reserves a configured upper bound before calling a model. Budget and session limits stop further dispatch. Measured usage is reported separately. A timeout keeps the conservative charge and quarantines the provider until an operator verifies recovery.</a:t>
            </a:r>
          </a:p>
          <a:p xmlns:a="http://schemas.openxmlformats.org/drawingml/2006/main">
            <a:r>
              <a:t/>
            </a:r>
          </a:p>
          <a:p xmlns:a="http://schemas.openxmlformats.org/drawingml/2006/main">
            <a:r>
              <a:t>SOURCE</a:t>
            </a:r>
          </a:p>
          <a:p xmlns:a="http://schemas.openxmlformats.org/drawingml/2006/main">
            <a:r>
              <a:t>Mathguard/Budget.lean; gateway/engine.py; gateway/state.py; tests/test_runtime_hardening.py</a:t>
            </a:r>
          </a:p>
          <a:p xmlns:a="http://schemas.openxmlformats.org/drawingml/2006/main">
            <a:r>
              <a:t/>
            </a:r>
          </a:p>
          <a:p xmlns:a="http://schemas.openxmlformats.org/drawingml/2006/main">
            <a:r>
              <a:t>Full rehearsal guide: docs/18-PRESENTATION-TUTORIAL.md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 POLSKU</a:t>
            </a:r>
          </a:p>
          <a:p xmlns:a="http://schemas.openxmlformats.org/drawingml/2006/main">
            <a:r>
              <a:t>Ledger to demonstrator nieodwracalnego narzędzia. Zgoda dotyczy konkretnego żądania, sesji i aktualnej polityki. Powtórzenie tego samego zatwierdzonego żądania zwraca potwierdzenie bez ponownego obciążenia. Trwałość dotyczy naszego pojedynczego węzła. Nie obiecujemy exactly-once dla dowolnego zewnętrznego callbacku.</a:t>
            </a:r>
          </a:p>
          <a:p xmlns:a="http://schemas.openxmlformats.org/drawingml/2006/main">
            <a:r>
              <a:t/>
            </a:r>
          </a:p>
          <a:p xmlns:a="http://schemas.openxmlformats.org/drawingml/2006/main">
            <a:r>
              <a:t>ENGLISH SCRIPT</a:t>
            </a:r>
          </a:p>
          <a:p xmlns:a="http://schemas.openxmlformats.org/drawingml/2006/main">
            <a:r>
              <a:t>The ledger demonstrates an irreversible tool. Approval binds to the exact request. The durable single-node journal restores acknowledged state after restart. An exact retry returns the previous receipt without a second debit. External SDK effects still require their own idempotency protocol.</a:t>
            </a:r>
          </a:p>
          <a:p xmlns:a="http://schemas.openxmlformats.org/drawingml/2006/main">
            <a:r>
              <a:t/>
            </a:r>
          </a:p>
          <a:p xmlns:a="http://schemas.openxmlformats.org/drawingml/2006/main">
            <a:r>
              <a:t>SOURCE</a:t>
            </a:r>
          </a:p>
          <a:p xmlns:a="http://schemas.openxmlformats.org/drawingml/2006/main">
            <a:r>
              <a:t>gateway/engine.py; gateway/state.py; Mathguard/Worker.lean; tests/test_runtime_hardening.py; docs/verification/RELEASE-ASSURANCE.md</a:t>
            </a:r>
          </a:p>
          <a:p xmlns:a="http://schemas.openxmlformats.org/drawingml/2006/main">
            <a:r>
              <a:t/>
            </a:r>
          </a:p>
          <a:p xmlns:a="http://schemas.openxmlformats.org/drawingml/2006/main">
            <a:r>
              <a:t>Full rehearsal guide: docs/18-PRESENTATION-TUTORIAL.md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 POLSKU</a:t>
            </a:r>
          </a:p>
          <a:p xmlns:a="http://schemas.openxmlformats.org/drawingml/2006/main">
            <a:r>
              <a:t>Pokaż prawdziwy dashboard. Cztery wyniki są oddzielne. Widać model, tryb fixture/live, wersje, kwarantannę i zasoby. Eksport nie zawiera treści promptów. Po restarcie operator ponownie loguje się swoim tokenem.</a:t>
            </a:r>
          </a:p>
          <a:p xmlns:a="http://schemas.openxmlformats.org/drawingml/2006/main">
            <a:r>
              <a:t/>
            </a:r>
          </a:p>
          <a:p xmlns:a="http://schemas.openxmlformats.org/drawingml/2006/main">
            <a:r>
              <a:t>ENGLISH SCRIPT</a:t>
            </a:r>
          </a:p>
          <a:p xmlns:a="http://schemas.openxmlformats.org/drawingml/2006/main">
            <a:r>
              <a:t>The dashboard shows decisions, resource headroom and security posture. Operators can see active versions, provider mode and quarantine. Audit and management exports contain sanitized metadata. Reserved bounds and observed model usage are displayed separately.</a:t>
            </a:r>
          </a:p>
          <a:p xmlns:a="http://schemas.openxmlformats.org/drawingml/2006/main">
            <a:r>
              <a:t/>
            </a:r>
          </a:p>
          <a:p xmlns:a="http://schemas.openxmlformats.org/drawingml/2006/main">
            <a:r>
              <a:t>SOURCE</a:t>
            </a:r>
          </a:p>
          <a:p xmlns:a="http://schemas.openxmlformats.org/drawingml/2006/main">
            <a:r>
              <a:t>dashboard/app.js; dashboard/index.html; docs/16-DASHBOARD-GUIDE.md; tests/test_dashboard.py</a:t>
            </a:r>
          </a:p>
          <a:p xmlns:a="http://schemas.openxmlformats.org/drawingml/2006/main">
            <a:r>
              <a:t/>
            </a:r>
          </a:p>
          <a:p xmlns:a="http://schemas.openxmlformats.org/drawingml/2006/main">
            <a:r>
              <a:t>Full rehearsal guide: docs/18-PRESENTATION-TUTORIAL.md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 POLSKU</a:t>
            </a:r>
          </a:p>
          <a:p xmlns:a="http://schemas.openxmlformats.org/drawingml/2006/main">
            <a:r>
              <a:t>156 to liczba pozycji audytu aksjomatów, nie liczba różnych wymagań bezpieczeństwa. Dowody dotyczą modelu decyzji. Testy uruchamiają rzeczywisty skompilowany worker i warstwę Python. Nowe gwarancje trwałości są testowane, a dalsza formalizacja ma osobny handoff do Aristotle.</a:t>
            </a:r>
          </a:p>
          <a:p xmlns:a="http://schemas.openxmlformats.org/drawingml/2006/main">
            <a:r>
              <a:t/>
            </a:r>
          </a:p>
          <a:p xmlns:a="http://schemas.openxmlformats.org/drawingml/2006/main">
            <a:r>
              <a:t>ENGLISH SCRIPT</a:t>
            </a:r>
          </a:p>
          <a:p xmlns:a="http://schemas.openxmlformats.org/drawingml/2006/main">
            <a:r>
              <a:t>We use Lean to prove how decisions combine and enforce constraints. The runtime suite exercises the compiled worker and hostile boundary inputs. The axiom report contains 156 catalog records. Detector accuracy and new persistence behavior are runtime evidence, with further proof work scoped for Aristotle.</a:t>
            </a:r>
          </a:p>
          <a:p xmlns:a="http://schemas.openxmlformats.org/drawingml/2006/main">
            <a:r>
              <a:t/>
            </a:r>
          </a:p>
          <a:p xmlns:a="http://schemas.openxmlformats.org/drawingml/2006/main">
            <a:r>
              <a:t>SOURCE</a:t>
            </a:r>
          </a:p>
          <a:p xmlns:a="http://schemas.openxmlformats.org/drawingml/2006/main">
            <a:r>
              <a:t>docs/verification/axioms.txt; evidence/integration.json; docs/verification/RELEASE-ASSURANCE.md; aristotle/FINAL-HARDENING-HANDOFF.md</a:t>
            </a:r>
          </a:p>
          <a:p xmlns:a="http://schemas.openxmlformats.org/drawingml/2006/main">
            <a:r>
              <a:t/>
            </a:r>
          </a:p>
          <a:p xmlns:a="http://schemas.openxmlformats.org/drawingml/2006/main">
            <a:r>
              <a:t>Full rehearsal guide: docs/18-PRESENTATION-TUTORIAL.md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 POLSKU</a:t>
            </a:r>
          </a:p>
          <a:p xmlns:a="http://schemas.openxmlformats.org/drawingml/2006/main">
            <a:r>
              <a:t>Przed wystąpieniem zainstaluj model i wykonaj setup. Przy wielu modelach podaj MODEL z dokładnym identyfikatorem. Run uruchamia lokalną bramkę. Testy nie wymagają płatnych API. Nie pokazuj tokenów na projektorze.</a:t>
            </a:r>
          </a:p>
          <a:p xmlns:a="http://schemas.openxmlformats.org/drawingml/2006/main">
            <a:r>
              <a:t/>
            </a:r>
          </a:p>
          <a:p xmlns:a="http://schemas.openxmlformats.org/drawingml/2006/main">
            <a:r>
              <a:t>ENGLISH SCRIPT</a:t>
            </a:r>
          </a:p>
          <a:p xmlns:a="http://schemas.openxmlformats.org/drawingml/2006/main">
            <a:r>
              <a:t>The judges can run three commands. Setup validates an installed local Ollama model and builds the pinned worker. Run starts the gateway. Test executes the automated checks. No paid API is required, and setup never silently substitutes fixture verdicts.</a:t>
            </a:r>
          </a:p>
          <a:p xmlns:a="http://schemas.openxmlformats.org/drawingml/2006/main">
            <a:r>
              <a:t/>
            </a:r>
          </a:p>
          <a:p xmlns:a="http://schemas.openxmlformats.org/drawingml/2006/main">
            <a:r>
              <a:t>SOURCE</a:t>
            </a:r>
          </a:p>
          <a:p xmlns:a="http://schemas.openxmlformats.org/drawingml/2006/main">
            <a:r>
              <a:t>README.md; scripts/judge.py; docs/17-JUDGE-QUICKSTART.md; docs/18-PRESENTATION-TUTORIAL.md</a:t>
            </a:r>
          </a:p>
          <a:p xmlns:a="http://schemas.openxmlformats.org/drawingml/2006/main">
            <a:r>
              <a:t/>
            </a:r>
          </a:p>
          <a:p xmlns:a="http://schemas.openxmlformats.org/drawingml/2006/main">
            <a:r>
              <a:t>Full rehearsal guide: docs/18-PRESENTATION-TUTORIAL.md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f09631df10441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319527663bd432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d6fbe16e8a74c1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687cd4490384f8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7ef57d63586414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fb36ac020bb49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6DA7376-C307-4D6E-B718-C7402E17F726}"/>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98D35CD-DF02-4445-89B5-453F7AABCA8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9622687-2A4C-47D0-BFD3-A809AE616C1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27E5C91-A17D-483E-A34F-0BAC136DB825}"/>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B9F6A57-6F73-42D7-9230-C376DF5900B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A28BA61-69E2-47CC-B283-A5315798EAC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FFA272C-5C2C-4F25-8BDC-7F3DDEB8364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40A4619-4393-47F1-8BDA-7F6B67B7612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2B817D2C-0483-4419-809B-FD1FD2A55E5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F41F5F1-EF39-467C-8BBE-B170705938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03F26C0-AD7D-427B-BDCF-B04B6A0873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ABA969C-96F8-4A7C-ADD2-936C8C5DD82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7BBC667-6391-4D3A-AE6B-4787FA829438}"/>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CB87EE0-889F-4D0F-9D45-78B0CCEE13C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1F35FAF-4B37-417F-8E9B-E407A14689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5c5ec1371aa47c4" /><Relationship Type="http://schemas.openxmlformats.org/officeDocument/2006/relationships/slideLayout" Target="/ppt/slideLayouts/slideLayout1.xml" Id="R4b3ed59dbaa24c94" /><Relationship Type="http://schemas.openxmlformats.org/officeDocument/2006/relationships/slideLayout" Target="/ppt/slideLayouts/slideLayout2.xml" Id="Ra47a7eee68604ad3" /><Relationship Type="http://schemas.openxmlformats.org/officeDocument/2006/relationships/slideLayout" Target="/ppt/slideLayouts/slideLayout3.xml" Id="Rac89ba05ce654338" /><Relationship Type="http://schemas.openxmlformats.org/officeDocument/2006/relationships/slideLayout" Target="/ppt/slideLayouts/slideLayout4.xml" Id="R7bc5c50fb4b1408f" /><Relationship Type="http://schemas.openxmlformats.org/officeDocument/2006/relationships/slideLayout" Target="/ppt/slideLayouts/slideLayout5.xml" Id="R38e3a236c45a4f74" /><Relationship Type="http://schemas.openxmlformats.org/officeDocument/2006/relationships/slideLayout" Target="/ppt/slideLayouts/slideLayout6.xml" Id="R80610e5ef7d14a6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b3ed59dbaa24c94"/>
    <p:sldLayoutId xmlns:r="http://schemas.openxmlformats.org/officeDocument/2006/relationships" id="2147483650" r:id="Ra47a7eee68604ad3"/>
    <p:sldLayoutId xmlns:r="http://schemas.openxmlformats.org/officeDocument/2006/relationships" id="2147483651" r:id="Rac89ba05ce654338"/>
    <p:sldLayoutId xmlns:r="http://schemas.openxmlformats.org/officeDocument/2006/relationships" id="2147483652" r:id="R7bc5c50fb4b1408f"/>
    <p:sldLayoutId xmlns:r="http://schemas.openxmlformats.org/officeDocument/2006/relationships" id="2147483653" r:id="R38e3a236c45a4f74"/>
    <p:sldLayoutId xmlns:r="http://schemas.openxmlformats.org/officeDocument/2006/relationships" id="2147483654" r:id="R80610e5ef7d14a6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Mathguard / Classic Shield">
      <a:dk1>
        <a:srgbClr val="101D32"/>
      </a:dk1>
      <a:lt1>
        <a:srgbClr val="F6F4ED"/>
      </a:lt1>
      <a:dk2>
        <a:srgbClr val="536172"/>
      </a:dk2>
      <a:lt2>
        <a:srgbClr val="C6D0DB"/>
      </a:lt2>
      <a:accent1>
        <a:srgbClr val="C5A567"/>
      </a:accent1>
      <a:accent2>
        <a:srgbClr val="2B5279"/>
      </a:accent2>
      <a:accent3>
        <a:srgbClr val="536172"/>
      </a:accent3>
      <a:accent4>
        <a:srgbClr val="95483E"/>
      </a:accent4>
      <a:accent5>
        <a:srgbClr val="376554"/>
      </a:accent5>
      <a:accent6>
        <a:srgbClr val="D3D7DB"/>
      </a:accent6>
      <a:hlink>
        <a:srgbClr val="C5A567"/>
      </a:hlink>
      <a:folHlink>
        <a:srgbClr val="C5A567"/>
      </a:folHlink>
    </a:clrScheme>
    <a:fontScheme name="">
      <a:majorFont>
        <a:latin typeface="Aptos"/>
        <a:ea typeface=""/>
        <a:cs typeface=""/>
      </a:majorFont>
      <a:minorFont>
        <a:latin typeface="Aptos"/>
        <a:ea typeface=""/>
        <a:cs typeface=""/>
      </a:minorFont>
    </a:fontScheme>
    <a:fmtScheme name="Mathguard / Classic Shield">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2ac355bfff945a8" /><Relationship Type="http://schemas.openxmlformats.org/officeDocument/2006/relationships/image" Target="/ppt/media/image.png" Id="Ra475f4942aa8444a" /><Relationship Type="http://schemas.openxmlformats.org/officeDocument/2006/relationships/image" Target="/ppt/media/image2.png" Id="Rc58f7cef5e974899" /><Relationship Type="http://schemas.openxmlformats.org/officeDocument/2006/relationships/notesSlide" Target="/ppt/notesSlides/notesSlide1.xml" Id="R0cc53111b56c40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846c3dd908746b2" /><Relationship Type="http://schemas.openxmlformats.org/officeDocument/2006/relationships/notesSlide" Target="/ppt/notesSlides/notesSlide2.xml" Id="Rbfc63fdf373e487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cf1a22607bf4e96" /><Relationship Type="http://schemas.openxmlformats.org/officeDocument/2006/relationships/notesSlide" Target="/ppt/notesSlides/notesSlide3.xml" Id="Rdae6b950dd674f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6ace38e88bf446a" /><Relationship Type="http://schemas.openxmlformats.org/officeDocument/2006/relationships/notesSlide" Target="/ppt/notesSlides/notesSlide4.xml" Id="R15217209363946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f49caf0d6ee45ec" /><Relationship Type="http://schemas.openxmlformats.org/officeDocument/2006/relationships/notesSlide" Target="/ppt/notesSlides/notesSlide5.xml" Id="R53bec40eb09c498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a4ae7c91eca47a3" /><Relationship Type="http://schemas.openxmlformats.org/officeDocument/2006/relationships/notesSlide" Target="/ppt/notesSlides/notesSlide6.xml" Id="R6f36b46b97584ab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64f6541b7ca449e" /><Relationship Type="http://schemas.openxmlformats.org/officeDocument/2006/relationships/notesSlide" Target="/ppt/notesSlides/notesSlide7.xml" Id="R5a96f56ab465406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98f0331c655474b" /><Relationship Type="http://schemas.openxmlformats.org/officeDocument/2006/relationships/notesSlide" Target="/ppt/notesSlides/notesSlide8.xml" Id="Rad081675b0db433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56eb1335a144514" /><Relationship Type="http://schemas.openxmlformats.org/officeDocument/2006/relationships/notesSlide" Target="/ppt/notesSlides/notesSlide9.xml" Id="R808fd8b19262482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a44563d05a14037" /><Relationship Type="http://schemas.openxmlformats.org/officeDocument/2006/relationships/image" Target="/ppt/media/image3.png" Id="R880b537d7a40485c" /><Relationship Type="http://schemas.openxmlformats.org/officeDocument/2006/relationships/hyperlink" Target="https://github.com/ljaniec/Mathguard" TargetMode="External" Id="Rde9b11da54d94b17" /><Relationship Type="http://schemas.openxmlformats.org/officeDocument/2006/relationships/notesSlide" Target="/ppt/notesSlides/notesSlide10.xml" Id="R152019743d8b4a96" /></Relationships>
</file>

<file path=ppt/slides/slide1.xml><?xml version="1.0" encoding="utf-8"?>
<p:sld xmlns:p="http://schemas.openxmlformats.org/presentationml/2006/main">
  <p:cSld>
    <p:bg>
      <p:bgPr>
        <a:solidFill xmlns:a="http://schemas.openxmlformats.org/drawingml/2006/main">
          <a:srgbClr val="101D32"/>
        </a:solidFill>
      </p:bgPr>
    </p:bg>
    <p:spTree>
      <p:nvGrpSpPr>
        <p:cNvPr id="1" name=""/>
        <p:cNvGrpSpPr/>
        <p:nvPr/>
      </p:nvGrpSpPr>
      <p:grpSpPr>
        <a:xfrm xmlns:a="http://schemas.openxmlformats.org/drawingml/2006/main"/>
      </p:grpSpPr>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475f4942aa8444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Editorial rule">
            <a:extLst xmlns:a="http://schemas.openxmlformats.org/drawingml/2006/main">
              <a:ext uri="{FF2B5EF4-FFF2-40B4-BE49-F238E27FC236}">
                <a16:creationId xmlns:a16="http://schemas.microsoft.com/office/drawing/2014/main" id="{836378F9-32AD-4429-93CF-B9253633B5B3}"/>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42506A"/>
            </a:solidFill>
          </a:ln>
        </p:spPr>
      </p:sp>
      <p:sp>
        <p:nvSpPr>
          <p:cNvPr id="3" name="MATHGUARD">
            <a:extLst xmlns:a="http://schemas.openxmlformats.org/drawingml/2006/main">
              <a:ext uri="{FF2B5EF4-FFF2-40B4-BE49-F238E27FC236}">
                <a16:creationId xmlns:a16="http://schemas.microsoft.com/office/drawing/2014/main" id="{11371B7E-B55B-4BE0-A42C-D6F74F83E1BA}"/>
              </a:ext>
            </a:extLst>
          </p:cNvPr>
          <p:cNvSpPr>
            <a:spLocks xmlns:a="http://schemas.openxmlformats.org/drawingml/2006/main" noGrp="1"/>
          </p:cNvSpPr>
          <p:nvPr/>
        </p:nvSpPr>
        <p:spPr>
          <a:xfrm xmlns:a="http://schemas.openxmlformats.org/drawingml/2006/main">
            <a:off x="6858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00" b="1">
                <a:solidFill>
                  <a:srgbClr val="C6D0DB"/>
                </a:solidFill>
                <a:latin typeface="Nimbus Sans"/>
                <a:ea typeface="Nimbus Sans"/>
                <a:cs typeface="Nimbus Sans"/>
              </a:defRPr>
            </a:pPr>
            <a:r>
              <a:rPr sz="1200" b="1">
                <a:solidFill>
                  <a:srgbClr val="C6D0DB"/>
                </a:solidFill>
                <a:latin typeface="Nimbus Sans"/>
                <a:ea typeface="Nimbus Sans"/>
                <a:cs typeface="Nimbus Sans"/>
              </a:rPr>
              <a:t>MATHGUARD</a:t>
            </a:r>
          </a:p>
        </p:txBody>
      </p:sp>
      <p:sp>
        <p:nvSpPr>
          <p:cNvPr id="4" name="01">
            <a:extLst xmlns:a="http://schemas.openxmlformats.org/drawingml/2006/main">
              <a:ext uri="{FF2B5EF4-FFF2-40B4-BE49-F238E27FC236}">
                <a16:creationId xmlns:a16="http://schemas.microsoft.com/office/drawing/2014/main" id="{C01BED5C-27A9-44EC-B9C7-E060AA8BDFEE}"/>
              </a:ext>
            </a:extLst>
          </p:cNvPr>
          <p:cNvSpPr>
            <a:spLocks xmlns:a="http://schemas.openxmlformats.org/drawingml/2006/main" noGrp="1"/>
          </p:cNvSpPr>
          <p:nvPr/>
        </p:nvSpPr>
        <p:spPr>
          <a:xfrm xmlns:a="http://schemas.openxmlformats.org/drawingml/2006/main">
            <a:off x="10858500" y="6381750"/>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C6D0DB"/>
                </a:solidFill>
                <a:latin typeface="Nimbus Mono PS"/>
                <a:ea typeface="Nimbus Mono PS"/>
                <a:cs typeface="Nimbus Mono PS"/>
              </a:defRPr>
            </a:pPr>
            <a:r>
              <a:rPr sz="1350" b="0">
                <a:solidFill>
                  <a:srgbClr val="C6D0DB"/>
                </a:solidFill>
                <a:latin typeface="Nimbus Mono PS"/>
                <a:ea typeface="Nimbus Mono PS"/>
                <a:cs typeface="Nimbus Mono PS"/>
              </a:rPr>
              <a:t>01</a:t>
            </a:r>
          </a:p>
        </p:txBody>
      </p:sp>
      <p:sp>
        <p:nvSpPr>
          <p:cNvPr id="5" name="MATHGUARD">
            <a:extLst xmlns:a="http://schemas.openxmlformats.org/drawingml/2006/main">
              <a:ext uri="{FF2B5EF4-FFF2-40B4-BE49-F238E27FC236}">
                <a16:creationId xmlns:a16="http://schemas.microsoft.com/office/drawing/2014/main" id="{6139C0B3-2182-45EE-BBED-F94FB41D5B9A}"/>
              </a:ext>
            </a:extLst>
          </p:cNvPr>
          <p:cNvSpPr>
            <a:spLocks xmlns:a="http://schemas.openxmlformats.org/drawingml/2006/main" noGrp="1"/>
          </p:cNvSpPr>
          <p:nvPr/>
        </p:nvSpPr>
        <p:spPr>
          <a:xfrm xmlns:a="http://schemas.openxmlformats.org/drawingml/2006/main">
            <a:off x="685800" y="914400"/>
            <a:ext cx="723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700" b="1">
                <a:solidFill>
                  <a:srgbClr val="F6F4ED"/>
                </a:solidFill>
                <a:latin typeface="Nimbus Sans"/>
                <a:ea typeface="Nimbus Sans"/>
                <a:cs typeface="Nimbus Sans"/>
              </a:defRPr>
            </a:pPr>
            <a:r>
              <a:rPr sz="2700" b="1">
                <a:solidFill>
                  <a:srgbClr val="F6F4ED"/>
                </a:solidFill>
                <a:latin typeface="Nimbus Sans"/>
                <a:ea typeface="Nimbus Sans"/>
                <a:cs typeface="Nimbus Sans"/>
              </a:rPr>
              <a:t>MATHGUARD</a:t>
            </a:r>
          </a:p>
        </p:txBody>
      </p:sp>
      <p:sp>
        <p:nvSpPr>
          <p:cNvPr id="6" name="Editorial rule">
            <a:extLst xmlns:a="http://schemas.openxmlformats.org/drawingml/2006/main">
              <a:ext uri="{FF2B5EF4-FFF2-40B4-BE49-F238E27FC236}">
                <a16:creationId xmlns:a16="http://schemas.microsoft.com/office/drawing/2014/main" id="{2B9A22A4-0744-4C8E-9C75-76687CAA2E8A}"/>
              </a:ext>
            </a:extLst>
          </p:cNvPr>
          <p:cNvSpPr>
            <a:spLocks xmlns:a="http://schemas.openxmlformats.org/drawingml/2006/main" noGrp="1"/>
          </p:cNvSpPr>
          <p:nvPr/>
        </p:nvSpPr>
        <p:spPr>
          <a:xfrm xmlns:a="http://schemas.openxmlformats.org/drawingml/2006/main">
            <a:off x="685800" y="1743075"/>
            <a:ext cx="857250" cy="0"/>
          </a:xfrm>
          <a:prstGeom xmlns:a="http://schemas.openxmlformats.org/drawingml/2006/main" prst="line">
            <a:avLst/>
          </a:prstGeom>
          <a:noFill xmlns:a="http://schemas.openxmlformats.org/drawingml/2006/main"/>
          <a:ln xmlns:a="http://schemas.openxmlformats.org/drawingml/2006/main" w="19050">
            <a:solidFill>
              <a:srgbClr val="C5A567"/>
            </a:solidFill>
          </a:ln>
        </p:spPr>
      </p:sp>
      <p:sp>
        <p:nvSpPr>
          <p:cNvPr id="7" name="A control layer">
            <a:extLst xmlns:a="http://schemas.openxmlformats.org/drawingml/2006/main">
              <a:ext uri="{FF2B5EF4-FFF2-40B4-BE49-F238E27FC236}">
                <a16:creationId xmlns:a16="http://schemas.microsoft.com/office/drawing/2014/main" id="{ECDC9473-BC41-440D-969E-770314C8FF00}"/>
              </a:ext>
            </a:extLst>
          </p:cNvPr>
          <p:cNvSpPr>
            <a:spLocks xmlns:a="http://schemas.openxmlformats.org/drawingml/2006/main" noGrp="1"/>
          </p:cNvSpPr>
          <p:nvPr/>
        </p:nvSpPr>
        <p:spPr>
          <a:xfrm xmlns:a="http://schemas.openxmlformats.org/drawingml/2006/main">
            <a:off x="647700" y="2276475"/>
            <a:ext cx="790575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6450" b="0">
                <a:solidFill>
                  <a:srgbClr val="F6F4ED"/>
                </a:solidFill>
                <a:latin typeface="Nimbus Roman"/>
                <a:ea typeface="Nimbus Roman"/>
                <a:cs typeface="Nimbus Roman"/>
              </a:defRPr>
            </a:pPr>
            <a:r>
              <a:rPr sz="6450" b="0">
                <a:solidFill>
                  <a:srgbClr val="F6F4ED"/>
                </a:solidFill>
                <a:latin typeface="Nimbus Roman"/>
                <a:ea typeface="Nimbus Roman"/>
                <a:cs typeface="Nimbus Roman"/>
              </a:rPr>
              <a:t>A control layer</a:t>
            </a:r>
          </a:p>
          <a:p xmlns:a="http://schemas.openxmlformats.org/drawingml/2006/main">
            <a:pPr>
              <a:defRPr sz="6450" b="0">
                <a:solidFill>
                  <a:srgbClr val="F6F4ED"/>
                </a:solidFill>
                <a:latin typeface="Nimbus Roman"/>
                <a:ea typeface="Nimbus Roman"/>
                <a:cs typeface="Nimbus Roman"/>
              </a:defRPr>
            </a:pPr>
            <a:r>
              <a:rPr sz="6450" b="0">
                <a:solidFill>
                  <a:srgbClr val="F6F4ED"/>
                </a:solidFill>
                <a:latin typeface="Nimbus Roman"/>
                <a:ea typeface="Nimbus Roman"/>
                <a:cs typeface="Nimbus Roman"/>
              </a:rPr>
              <a:t>for AI</a:t>
            </a:r>
          </a:p>
        </p:txBody>
      </p:sp>
      <p:sp>
        <p:nvSpPr>
          <p:cNvPr id="8" name="Policy before content or effects.">
            <a:extLst xmlns:a="http://schemas.openxmlformats.org/drawingml/2006/main">
              <a:ext uri="{FF2B5EF4-FFF2-40B4-BE49-F238E27FC236}">
                <a16:creationId xmlns:a16="http://schemas.microsoft.com/office/drawing/2014/main" id="{70F9F6D1-5406-4A0F-BF3A-4DB9E9068DA5}"/>
              </a:ext>
            </a:extLst>
          </p:cNvPr>
          <p:cNvSpPr>
            <a:spLocks xmlns:a="http://schemas.openxmlformats.org/drawingml/2006/main" noGrp="1"/>
          </p:cNvSpPr>
          <p:nvPr/>
        </p:nvSpPr>
        <p:spPr>
          <a:xfrm xmlns:a="http://schemas.openxmlformats.org/drawingml/2006/main">
            <a:off x="685800" y="4810125"/>
            <a:ext cx="781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625" b="0">
                <a:solidFill>
                  <a:srgbClr val="C6D0DB"/>
                </a:solidFill>
                <a:latin typeface="Nimbus Sans"/>
                <a:ea typeface="Nimbus Sans"/>
                <a:cs typeface="Nimbus Sans"/>
              </a:defRPr>
            </a:pPr>
            <a:r>
              <a:rPr sz="2625" b="0">
                <a:solidFill>
                  <a:srgbClr val="C6D0DB"/>
                </a:solidFill>
                <a:latin typeface="Nimbus Sans"/>
                <a:ea typeface="Nimbus Sans"/>
                <a:cs typeface="Nimbus Sans"/>
              </a:rPr>
              <a:t>Policy before content or effects.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58f7cef5e974899"/>
          <a:stretch xmlns:a="http://schemas.openxmlformats.org/drawingml/2006/main"/>
        </p:blipFill>
        <p:spPr>
          <a:xfrm xmlns:a="http://schemas.openxmlformats.org/drawingml/2006/main">
            <a:off x="8715375" y="2371725"/>
            <a:ext cx="2905125" cy="2905125"/>
          </a:xfrm>
          <a:prstGeom xmlns:a="http://schemas.openxmlformats.org/drawingml/2006/main" prst="rect">
            <a:avLst/>
          </a:prstGeom>
        </p:spPr>
      </p:pic>
    </p:spTree>
    <p:extLst>
      <p:ext uri="{BB962C8B-B14F-4D97-AF65-F5344CB8AC3E}">
        <p14:creationId xmlns:p14="http://schemas.microsoft.com/office/powerpoint/2010/main" val="176084769"/>
      </p:ext>
    </p:extLst>
  </p:cSld>
</p:sld>
</file>

<file path=ppt/slides/slide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cxnSp>
        <p:nvCxnSpPr>
          <p:cNvPr id="15" name=""/>
          <p:cNvCxnSpPr>
            <a:stCxn xmlns:a="http://schemas.openxmlformats.org/drawingml/2006/main" id="6" idx="2"/>
            <a:endCxn xmlns:a="http://schemas.openxmlformats.org/drawingml/2006/main" id="9" idx="0"/>
          </p:cNvCxnSpPr>
          <p:nvPr/>
        </p:nvCxnSpPr>
        <p:spPr>
          <a:xfrm xmlns:a="http://schemas.openxmlformats.org/drawingml/2006/main">
            <a:off x="6029325" y="3981450"/>
            <a:ext cx="0" cy="533400"/>
          </a:xfrm>
          <a:prstGeom xmlns:a="http://schemas.openxmlformats.org/drawingml/2006/main" prst="straightConnector1">
            <a:avLst/>
          </a:prstGeom>
          <a:ln xmlns:a="http://schemas.openxmlformats.org/drawingml/2006/main" w="19050">
            <a:solidFill>
              <a:srgbClr val="806638"/>
            </a:solidFill>
            <a:tailEnd type="triangle" w="med" len="med"/>
          </a:ln>
        </p:spPr>
      </p:cxnSp>
      <p:cxnSp>
        <p:nvCxnSpPr>
          <p:cNvPr id="16" name=""/>
          <p:cNvCxnSpPr>
            <a:stCxn xmlns:a="http://schemas.openxmlformats.org/drawingml/2006/main" id="8" idx="2"/>
            <a:endCxn xmlns:a="http://schemas.openxmlformats.org/drawingml/2006/main" id="6" idx="0"/>
          </p:cNvCxnSpPr>
          <p:nvPr/>
        </p:nvCxnSpPr>
        <p:spPr>
          <a:xfrm xmlns:a="http://schemas.openxmlformats.org/drawingml/2006/main">
            <a:off x="6029325" y="2219325"/>
            <a:ext cx="0" cy="161925"/>
          </a:xfrm>
          <a:prstGeom xmlns:a="http://schemas.openxmlformats.org/drawingml/2006/main" prst="straightConnector1">
            <a:avLst/>
          </a:prstGeom>
          <a:ln xmlns:a="http://schemas.openxmlformats.org/drawingml/2006/main" w="19050">
            <a:solidFill>
              <a:srgbClr val="806638"/>
            </a:solidFill>
            <a:tailEnd type="triangle" w="med" len="med"/>
          </a:ln>
        </p:spPr>
      </p:cxnSp>
      <p:cxnSp>
        <p:nvCxnSpPr>
          <p:cNvPr id="17" name=""/>
          <p:cNvCxnSpPr>
            <a:stCxn xmlns:a="http://schemas.openxmlformats.org/drawingml/2006/main" id="6" idx="3"/>
            <a:endCxn xmlns:a="http://schemas.openxmlformats.org/drawingml/2006/main" id="7" idx="1"/>
          </p:cNvCxnSpPr>
          <p:nvPr/>
        </p:nvCxnSpPr>
        <p:spPr>
          <a:xfrm xmlns:a="http://schemas.openxmlformats.org/drawingml/2006/main" flipV="1">
            <a:off x="7934325" y="3171825"/>
            <a:ext cx="923925" cy="9525"/>
          </a:xfrm>
          <a:prstGeom xmlns:a="http://schemas.openxmlformats.org/drawingml/2006/main" prst="straightConnector1">
            <a:avLst/>
          </a:prstGeom>
          <a:ln xmlns:a="http://schemas.openxmlformats.org/drawingml/2006/main" w="19050">
            <a:solidFill>
              <a:srgbClr val="806638"/>
            </a:solidFill>
            <a:tailEnd type="triangle" w="med" len="med"/>
          </a:ln>
        </p:spPr>
      </p:cxnSp>
      <p:cxnSp>
        <p:nvCxnSpPr>
          <p:cNvPr id="18" name=""/>
          <p:cNvCxnSpPr>
            <a:stCxn xmlns:a="http://schemas.openxmlformats.org/drawingml/2006/main" id="5" idx="3"/>
            <a:endCxn xmlns:a="http://schemas.openxmlformats.org/drawingml/2006/main" id="6" idx="1"/>
          </p:cNvCxnSpPr>
          <p:nvPr/>
        </p:nvCxnSpPr>
        <p:spPr>
          <a:xfrm xmlns:a="http://schemas.openxmlformats.org/drawingml/2006/main">
            <a:off x="3200400" y="3171825"/>
            <a:ext cx="923925" cy="9525"/>
          </a:xfrm>
          <a:prstGeom xmlns:a="http://schemas.openxmlformats.org/drawingml/2006/main" prst="straightConnector1">
            <a:avLst/>
          </a:prstGeom>
          <a:ln xmlns:a="http://schemas.openxmlformats.org/drawingml/2006/main" w="19050">
            <a:solidFill>
              <a:srgbClr val="806638"/>
            </a:solidFill>
            <a:tailEnd type="triangle" w="med" len="med"/>
          </a:ln>
        </p:spPr>
      </p:cxnSp>
      <p:sp>
        <p:nvSpPr>
          <p:cNvPr id="19" name="One shared enforcement path">
            <a:extLst xmlns:a="http://schemas.openxmlformats.org/drawingml/2006/main">
              <a:ext uri="{FF2B5EF4-FFF2-40B4-BE49-F238E27FC236}">
                <a16:creationId xmlns:a16="http://schemas.microsoft.com/office/drawing/2014/main" id="{453DF76B-85A6-4919-948A-200759DA580C}"/>
              </a:ext>
            </a:extLst>
          </p:cNvPr>
          <p:cNvSpPr>
            <a:spLocks xmlns:a="http://schemas.openxmlformats.org/drawingml/2006/main" noGrp="1"/>
          </p:cNvSpPr>
          <p:nvPr/>
        </p:nvSpPr>
        <p:spPr>
          <a:xfrm xmlns:a="http://schemas.openxmlformats.org/drawingml/2006/main">
            <a:off x="685800" y="800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500" b="0">
                <a:solidFill>
                  <a:srgbClr val="101D32"/>
                </a:solidFill>
                <a:latin typeface="Nimbus Roman"/>
                <a:ea typeface="Nimbus Roman"/>
                <a:cs typeface="Nimbus Roman"/>
              </a:defRPr>
            </a:pPr>
            <a:r>
              <a:rPr sz="4500" b="0">
                <a:solidFill>
                  <a:srgbClr val="101D32"/>
                </a:solidFill>
                <a:latin typeface="Nimbus Roman"/>
                <a:ea typeface="Nimbus Roman"/>
                <a:cs typeface="Nimbus Roman"/>
              </a:rPr>
              <a:t>One shared enforcement path</a:t>
            </a:r>
          </a:p>
        </p:txBody>
      </p:sp>
      <p:sp>
        <p:nvSpPr>
          <p:cNvPr id="2" name="Editorial rule">
            <a:extLst xmlns:a="http://schemas.openxmlformats.org/drawingml/2006/main">
              <a:ext uri="{FF2B5EF4-FFF2-40B4-BE49-F238E27FC236}">
                <a16:creationId xmlns:a16="http://schemas.microsoft.com/office/drawing/2014/main" id="{22A0EBAD-B8C0-4D0E-A86A-B16E556FFD5F}"/>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D3D7DB"/>
            </a:solidFill>
          </a:ln>
        </p:spPr>
      </p:sp>
      <p:sp>
        <p:nvSpPr>
          <p:cNvPr id="3" name="MATHGUARD">
            <a:extLst xmlns:a="http://schemas.openxmlformats.org/drawingml/2006/main">
              <a:ext uri="{FF2B5EF4-FFF2-40B4-BE49-F238E27FC236}">
                <a16:creationId xmlns:a16="http://schemas.microsoft.com/office/drawing/2014/main" id="{27E6489F-53EE-482D-81B3-E8FC56ACED16}"/>
              </a:ext>
            </a:extLst>
          </p:cNvPr>
          <p:cNvSpPr>
            <a:spLocks xmlns:a="http://schemas.openxmlformats.org/drawingml/2006/main" noGrp="1"/>
          </p:cNvSpPr>
          <p:nvPr/>
        </p:nvSpPr>
        <p:spPr>
          <a:xfrm xmlns:a="http://schemas.openxmlformats.org/drawingml/2006/main">
            <a:off x="6858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00" b="1">
                <a:solidFill>
                  <a:srgbClr val="536172"/>
                </a:solidFill>
                <a:latin typeface="Nimbus Sans"/>
                <a:ea typeface="Nimbus Sans"/>
                <a:cs typeface="Nimbus Sans"/>
              </a:defRPr>
            </a:pPr>
            <a:r>
              <a:rPr sz="1200" b="1">
                <a:solidFill>
                  <a:srgbClr val="536172"/>
                </a:solidFill>
                <a:latin typeface="Nimbus Sans"/>
                <a:ea typeface="Nimbus Sans"/>
                <a:cs typeface="Nimbus Sans"/>
              </a:rPr>
              <a:t>MATHGUARD</a:t>
            </a:r>
          </a:p>
        </p:txBody>
      </p:sp>
      <p:sp>
        <p:nvSpPr>
          <p:cNvPr id="4" name="02">
            <a:extLst xmlns:a="http://schemas.openxmlformats.org/drawingml/2006/main">
              <a:ext uri="{FF2B5EF4-FFF2-40B4-BE49-F238E27FC236}">
                <a16:creationId xmlns:a16="http://schemas.microsoft.com/office/drawing/2014/main" id="{DB1F14BA-3491-48FB-B27B-1E5833AC5529}"/>
              </a:ext>
            </a:extLst>
          </p:cNvPr>
          <p:cNvSpPr>
            <a:spLocks xmlns:a="http://schemas.openxmlformats.org/drawingml/2006/main" noGrp="1"/>
          </p:cNvSpPr>
          <p:nvPr/>
        </p:nvSpPr>
        <p:spPr>
          <a:xfrm xmlns:a="http://schemas.openxmlformats.org/drawingml/2006/main">
            <a:off x="10858500" y="6381750"/>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536172"/>
                </a:solidFill>
                <a:latin typeface="Nimbus Mono PS"/>
                <a:ea typeface="Nimbus Mono PS"/>
                <a:cs typeface="Nimbus Mono PS"/>
              </a:defRPr>
            </a:pPr>
            <a:r>
              <a:rPr sz="1350" b="0">
                <a:solidFill>
                  <a:srgbClr val="536172"/>
                </a:solidFill>
                <a:latin typeface="Nimbus Mono PS"/>
                <a:ea typeface="Nimbus Mono PS"/>
                <a:cs typeface="Nimbus Mono PS"/>
              </a:rPr>
              <a:t>02</a:t>
            </a:r>
          </a:p>
        </p:txBody>
      </p:sp>
      <p:sp>
        <p:nvSpPr>
          <p:cNvPr id="5" name="Application&#10;or agent">
            <a:extLst xmlns:a="http://schemas.openxmlformats.org/drawingml/2006/main">
              <a:ext uri="{FF2B5EF4-FFF2-40B4-BE49-F238E27FC236}">
                <a16:creationId xmlns:a16="http://schemas.microsoft.com/office/drawing/2014/main" id="{2EB5629F-25D2-4939-9BDD-E7860D09DA95}"/>
              </a:ext>
            </a:extLst>
          </p:cNvPr>
          <p:cNvSpPr>
            <a:spLocks xmlns:a="http://schemas.openxmlformats.org/drawingml/2006/main" noGrp="1"/>
          </p:cNvSpPr>
          <p:nvPr/>
        </p:nvSpPr>
        <p:spPr>
          <a:xfrm xmlns:a="http://schemas.openxmlformats.org/drawingml/2006/main">
            <a:off x="685800" y="2695575"/>
            <a:ext cx="2514600" cy="952500"/>
          </a:xfrm>
          <a:prstGeom xmlns:a="http://schemas.openxmlformats.org/drawingml/2006/main" prst="rect">
            <a:avLst/>
          </a:prstGeom>
          <a:solidFill xmlns:a="http://schemas.openxmlformats.org/drawingml/2006/main">
            <a:srgbClr val="F6F4ED"/>
          </a:solidFill>
          <a:ln xmlns:a="http://schemas.openxmlformats.org/drawingml/2006/main" w="10478">
            <a:solidFill>
              <a:srgbClr val="9BA5B2"/>
            </a:solidFill>
          </a:ln>
        </p:spPr>
        <p:txBody>
          <a:bodyPr xmlns:a="http://schemas.openxmlformats.org/drawingml/2006/main" lIns="95250" tIns="47625" rIns="95250" bIns="47625" anchor="ctr">
            <a:noAutofit/>
          </a:bodyPr>
          <a:lstStyle xmlns:a="http://schemas.openxmlformats.org/drawingml/2006/main"/>
          <a:p xmlns:a="http://schemas.openxmlformats.org/drawingml/2006/main">
            <a:pPr algn="ctr">
              <a:defRPr sz="2325" b="0">
                <a:solidFill>
                  <a:srgbClr val="101D32"/>
                </a:solidFill>
                <a:latin typeface="Nimbus Sans"/>
                <a:ea typeface="Nimbus Sans"/>
                <a:cs typeface="Nimbus Sans"/>
              </a:defRPr>
            </a:pPr>
            <a:r>
              <a:rPr sz="2325" b="0">
                <a:solidFill>
                  <a:srgbClr val="101D32"/>
                </a:solidFill>
                <a:latin typeface="Nimbus Sans"/>
                <a:ea typeface="Nimbus Sans"/>
                <a:cs typeface="Nimbus Sans"/>
              </a:rPr>
              <a:t>Application</a:t>
            </a:r>
          </a:p>
          <a:p xmlns:a="http://schemas.openxmlformats.org/drawingml/2006/main">
            <a:pPr algn="ctr">
              <a:defRPr sz="2325" b="0">
                <a:solidFill>
                  <a:srgbClr val="101D32"/>
                </a:solidFill>
                <a:latin typeface="Nimbus Sans"/>
                <a:ea typeface="Nimbus Sans"/>
                <a:cs typeface="Nimbus Sans"/>
              </a:defRPr>
            </a:pPr>
            <a:r>
              <a:rPr sz="2325" b="0">
                <a:solidFill>
                  <a:srgbClr val="101D32"/>
                </a:solidFill>
                <a:latin typeface="Nimbus Sans"/>
                <a:ea typeface="Nimbus Sans"/>
                <a:cs typeface="Nimbus Sans"/>
              </a:rPr>
              <a:t>or agent</a:t>
            </a:r>
          </a:p>
        </p:txBody>
      </p:sp>
      <p:sp>
        <p:nvSpPr>
          <p:cNvPr id="6" name="Mathguard&#10;Rules + local AI&#10;Compiled Lean">
            <a:extLst xmlns:a="http://schemas.openxmlformats.org/drawingml/2006/main">
              <a:ext uri="{FF2B5EF4-FFF2-40B4-BE49-F238E27FC236}">
                <a16:creationId xmlns:a16="http://schemas.microsoft.com/office/drawing/2014/main" id="{6D014FF8-D643-4C91-B2E9-E08D25539803}"/>
              </a:ext>
            </a:extLst>
          </p:cNvPr>
          <p:cNvSpPr>
            <a:spLocks xmlns:a="http://schemas.openxmlformats.org/drawingml/2006/main" noGrp="1"/>
          </p:cNvSpPr>
          <p:nvPr/>
        </p:nvSpPr>
        <p:spPr>
          <a:xfrm xmlns:a="http://schemas.openxmlformats.org/drawingml/2006/main">
            <a:off x="4124325" y="2381250"/>
            <a:ext cx="3810000" cy="1600200"/>
          </a:xfrm>
          <a:prstGeom xmlns:a="http://schemas.openxmlformats.org/drawingml/2006/main" prst="rect">
            <a:avLst/>
          </a:prstGeom>
          <a:solidFill xmlns:a="http://schemas.openxmlformats.org/drawingml/2006/main">
            <a:srgbClr val="101D32"/>
          </a:solidFill>
          <a:ln xmlns:a="http://schemas.openxmlformats.org/drawingml/2006/main" w="10478">
            <a:solidFill>
              <a:srgbClr val="101D32"/>
            </a:solidFill>
          </a:ln>
        </p:spPr>
        <p:txBody>
          <a:bodyPr xmlns:a="http://schemas.openxmlformats.org/drawingml/2006/main" lIns="95250" tIns="47625" rIns="95250" bIns="47625" anchor="ctr">
            <a:noAutofit/>
          </a:bodyPr>
          <a:lstStyle xmlns:a="http://schemas.openxmlformats.org/drawingml/2006/main"/>
          <a:p xmlns:a="http://schemas.openxmlformats.org/drawingml/2006/main">
            <a:pPr algn="ctr">
              <a:defRPr sz="2325" b="1">
                <a:solidFill>
                  <a:srgbClr val="F6F4ED"/>
                </a:solidFill>
                <a:latin typeface="Nimbus Sans"/>
                <a:ea typeface="Nimbus Sans"/>
                <a:cs typeface="Nimbus Sans"/>
              </a:defRPr>
            </a:pPr>
            <a:r>
              <a:rPr sz="2325" b="1">
                <a:solidFill>
                  <a:srgbClr val="F6F4ED"/>
                </a:solidFill>
                <a:latin typeface="Nimbus Sans"/>
                <a:ea typeface="Nimbus Sans"/>
                <a:cs typeface="Nimbus Sans"/>
              </a:rPr>
              <a:t>Mathguard</a:t>
            </a:r>
          </a:p>
          <a:p xmlns:a="http://schemas.openxmlformats.org/drawingml/2006/main">
            <a:pPr algn="ctr">
              <a:defRPr sz="2325" b="1">
                <a:solidFill>
                  <a:srgbClr val="F6F4ED"/>
                </a:solidFill>
                <a:latin typeface="Nimbus Sans"/>
                <a:ea typeface="Nimbus Sans"/>
                <a:cs typeface="Nimbus Sans"/>
              </a:defRPr>
            </a:pPr>
            <a:r>
              <a:rPr sz="2325" b="1">
                <a:solidFill>
                  <a:srgbClr val="F6F4ED"/>
                </a:solidFill>
                <a:latin typeface="Nimbus Sans"/>
                <a:ea typeface="Nimbus Sans"/>
                <a:cs typeface="Nimbus Sans"/>
              </a:rPr>
              <a:t>Rules + local AI</a:t>
            </a:r>
          </a:p>
          <a:p xmlns:a="http://schemas.openxmlformats.org/drawingml/2006/main">
            <a:pPr algn="ctr">
              <a:defRPr sz="2325" b="1">
                <a:solidFill>
                  <a:srgbClr val="F6F4ED"/>
                </a:solidFill>
                <a:latin typeface="Nimbus Sans"/>
                <a:ea typeface="Nimbus Sans"/>
                <a:cs typeface="Nimbus Sans"/>
              </a:defRPr>
            </a:pPr>
            <a:r>
              <a:rPr sz="2325" b="1">
                <a:solidFill>
                  <a:srgbClr val="F6F4ED"/>
                </a:solidFill>
                <a:latin typeface="Nimbus Sans"/>
                <a:ea typeface="Nimbus Sans"/>
                <a:cs typeface="Nimbus Sans"/>
              </a:rPr>
              <a:t>Compiled Lean</a:t>
            </a:r>
          </a:p>
        </p:txBody>
      </p:sp>
      <p:sp>
        <p:nvSpPr>
          <p:cNvPr id="7" name="Local model&#10;or tool">
            <a:extLst xmlns:a="http://schemas.openxmlformats.org/drawingml/2006/main">
              <a:ext uri="{FF2B5EF4-FFF2-40B4-BE49-F238E27FC236}">
                <a16:creationId xmlns:a16="http://schemas.microsoft.com/office/drawing/2014/main" id="{3BCE18D4-591D-4890-87C5-2D7CFFA2C707}"/>
              </a:ext>
            </a:extLst>
          </p:cNvPr>
          <p:cNvSpPr>
            <a:spLocks xmlns:a="http://schemas.openxmlformats.org/drawingml/2006/main" noGrp="1"/>
          </p:cNvSpPr>
          <p:nvPr/>
        </p:nvSpPr>
        <p:spPr>
          <a:xfrm xmlns:a="http://schemas.openxmlformats.org/drawingml/2006/main">
            <a:off x="8858250" y="2695575"/>
            <a:ext cx="2647950" cy="952500"/>
          </a:xfrm>
          <a:prstGeom xmlns:a="http://schemas.openxmlformats.org/drawingml/2006/main" prst="rect">
            <a:avLst/>
          </a:prstGeom>
          <a:solidFill xmlns:a="http://schemas.openxmlformats.org/drawingml/2006/main">
            <a:srgbClr val="F6F4ED"/>
          </a:solidFill>
          <a:ln xmlns:a="http://schemas.openxmlformats.org/drawingml/2006/main" w="10478">
            <a:solidFill>
              <a:srgbClr val="9BA5B2"/>
            </a:solidFill>
          </a:ln>
        </p:spPr>
        <p:txBody>
          <a:bodyPr xmlns:a="http://schemas.openxmlformats.org/drawingml/2006/main" lIns="95250" tIns="47625" rIns="95250" bIns="47625" anchor="ctr">
            <a:noAutofit/>
          </a:bodyPr>
          <a:lstStyle xmlns:a="http://schemas.openxmlformats.org/drawingml/2006/main"/>
          <a:p xmlns:a="http://schemas.openxmlformats.org/drawingml/2006/main">
            <a:pPr algn="ctr">
              <a:defRPr sz="2325" b="0">
                <a:solidFill>
                  <a:srgbClr val="101D32"/>
                </a:solidFill>
                <a:latin typeface="Nimbus Sans"/>
                <a:ea typeface="Nimbus Sans"/>
                <a:cs typeface="Nimbus Sans"/>
              </a:defRPr>
            </a:pPr>
            <a:r>
              <a:rPr sz="2325" b="0">
                <a:solidFill>
                  <a:srgbClr val="101D32"/>
                </a:solidFill>
                <a:latin typeface="Nimbus Sans"/>
                <a:ea typeface="Nimbus Sans"/>
                <a:cs typeface="Nimbus Sans"/>
              </a:rPr>
              <a:t>Local model</a:t>
            </a:r>
          </a:p>
          <a:p xmlns:a="http://schemas.openxmlformats.org/drawingml/2006/main">
            <a:pPr algn="ctr">
              <a:defRPr sz="2325" b="0">
                <a:solidFill>
                  <a:srgbClr val="101D32"/>
                </a:solidFill>
                <a:latin typeface="Nimbus Sans"/>
                <a:ea typeface="Nimbus Sans"/>
                <a:cs typeface="Nimbus Sans"/>
              </a:defRPr>
            </a:pPr>
            <a:r>
              <a:rPr sz="2325" b="0">
                <a:solidFill>
                  <a:srgbClr val="101D32"/>
                </a:solidFill>
                <a:latin typeface="Nimbus Sans"/>
                <a:ea typeface="Nimbus Sans"/>
                <a:cs typeface="Nimbus Sans"/>
              </a:rPr>
              <a:t>or tool</a:t>
            </a:r>
          </a:p>
        </p:txBody>
      </p:sp>
      <p:sp>
        <p:nvSpPr>
          <p:cNvPr id="8" name="Policy file + feed">
            <a:extLst xmlns:a="http://schemas.openxmlformats.org/drawingml/2006/main">
              <a:ext uri="{FF2B5EF4-FFF2-40B4-BE49-F238E27FC236}">
                <a16:creationId xmlns:a16="http://schemas.microsoft.com/office/drawing/2014/main" id="{A64C01BE-1DE8-4108-80E0-71805504FAF1}"/>
              </a:ext>
            </a:extLst>
          </p:cNvPr>
          <p:cNvSpPr>
            <a:spLocks xmlns:a="http://schemas.openxmlformats.org/drawingml/2006/main" noGrp="1"/>
          </p:cNvSpPr>
          <p:nvPr/>
        </p:nvSpPr>
        <p:spPr>
          <a:xfrm xmlns:a="http://schemas.openxmlformats.org/drawingml/2006/main">
            <a:off x="4124325" y="1666875"/>
            <a:ext cx="3810000" cy="552450"/>
          </a:xfrm>
          <a:prstGeom xmlns:a="http://schemas.openxmlformats.org/drawingml/2006/main" prst="rect">
            <a:avLst/>
          </a:prstGeom>
          <a:solidFill xmlns:a="http://schemas.openxmlformats.org/drawingml/2006/main">
            <a:srgbClr val="F6F4ED"/>
          </a:solidFill>
          <a:ln xmlns:a="http://schemas.openxmlformats.org/drawingml/2006/main" w="10478">
            <a:solidFill>
              <a:srgbClr val="9BA5B2"/>
            </a:solidFill>
          </a:ln>
        </p:spPr>
        <p:txBody>
          <a:bodyPr xmlns:a="http://schemas.openxmlformats.org/drawingml/2006/main" lIns="95250" tIns="47625" rIns="95250" bIns="47625" anchor="ctr">
            <a:noAutofit/>
          </a:bodyPr>
          <a:lstStyle xmlns:a="http://schemas.openxmlformats.org/drawingml/2006/main"/>
          <a:p xmlns:a="http://schemas.openxmlformats.org/drawingml/2006/main">
            <a:pPr algn="ctr">
              <a:defRPr sz="2325" b="0">
                <a:solidFill>
                  <a:srgbClr val="101D32"/>
                </a:solidFill>
                <a:latin typeface="Nimbus Sans"/>
                <a:ea typeface="Nimbus Sans"/>
                <a:cs typeface="Nimbus Sans"/>
              </a:defRPr>
            </a:pPr>
            <a:r>
              <a:rPr sz="2325" b="0">
                <a:solidFill>
                  <a:srgbClr val="101D32"/>
                </a:solidFill>
                <a:latin typeface="Nimbus Sans"/>
                <a:ea typeface="Nimbus Sans"/>
                <a:cs typeface="Nimbus Sans"/>
              </a:rPr>
              <a:t>Policy file + feed</a:t>
            </a:r>
          </a:p>
        </p:txBody>
      </p:sp>
      <p:sp>
        <p:nvSpPr>
          <p:cNvPr id="9" name="Dashboard + audit">
            <a:extLst xmlns:a="http://schemas.openxmlformats.org/drawingml/2006/main">
              <a:ext uri="{FF2B5EF4-FFF2-40B4-BE49-F238E27FC236}">
                <a16:creationId xmlns:a16="http://schemas.microsoft.com/office/drawing/2014/main" id="{15C28D89-4B61-4EFB-8478-F6D4278FB0E4}"/>
              </a:ext>
            </a:extLst>
          </p:cNvPr>
          <p:cNvSpPr>
            <a:spLocks xmlns:a="http://schemas.openxmlformats.org/drawingml/2006/main" noGrp="1"/>
          </p:cNvSpPr>
          <p:nvPr/>
        </p:nvSpPr>
        <p:spPr>
          <a:xfrm xmlns:a="http://schemas.openxmlformats.org/drawingml/2006/main">
            <a:off x="4124325" y="4514850"/>
            <a:ext cx="3810000" cy="723900"/>
          </a:xfrm>
          <a:prstGeom xmlns:a="http://schemas.openxmlformats.org/drawingml/2006/main" prst="rect">
            <a:avLst/>
          </a:prstGeom>
          <a:solidFill xmlns:a="http://schemas.openxmlformats.org/drawingml/2006/main">
            <a:srgbClr val="F6F4ED"/>
          </a:solidFill>
          <a:ln xmlns:a="http://schemas.openxmlformats.org/drawingml/2006/main" w="10478">
            <a:solidFill>
              <a:srgbClr val="9BA5B2"/>
            </a:solidFill>
          </a:ln>
        </p:spPr>
        <p:txBody>
          <a:bodyPr xmlns:a="http://schemas.openxmlformats.org/drawingml/2006/main" lIns="95250" tIns="47625" rIns="95250" bIns="47625" anchor="ctr">
            <a:noAutofit/>
          </a:bodyPr>
          <a:lstStyle xmlns:a="http://schemas.openxmlformats.org/drawingml/2006/main"/>
          <a:p xmlns:a="http://schemas.openxmlformats.org/drawingml/2006/main">
            <a:pPr algn="ctr">
              <a:defRPr sz="2325" b="0">
                <a:solidFill>
                  <a:srgbClr val="101D32"/>
                </a:solidFill>
                <a:latin typeface="Nimbus Sans"/>
                <a:ea typeface="Nimbus Sans"/>
                <a:cs typeface="Nimbus Sans"/>
              </a:defRPr>
            </a:pPr>
            <a:r>
              <a:rPr sz="2325" b="0">
                <a:solidFill>
                  <a:srgbClr val="101D32"/>
                </a:solidFill>
                <a:latin typeface="Nimbus Sans"/>
                <a:ea typeface="Nimbus Sans"/>
                <a:cs typeface="Nimbus Sans"/>
              </a:rPr>
              <a:t>Dashboard + audit</a:t>
            </a:r>
          </a:p>
        </p:txBody>
      </p:sp>
      <p:sp>
        <p:nvSpPr>
          <p:cNvPr id="14" name="Prompts   Model replies   MCP   Agent messages   Artifa">
            <a:extLst xmlns:a="http://schemas.openxmlformats.org/drawingml/2006/main">
              <a:ext uri="{FF2B5EF4-FFF2-40B4-BE49-F238E27FC236}">
                <a16:creationId xmlns:a16="http://schemas.microsoft.com/office/drawing/2014/main" id="{66B37433-6A31-4E68-AD93-82292A1D56B9}"/>
              </a:ext>
            </a:extLst>
          </p:cNvPr>
          <p:cNvSpPr>
            <a:spLocks xmlns:a="http://schemas.openxmlformats.org/drawingml/2006/main" noGrp="1"/>
          </p:cNvSpPr>
          <p:nvPr/>
        </p:nvSpPr>
        <p:spPr>
          <a:xfrm xmlns:a="http://schemas.openxmlformats.org/drawingml/2006/main">
            <a:off x="685800" y="5572125"/>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0">
                <a:solidFill>
                  <a:srgbClr val="536172"/>
                </a:solidFill>
                <a:latin typeface="Nimbus Sans"/>
                <a:ea typeface="Nimbus Sans"/>
                <a:cs typeface="Nimbus Sans"/>
              </a:defRPr>
            </a:pPr>
            <a:r>
              <a:rPr sz="2175" b="0">
                <a:solidFill>
                  <a:srgbClr val="536172"/>
                </a:solidFill>
                <a:latin typeface="Nimbus Sans"/>
                <a:ea typeface="Nimbus Sans"/>
                <a:cs typeface="Nimbus Sans"/>
              </a:rPr>
              <a:t>Prompts   Model replies   MCP   Agent messages   Artifacts</a:t>
            </a:r>
          </a:p>
        </p:txBody>
      </p:sp>
    </p:spTree>
    <p:extLst>
      <p:ext uri="{BB962C8B-B14F-4D97-AF65-F5344CB8AC3E}">
        <p14:creationId xmlns:p14="http://schemas.microsoft.com/office/powerpoint/2010/main" val="1005942301"/>
      </p:ext>
    </p:extLst>
  </p:cSld>
</p:sld>
</file>

<file path=ppt/slides/slide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1" name="AI cannot relax a hard denial">
            <a:extLst xmlns:a="http://schemas.openxmlformats.org/drawingml/2006/main">
              <a:ext uri="{FF2B5EF4-FFF2-40B4-BE49-F238E27FC236}">
                <a16:creationId xmlns:a16="http://schemas.microsoft.com/office/drawing/2014/main" id="{F78ED66D-B32F-4A39-8FF5-B2F28F25D524}"/>
              </a:ext>
            </a:extLst>
          </p:cNvPr>
          <p:cNvSpPr>
            <a:spLocks xmlns:a="http://schemas.openxmlformats.org/drawingml/2006/main" noGrp="1"/>
          </p:cNvSpPr>
          <p:nvPr/>
        </p:nvSpPr>
        <p:spPr>
          <a:xfrm xmlns:a="http://schemas.openxmlformats.org/drawingml/2006/main">
            <a:off x="685800" y="800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500" b="0">
                <a:solidFill>
                  <a:srgbClr val="101D32"/>
                </a:solidFill>
                <a:latin typeface="Nimbus Roman"/>
                <a:ea typeface="Nimbus Roman"/>
                <a:cs typeface="Nimbus Roman"/>
              </a:defRPr>
            </a:pPr>
            <a:r>
              <a:rPr sz="4500" b="0">
                <a:solidFill>
                  <a:srgbClr val="101D32"/>
                </a:solidFill>
                <a:latin typeface="Nimbus Roman"/>
                <a:ea typeface="Nimbus Roman"/>
                <a:cs typeface="Nimbus Roman"/>
              </a:rPr>
              <a:t>AI cannot relax a hard denial</a:t>
            </a:r>
          </a:p>
        </p:txBody>
      </p:sp>
      <p:sp>
        <p:nvSpPr>
          <p:cNvPr id="2" name="Editorial rule">
            <a:extLst xmlns:a="http://schemas.openxmlformats.org/drawingml/2006/main">
              <a:ext uri="{FF2B5EF4-FFF2-40B4-BE49-F238E27FC236}">
                <a16:creationId xmlns:a16="http://schemas.microsoft.com/office/drawing/2014/main" id="{B8CEA6AD-AE6C-4C2C-B889-1722101FFBEB}"/>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D3D7DB"/>
            </a:solidFill>
          </a:ln>
        </p:spPr>
      </p:sp>
      <p:sp>
        <p:nvSpPr>
          <p:cNvPr id="3" name="MATHGUARD">
            <a:extLst xmlns:a="http://schemas.openxmlformats.org/drawingml/2006/main">
              <a:ext uri="{FF2B5EF4-FFF2-40B4-BE49-F238E27FC236}">
                <a16:creationId xmlns:a16="http://schemas.microsoft.com/office/drawing/2014/main" id="{6F45D281-97EC-4844-A781-8756648ECDA9}"/>
              </a:ext>
            </a:extLst>
          </p:cNvPr>
          <p:cNvSpPr>
            <a:spLocks xmlns:a="http://schemas.openxmlformats.org/drawingml/2006/main" noGrp="1"/>
          </p:cNvSpPr>
          <p:nvPr/>
        </p:nvSpPr>
        <p:spPr>
          <a:xfrm xmlns:a="http://schemas.openxmlformats.org/drawingml/2006/main">
            <a:off x="6858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00" b="1">
                <a:solidFill>
                  <a:srgbClr val="536172"/>
                </a:solidFill>
                <a:latin typeface="Nimbus Sans"/>
                <a:ea typeface="Nimbus Sans"/>
                <a:cs typeface="Nimbus Sans"/>
              </a:defRPr>
            </a:pPr>
            <a:r>
              <a:rPr sz="1200" b="1">
                <a:solidFill>
                  <a:srgbClr val="536172"/>
                </a:solidFill>
                <a:latin typeface="Nimbus Sans"/>
                <a:ea typeface="Nimbus Sans"/>
                <a:cs typeface="Nimbus Sans"/>
              </a:rPr>
              <a:t>MATHGUARD</a:t>
            </a:r>
          </a:p>
        </p:txBody>
      </p:sp>
      <p:sp>
        <p:nvSpPr>
          <p:cNvPr id="4" name="03">
            <a:extLst xmlns:a="http://schemas.openxmlformats.org/drawingml/2006/main">
              <a:ext uri="{FF2B5EF4-FFF2-40B4-BE49-F238E27FC236}">
                <a16:creationId xmlns:a16="http://schemas.microsoft.com/office/drawing/2014/main" id="{9FE529A5-0BF8-4F54-8CBF-DCF4F6E859DA}"/>
              </a:ext>
            </a:extLst>
          </p:cNvPr>
          <p:cNvSpPr>
            <a:spLocks xmlns:a="http://schemas.openxmlformats.org/drawingml/2006/main" noGrp="1"/>
          </p:cNvSpPr>
          <p:nvPr/>
        </p:nvSpPr>
        <p:spPr>
          <a:xfrm xmlns:a="http://schemas.openxmlformats.org/drawingml/2006/main">
            <a:off x="10858500" y="6381750"/>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536172"/>
                </a:solidFill>
                <a:latin typeface="Nimbus Mono PS"/>
                <a:ea typeface="Nimbus Mono PS"/>
                <a:cs typeface="Nimbus Mono PS"/>
              </a:defRPr>
            </a:pPr>
            <a:r>
              <a:rPr sz="1350" b="0">
                <a:solidFill>
                  <a:srgbClr val="536172"/>
                </a:solidFill>
                <a:latin typeface="Nimbus Mono PS"/>
                <a:ea typeface="Nimbus Mono PS"/>
                <a:cs typeface="Nimbus Mono PS"/>
              </a:rPr>
              <a:t>03</a:t>
            </a:r>
          </a:p>
        </p:txBody>
      </p:sp>
      <p:sp>
        <p:nvSpPr>
          <p:cNvPr id="5" name="One request. Two independent checks.">
            <a:extLst xmlns:a="http://schemas.openxmlformats.org/drawingml/2006/main">
              <a:ext uri="{FF2B5EF4-FFF2-40B4-BE49-F238E27FC236}">
                <a16:creationId xmlns:a16="http://schemas.microsoft.com/office/drawing/2014/main" id="{3EB2BF4B-B646-4A86-A4E3-02F4A7F0A293}"/>
              </a:ext>
            </a:extLst>
          </p:cNvPr>
          <p:cNvSpPr>
            <a:spLocks xmlns:a="http://schemas.openxmlformats.org/drawingml/2006/main" noGrp="1"/>
          </p:cNvSpPr>
          <p:nvPr/>
        </p:nvSpPr>
        <p:spPr>
          <a:xfrm xmlns:a="http://schemas.openxmlformats.org/drawingml/2006/main">
            <a:off x="685800" y="1809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0">
                <a:solidFill>
                  <a:srgbClr val="536172"/>
                </a:solidFill>
                <a:latin typeface="Nimbus Sans"/>
                <a:ea typeface="Nimbus Sans"/>
                <a:cs typeface="Nimbus Sans"/>
              </a:defRPr>
            </a:pPr>
            <a:r>
              <a:rPr sz="2550" b="0">
                <a:solidFill>
                  <a:srgbClr val="536172"/>
                </a:solidFill>
                <a:latin typeface="Nimbus Sans"/>
                <a:ea typeface="Nimbus Sans"/>
                <a:cs typeface="Nimbus Sans"/>
              </a:rPr>
              <a:t>One request. Two independent checks.</a:t>
            </a:r>
          </a:p>
        </p:txBody>
      </p:sp>
      <p:graphicFrame>
        <p:nvGraphicFramePr>
          <p:cNvPr id="16" name=""/>
          <p:cNvGraphicFramePr/>
          <p:nvPr/>
        </p:nvGraphicFramePr>
        <p:xfrm>
          <a:off xmlns:a="http://schemas.openxmlformats.org/drawingml/2006/main" x="685800" y="2600325"/>
          <a:ext xmlns:a="http://schemas.openxmlformats.org/drawingml/2006/main" cx="10820400" cy="2371725"/>
        </p:xfrm>
        <a:graphic xmlns:a="http://schemas.openxmlformats.org/drawingml/2006/main">
          <a:graphicData uri="http://schemas.openxmlformats.org/drawingml/2006/table">
            <a:tbl>
              <a:tblPr/>
              <a:tblGrid>
                <a:gridCol w="4210050"/>
                <a:gridCol w="3390900"/>
                <a:gridCol w="3219450"/>
              </a:tblGrid>
              <a:tr h="790575">
                <a:tc>
                  <a:txBody>
                    <a:bodyPr lIns="0" tIns="0" rIns="171450" bIns="0">
                      <a:noAutofit/>
                    </a:bodyPr>
                    <a:lstStyle/>
                    <a:p>
                      <a:r>
                        <a:rPr sz="1725" b="1">
                          <a:solidFill>
                            <a:srgbClr val="806638"/>
                          </a:solidFill>
                          <a:latin typeface="Nimbus Sans"/>
                          <a:ea typeface="Nimbus Sans"/>
                          <a:cs typeface="Nimbus Sans"/>
                        </a:rPr>
                        <a:t>RULE</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1725" b="1">
                          <a:solidFill>
                            <a:srgbClr val="806638"/>
                          </a:solidFill>
                          <a:latin typeface="Nimbus Sans"/>
                          <a:ea typeface="Nimbus Sans"/>
                          <a:cs typeface="Nimbus Sans"/>
                        </a:rPr>
                        <a:t>LOCAL AI</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1725" b="1">
                          <a:solidFill>
                            <a:srgbClr val="806638"/>
                          </a:solidFill>
                          <a:latin typeface="Nimbus Sans"/>
                          <a:ea typeface="Nimbus Sans"/>
                          <a:cs typeface="Nimbus Sans"/>
                        </a:rPr>
                        <a:t>FINAL RESULT</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Signature matched</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0">
                          <a:solidFill>
                            <a:srgbClr val="101D32"/>
                          </a:solidFill>
                          <a:latin typeface="Nimbus Sans"/>
                          <a:ea typeface="Nimbus Sans"/>
                          <a:cs typeface="Nimbus Sans"/>
                        </a:rPr>
                        <a:t>“Safe”</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Block</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No hard denial</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0">
                          <a:solidFill>
                            <a:srgbClr val="101D32"/>
                          </a:solidFill>
                          <a:latin typeface="Nimbus Sans"/>
                          <a:ea typeface="Nimbus Sans"/>
                          <a:cs typeface="Nimbus Sans"/>
                        </a:rPr>
                        <a:t>Threat detected</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Block / review</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bl>
          </a:graphicData>
        </a:graphic>
      </p:graphicFrame>
      <p:sp>
        <p:nvSpPr>
          <p:cNvPr id="7" name="Editorial rule">
            <a:extLst xmlns:a="http://schemas.openxmlformats.org/drawingml/2006/main">
              <a:ext uri="{FF2B5EF4-FFF2-40B4-BE49-F238E27FC236}">
                <a16:creationId xmlns:a16="http://schemas.microsoft.com/office/drawing/2014/main" id="{C8A61885-1427-4E95-96AC-E8D95F672313}"/>
              </a:ext>
            </a:extLst>
          </p:cNvPr>
          <p:cNvSpPr>
            <a:spLocks xmlns:a="http://schemas.openxmlformats.org/drawingml/2006/main" noGrp="1"/>
          </p:cNvSpPr>
          <p:nvPr/>
        </p:nvSpPr>
        <p:spPr>
          <a:xfrm xmlns:a="http://schemas.openxmlformats.org/drawingml/2006/main">
            <a:off x="685800" y="3390900"/>
            <a:ext cx="10820400" cy="0"/>
          </a:xfrm>
          <a:prstGeom xmlns:a="http://schemas.openxmlformats.org/drawingml/2006/main" prst="line">
            <a:avLst/>
          </a:prstGeom>
          <a:noFill xmlns:a="http://schemas.openxmlformats.org/drawingml/2006/main"/>
          <a:ln xmlns:a="http://schemas.openxmlformats.org/drawingml/2006/main" w="14288">
            <a:solidFill>
              <a:srgbClr val="C5A567"/>
            </a:solidFill>
          </a:ln>
        </p:spPr>
      </p:sp>
      <p:sp>
        <p:nvSpPr>
          <p:cNvPr id="8" name="Editorial rule">
            <a:extLst xmlns:a="http://schemas.openxmlformats.org/drawingml/2006/main">
              <a:ext uri="{FF2B5EF4-FFF2-40B4-BE49-F238E27FC236}">
                <a16:creationId xmlns:a16="http://schemas.microsoft.com/office/drawing/2014/main" id="{D5DCF21A-6A9A-4807-9682-A21E64036793}"/>
              </a:ext>
            </a:extLst>
          </p:cNvPr>
          <p:cNvSpPr>
            <a:spLocks xmlns:a="http://schemas.openxmlformats.org/drawingml/2006/main" noGrp="1"/>
          </p:cNvSpPr>
          <p:nvPr/>
        </p:nvSpPr>
        <p:spPr>
          <a:xfrm xmlns:a="http://schemas.openxmlformats.org/drawingml/2006/main">
            <a:off x="685800" y="4181475"/>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9" name="Editorial rule">
            <a:extLst xmlns:a="http://schemas.openxmlformats.org/drawingml/2006/main">
              <a:ext uri="{FF2B5EF4-FFF2-40B4-BE49-F238E27FC236}">
                <a16:creationId xmlns:a16="http://schemas.microsoft.com/office/drawing/2014/main" id="{88450050-989F-4CD2-B170-E1186D26A9CE}"/>
              </a:ext>
            </a:extLst>
          </p:cNvPr>
          <p:cNvSpPr>
            <a:spLocks xmlns:a="http://schemas.openxmlformats.org/drawingml/2006/main" noGrp="1"/>
          </p:cNvSpPr>
          <p:nvPr/>
        </p:nvSpPr>
        <p:spPr>
          <a:xfrm xmlns:a="http://schemas.openxmlformats.org/drawingml/2006/main">
            <a:off x="685800" y="4972050"/>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10" name="Pass, redact, review or block.">
            <a:extLst xmlns:a="http://schemas.openxmlformats.org/drawingml/2006/main">
              <a:ext uri="{FF2B5EF4-FFF2-40B4-BE49-F238E27FC236}">
                <a16:creationId xmlns:a16="http://schemas.microsoft.com/office/drawing/2014/main" id="{0FBC2E57-B8A3-4FAF-9F10-11D38F1B9464}"/>
              </a:ext>
            </a:extLst>
          </p:cNvPr>
          <p:cNvSpPr>
            <a:spLocks xmlns:a="http://schemas.openxmlformats.org/drawingml/2006/main" noGrp="1"/>
          </p:cNvSpPr>
          <p:nvPr/>
        </p:nvSpPr>
        <p:spPr>
          <a:xfrm xmlns:a="http://schemas.openxmlformats.org/drawingml/2006/main">
            <a:off x="685800" y="5410200"/>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700" b="1">
                <a:solidFill>
                  <a:srgbClr val="101D32"/>
                </a:solidFill>
                <a:latin typeface="Nimbus Sans"/>
                <a:ea typeface="Nimbus Sans"/>
                <a:cs typeface="Nimbus Sans"/>
              </a:defRPr>
            </a:pPr>
            <a:r>
              <a:rPr sz="2700" b="1">
                <a:solidFill>
                  <a:srgbClr val="101D32"/>
                </a:solidFill>
                <a:latin typeface="Nimbus Sans"/>
                <a:ea typeface="Nimbus Sans"/>
                <a:cs typeface="Nimbus Sans"/>
              </a:rPr>
              <a:t>Pass, redact, review or block.</a:t>
            </a:r>
          </a:p>
        </p:txBody>
      </p:sp>
    </p:spTree>
    <p:extLst>
      <p:ext uri="{BB962C8B-B14F-4D97-AF65-F5344CB8AC3E}">
        <p14:creationId xmlns:p14="http://schemas.microsoft.com/office/powerpoint/2010/main" val="522978397"/>
      </p:ext>
    </p:extLst>
  </p:cSld>
</p:sld>
</file>

<file path=ppt/slides/slide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1" name="Live policy, safe reload">
            <a:extLst xmlns:a="http://schemas.openxmlformats.org/drawingml/2006/main">
              <a:ext uri="{FF2B5EF4-FFF2-40B4-BE49-F238E27FC236}">
                <a16:creationId xmlns:a16="http://schemas.microsoft.com/office/drawing/2014/main" id="{8BBE76F1-6B4C-4964-BDBD-41425EE23AA1}"/>
              </a:ext>
            </a:extLst>
          </p:cNvPr>
          <p:cNvSpPr>
            <a:spLocks xmlns:a="http://schemas.openxmlformats.org/drawingml/2006/main" noGrp="1"/>
          </p:cNvSpPr>
          <p:nvPr/>
        </p:nvSpPr>
        <p:spPr>
          <a:xfrm xmlns:a="http://schemas.openxmlformats.org/drawingml/2006/main">
            <a:off x="685800" y="800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500" b="0">
                <a:solidFill>
                  <a:srgbClr val="101D32"/>
                </a:solidFill>
                <a:latin typeface="Nimbus Roman"/>
                <a:ea typeface="Nimbus Roman"/>
                <a:cs typeface="Nimbus Roman"/>
              </a:defRPr>
            </a:pPr>
            <a:r>
              <a:rPr sz="4500" b="0">
                <a:solidFill>
                  <a:srgbClr val="101D32"/>
                </a:solidFill>
                <a:latin typeface="Nimbus Roman"/>
                <a:ea typeface="Nimbus Roman"/>
                <a:cs typeface="Nimbus Roman"/>
              </a:rPr>
              <a:t>Live policy, safe reload</a:t>
            </a:r>
          </a:p>
        </p:txBody>
      </p:sp>
      <p:sp>
        <p:nvSpPr>
          <p:cNvPr id="2" name="Editorial rule">
            <a:extLst xmlns:a="http://schemas.openxmlformats.org/drawingml/2006/main">
              <a:ext uri="{FF2B5EF4-FFF2-40B4-BE49-F238E27FC236}">
                <a16:creationId xmlns:a16="http://schemas.microsoft.com/office/drawing/2014/main" id="{0F729C3E-0F47-4998-B862-D06753B01BD6}"/>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D3D7DB"/>
            </a:solidFill>
          </a:ln>
        </p:spPr>
      </p:sp>
      <p:sp>
        <p:nvSpPr>
          <p:cNvPr id="3" name="MATHGUARD">
            <a:extLst xmlns:a="http://schemas.openxmlformats.org/drawingml/2006/main">
              <a:ext uri="{FF2B5EF4-FFF2-40B4-BE49-F238E27FC236}">
                <a16:creationId xmlns:a16="http://schemas.microsoft.com/office/drawing/2014/main" id="{303C4E48-5B31-4427-ABE0-FC1AF9BD4BBB}"/>
              </a:ext>
            </a:extLst>
          </p:cNvPr>
          <p:cNvSpPr>
            <a:spLocks xmlns:a="http://schemas.openxmlformats.org/drawingml/2006/main" noGrp="1"/>
          </p:cNvSpPr>
          <p:nvPr/>
        </p:nvSpPr>
        <p:spPr>
          <a:xfrm xmlns:a="http://schemas.openxmlformats.org/drawingml/2006/main">
            <a:off x="6858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00" b="1">
                <a:solidFill>
                  <a:srgbClr val="536172"/>
                </a:solidFill>
                <a:latin typeface="Nimbus Sans"/>
                <a:ea typeface="Nimbus Sans"/>
                <a:cs typeface="Nimbus Sans"/>
              </a:defRPr>
            </a:pPr>
            <a:r>
              <a:rPr sz="1200" b="1">
                <a:solidFill>
                  <a:srgbClr val="536172"/>
                </a:solidFill>
                <a:latin typeface="Nimbus Sans"/>
                <a:ea typeface="Nimbus Sans"/>
                <a:cs typeface="Nimbus Sans"/>
              </a:rPr>
              <a:t>MATHGUARD</a:t>
            </a:r>
          </a:p>
        </p:txBody>
      </p:sp>
      <p:sp>
        <p:nvSpPr>
          <p:cNvPr id="4" name="04">
            <a:extLst xmlns:a="http://schemas.openxmlformats.org/drawingml/2006/main">
              <a:ext uri="{FF2B5EF4-FFF2-40B4-BE49-F238E27FC236}">
                <a16:creationId xmlns:a16="http://schemas.microsoft.com/office/drawing/2014/main" id="{6321ED76-8C7C-45EA-B0AA-6A455C2D003D}"/>
              </a:ext>
            </a:extLst>
          </p:cNvPr>
          <p:cNvSpPr>
            <a:spLocks xmlns:a="http://schemas.openxmlformats.org/drawingml/2006/main" noGrp="1"/>
          </p:cNvSpPr>
          <p:nvPr/>
        </p:nvSpPr>
        <p:spPr>
          <a:xfrm xmlns:a="http://schemas.openxmlformats.org/drawingml/2006/main">
            <a:off x="10858500" y="6381750"/>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536172"/>
                </a:solidFill>
                <a:latin typeface="Nimbus Mono PS"/>
                <a:ea typeface="Nimbus Mono PS"/>
                <a:cs typeface="Nimbus Mono PS"/>
              </a:defRPr>
            </a:pPr>
            <a:r>
              <a:rPr sz="1350" b="0">
                <a:solidFill>
                  <a:srgbClr val="536172"/>
                </a:solidFill>
                <a:latin typeface="Nimbus Mono PS"/>
                <a:ea typeface="Nimbus Mono PS"/>
                <a:cs typeface="Nimbus Mono PS"/>
              </a:rPr>
              <a:t>04</a:t>
            </a:r>
          </a:p>
        </p:txBody>
      </p:sp>
      <p:graphicFrame>
        <p:nvGraphicFramePr>
          <p:cNvPr id="15" name=""/>
          <p:cNvGraphicFramePr/>
          <p:nvPr/>
        </p:nvGraphicFramePr>
        <p:xfrm>
          <a:off xmlns:a="http://schemas.openxmlformats.org/drawingml/2006/main" x="685800" y="2152650"/>
          <a:ext xmlns:a="http://schemas.openxmlformats.org/drawingml/2006/main" cx="10820400" cy="3162300"/>
        </p:xfrm>
        <a:graphic xmlns:a="http://schemas.openxmlformats.org/drawingml/2006/main">
          <a:graphicData uri="http://schemas.openxmlformats.org/drawingml/2006/table">
            <a:tbl>
              <a:tblPr/>
              <a:tblGrid>
                <a:gridCol w="4857750"/>
                <a:gridCol w="5962650"/>
              </a:tblGrid>
              <a:tr h="790575">
                <a:tc>
                  <a:txBody>
                    <a:bodyPr lIns="0" tIns="0" rIns="171450" bIns="0">
                      <a:noAutofit/>
                    </a:bodyPr>
                    <a:lstStyle/>
                    <a:p>
                      <a:r>
                        <a:rPr sz="1725" b="1">
                          <a:solidFill>
                            <a:srgbClr val="806638"/>
                          </a:solidFill>
                          <a:latin typeface="Nimbus Sans"/>
                          <a:ea typeface="Nimbus Sans"/>
                          <a:cs typeface="Nimbus Sans"/>
                        </a:rPr>
                        <a:t>EDIT</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1725" b="1">
                          <a:solidFill>
                            <a:srgbClr val="806638"/>
                          </a:solidFill>
                          <a:latin typeface="Nimbus Sans"/>
                          <a:ea typeface="Nimbus Sans"/>
                          <a:cs typeface="Nimbus Sans"/>
                        </a:rPr>
                        <a:t>GATEWAY RESPONSE</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Valid policy</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Activate</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Invalid edit</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Keep last valid</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No valid policy</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Block all traffic</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bl>
          </a:graphicData>
        </a:graphic>
      </p:graphicFrame>
      <p:sp>
        <p:nvSpPr>
          <p:cNvPr id="6" name="Editorial rule">
            <a:extLst xmlns:a="http://schemas.openxmlformats.org/drawingml/2006/main">
              <a:ext uri="{FF2B5EF4-FFF2-40B4-BE49-F238E27FC236}">
                <a16:creationId xmlns:a16="http://schemas.microsoft.com/office/drawing/2014/main" id="{7D7FF395-0465-49E7-B8AD-0A35CFDAF723}"/>
              </a:ext>
            </a:extLst>
          </p:cNvPr>
          <p:cNvSpPr>
            <a:spLocks xmlns:a="http://schemas.openxmlformats.org/drawingml/2006/main" noGrp="1"/>
          </p:cNvSpPr>
          <p:nvPr/>
        </p:nvSpPr>
        <p:spPr>
          <a:xfrm xmlns:a="http://schemas.openxmlformats.org/drawingml/2006/main">
            <a:off x="685800" y="2943225"/>
            <a:ext cx="10820400" cy="0"/>
          </a:xfrm>
          <a:prstGeom xmlns:a="http://schemas.openxmlformats.org/drawingml/2006/main" prst="line">
            <a:avLst/>
          </a:prstGeom>
          <a:noFill xmlns:a="http://schemas.openxmlformats.org/drawingml/2006/main"/>
          <a:ln xmlns:a="http://schemas.openxmlformats.org/drawingml/2006/main" w="14288">
            <a:solidFill>
              <a:srgbClr val="C5A567"/>
            </a:solidFill>
          </a:ln>
        </p:spPr>
      </p:sp>
      <p:sp>
        <p:nvSpPr>
          <p:cNvPr id="7" name="Editorial rule">
            <a:extLst xmlns:a="http://schemas.openxmlformats.org/drawingml/2006/main">
              <a:ext uri="{FF2B5EF4-FFF2-40B4-BE49-F238E27FC236}">
                <a16:creationId xmlns:a16="http://schemas.microsoft.com/office/drawing/2014/main" id="{28E5170E-B783-4CEF-BD6C-F65AC97FE0BE}"/>
              </a:ext>
            </a:extLst>
          </p:cNvPr>
          <p:cNvSpPr>
            <a:spLocks xmlns:a="http://schemas.openxmlformats.org/drawingml/2006/main" noGrp="1"/>
          </p:cNvSpPr>
          <p:nvPr/>
        </p:nvSpPr>
        <p:spPr>
          <a:xfrm xmlns:a="http://schemas.openxmlformats.org/drawingml/2006/main">
            <a:off x="685800" y="3733800"/>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8" name="Editorial rule">
            <a:extLst xmlns:a="http://schemas.openxmlformats.org/drawingml/2006/main">
              <a:ext uri="{FF2B5EF4-FFF2-40B4-BE49-F238E27FC236}">
                <a16:creationId xmlns:a16="http://schemas.microsoft.com/office/drawing/2014/main" id="{25737151-600E-427A-816C-3D08D2147506}"/>
              </a:ext>
            </a:extLst>
          </p:cNvPr>
          <p:cNvSpPr>
            <a:spLocks xmlns:a="http://schemas.openxmlformats.org/drawingml/2006/main" noGrp="1"/>
          </p:cNvSpPr>
          <p:nvPr/>
        </p:nvSpPr>
        <p:spPr>
          <a:xfrm xmlns:a="http://schemas.openxmlformats.org/drawingml/2006/main">
            <a:off x="685800" y="4524375"/>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9" name="Editorial rule">
            <a:extLst xmlns:a="http://schemas.openxmlformats.org/drawingml/2006/main">
              <a:ext uri="{FF2B5EF4-FFF2-40B4-BE49-F238E27FC236}">
                <a16:creationId xmlns:a16="http://schemas.microsoft.com/office/drawing/2014/main" id="{AF44FBD8-17FD-4489-A7E0-A912D6F15743}"/>
              </a:ext>
            </a:extLst>
          </p:cNvPr>
          <p:cNvSpPr>
            <a:spLocks xmlns:a="http://schemas.openxmlformats.org/drawingml/2006/main" noGrp="1"/>
          </p:cNvSpPr>
          <p:nvPr/>
        </p:nvSpPr>
        <p:spPr>
          <a:xfrm xmlns:a="http://schemas.openxmlformats.org/drawingml/2006/main">
            <a:off x="685800" y="5314950"/>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10" name="No restart. No quota reset.">
            <a:extLst xmlns:a="http://schemas.openxmlformats.org/drawingml/2006/main">
              <a:ext uri="{FF2B5EF4-FFF2-40B4-BE49-F238E27FC236}">
                <a16:creationId xmlns:a16="http://schemas.microsoft.com/office/drawing/2014/main" id="{EDF08D4F-35B7-45AF-9551-CF52218A5208}"/>
              </a:ext>
            </a:extLst>
          </p:cNvPr>
          <p:cNvSpPr>
            <a:spLocks xmlns:a="http://schemas.openxmlformats.org/drawingml/2006/main" noGrp="1"/>
          </p:cNvSpPr>
          <p:nvPr/>
        </p:nvSpPr>
        <p:spPr>
          <a:xfrm xmlns:a="http://schemas.openxmlformats.org/drawingml/2006/main">
            <a:off x="685800" y="5648325"/>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0">
                <a:solidFill>
                  <a:srgbClr val="536172"/>
                </a:solidFill>
                <a:latin typeface="Nimbus Sans"/>
                <a:ea typeface="Nimbus Sans"/>
                <a:cs typeface="Nimbus Sans"/>
              </a:defRPr>
            </a:pPr>
            <a:r>
              <a:rPr sz="2550" b="0">
                <a:solidFill>
                  <a:srgbClr val="536172"/>
                </a:solidFill>
                <a:latin typeface="Nimbus Sans"/>
                <a:ea typeface="Nimbus Sans"/>
                <a:cs typeface="Nimbus Sans"/>
              </a:rPr>
              <a:t>No restart. No quota reset.</a:t>
            </a:r>
          </a:p>
        </p:txBody>
      </p:sp>
    </p:spTree>
    <p:extLst>
      <p:ext uri="{BB962C8B-B14F-4D97-AF65-F5344CB8AC3E}">
        <p14:creationId xmlns:p14="http://schemas.microsoft.com/office/powerpoint/2010/main" val="134632537"/>
      </p:ext>
    </p:extLst>
  </p:cSld>
</p:sld>
</file>

<file path=ppt/slides/slide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1" name="Checks before content escapes">
            <a:extLst xmlns:a="http://schemas.openxmlformats.org/drawingml/2006/main">
              <a:ext uri="{FF2B5EF4-FFF2-40B4-BE49-F238E27FC236}">
                <a16:creationId xmlns:a16="http://schemas.microsoft.com/office/drawing/2014/main" id="{CFDDEE2E-CD92-4D07-966B-3730815AECCE}"/>
              </a:ext>
            </a:extLst>
          </p:cNvPr>
          <p:cNvSpPr>
            <a:spLocks xmlns:a="http://schemas.openxmlformats.org/drawingml/2006/main" noGrp="1"/>
          </p:cNvSpPr>
          <p:nvPr/>
        </p:nvSpPr>
        <p:spPr>
          <a:xfrm xmlns:a="http://schemas.openxmlformats.org/drawingml/2006/main">
            <a:off x="685800" y="800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500" b="0">
                <a:solidFill>
                  <a:srgbClr val="101D32"/>
                </a:solidFill>
                <a:latin typeface="Nimbus Roman"/>
                <a:ea typeface="Nimbus Roman"/>
                <a:cs typeface="Nimbus Roman"/>
              </a:defRPr>
            </a:pPr>
            <a:r>
              <a:rPr sz="4500" b="0">
                <a:solidFill>
                  <a:srgbClr val="101D32"/>
                </a:solidFill>
                <a:latin typeface="Nimbus Roman"/>
                <a:ea typeface="Nimbus Roman"/>
                <a:cs typeface="Nimbus Roman"/>
              </a:rPr>
              <a:t>Checks before content escapes</a:t>
            </a:r>
          </a:p>
        </p:txBody>
      </p:sp>
      <p:sp>
        <p:nvSpPr>
          <p:cNvPr id="2" name="Editorial rule">
            <a:extLst xmlns:a="http://schemas.openxmlformats.org/drawingml/2006/main">
              <a:ext uri="{FF2B5EF4-FFF2-40B4-BE49-F238E27FC236}">
                <a16:creationId xmlns:a16="http://schemas.microsoft.com/office/drawing/2014/main" id="{D5DAE34C-E39B-4A26-BB61-CED2AB82B3BC}"/>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D3D7DB"/>
            </a:solidFill>
          </a:ln>
        </p:spPr>
      </p:sp>
      <p:sp>
        <p:nvSpPr>
          <p:cNvPr id="3" name="MATHGUARD">
            <a:extLst xmlns:a="http://schemas.openxmlformats.org/drawingml/2006/main">
              <a:ext uri="{FF2B5EF4-FFF2-40B4-BE49-F238E27FC236}">
                <a16:creationId xmlns:a16="http://schemas.microsoft.com/office/drawing/2014/main" id="{C0CCA2EC-9FFE-4D56-B6E7-123D0517B938}"/>
              </a:ext>
            </a:extLst>
          </p:cNvPr>
          <p:cNvSpPr>
            <a:spLocks xmlns:a="http://schemas.openxmlformats.org/drawingml/2006/main" noGrp="1"/>
          </p:cNvSpPr>
          <p:nvPr/>
        </p:nvSpPr>
        <p:spPr>
          <a:xfrm xmlns:a="http://schemas.openxmlformats.org/drawingml/2006/main">
            <a:off x="6858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00" b="1">
                <a:solidFill>
                  <a:srgbClr val="536172"/>
                </a:solidFill>
                <a:latin typeface="Nimbus Sans"/>
                <a:ea typeface="Nimbus Sans"/>
                <a:cs typeface="Nimbus Sans"/>
              </a:defRPr>
            </a:pPr>
            <a:r>
              <a:rPr sz="1200" b="1">
                <a:solidFill>
                  <a:srgbClr val="536172"/>
                </a:solidFill>
                <a:latin typeface="Nimbus Sans"/>
                <a:ea typeface="Nimbus Sans"/>
                <a:cs typeface="Nimbus Sans"/>
              </a:rPr>
              <a:t>MATHGUARD</a:t>
            </a:r>
          </a:p>
        </p:txBody>
      </p:sp>
      <p:sp>
        <p:nvSpPr>
          <p:cNvPr id="4" name="05">
            <a:extLst xmlns:a="http://schemas.openxmlformats.org/drawingml/2006/main">
              <a:ext uri="{FF2B5EF4-FFF2-40B4-BE49-F238E27FC236}">
                <a16:creationId xmlns:a16="http://schemas.microsoft.com/office/drawing/2014/main" id="{68D7C0E3-0155-42EF-8FF0-8A6F14BDB1F6}"/>
              </a:ext>
            </a:extLst>
          </p:cNvPr>
          <p:cNvSpPr>
            <a:spLocks xmlns:a="http://schemas.openxmlformats.org/drawingml/2006/main" noGrp="1"/>
          </p:cNvSpPr>
          <p:nvPr/>
        </p:nvSpPr>
        <p:spPr>
          <a:xfrm xmlns:a="http://schemas.openxmlformats.org/drawingml/2006/main">
            <a:off x="10858500" y="6381750"/>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536172"/>
                </a:solidFill>
                <a:latin typeface="Nimbus Mono PS"/>
                <a:ea typeface="Nimbus Mono PS"/>
                <a:cs typeface="Nimbus Mono PS"/>
              </a:defRPr>
            </a:pPr>
            <a:r>
              <a:rPr sz="1350" b="0">
                <a:solidFill>
                  <a:srgbClr val="536172"/>
                </a:solidFill>
                <a:latin typeface="Nimbus Mono PS"/>
                <a:ea typeface="Nimbus Mono PS"/>
                <a:cs typeface="Nimbus Mono PS"/>
              </a:rPr>
              <a:t>05</a:t>
            </a:r>
          </a:p>
        </p:txBody>
      </p:sp>
      <p:graphicFrame>
        <p:nvGraphicFramePr>
          <p:cNvPr id="15" name=""/>
          <p:cNvGraphicFramePr/>
          <p:nvPr/>
        </p:nvGraphicFramePr>
        <p:xfrm>
          <a:off xmlns:a="http://schemas.openxmlformats.org/drawingml/2006/main" x="685800" y="2152650"/>
          <a:ext xmlns:a="http://schemas.openxmlformats.org/drawingml/2006/main" cx="10820400" cy="3162300"/>
        </p:xfrm>
        <a:graphic xmlns:a="http://schemas.openxmlformats.org/drawingml/2006/main">
          <a:graphicData uri="http://schemas.openxmlformats.org/drawingml/2006/table">
            <a:tbl>
              <a:tblPr/>
              <a:tblGrid>
                <a:gridCol w="6667500"/>
                <a:gridCol w="4152900"/>
              </a:tblGrid>
              <a:tr h="790575">
                <a:tc>
                  <a:txBody>
                    <a:bodyPr lIns="0" tIns="0" rIns="171450" bIns="0">
                      <a:noAutofit/>
                    </a:bodyPr>
                    <a:lstStyle/>
                    <a:p>
                      <a:r>
                        <a:rPr sz="1725" b="1">
                          <a:solidFill>
                            <a:srgbClr val="806638"/>
                          </a:solidFill>
                          <a:latin typeface="Nimbus Sans"/>
                          <a:ea typeface="Nimbus Sans"/>
                          <a:cs typeface="Nimbus Sans"/>
                        </a:rPr>
                        <a:t>CONTENT</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1725" b="1">
                          <a:solidFill>
                            <a:srgbClr val="806638"/>
                          </a:solidFill>
                          <a:latin typeface="Nimbus Sans"/>
                          <a:ea typeface="Nimbus Sans"/>
                          <a:cs typeface="Nimbus Sans"/>
                        </a:rPr>
                        <a:t>CONTROL</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Secrets</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Block or redact</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Personal data</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Redact or block</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Executable / unpinned artifact</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Block</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bl>
          </a:graphicData>
        </a:graphic>
      </p:graphicFrame>
      <p:sp>
        <p:nvSpPr>
          <p:cNvPr id="6" name="Editorial rule">
            <a:extLst xmlns:a="http://schemas.openxmlformats.org/drawingml/2006/main">
              <a:ext uri="{FF2B5EF4-FFF2-40B4-BE49-F238E27FC236}">
                <a16:creationId xmlns:a16="http://schemas.microsoft.com/office/drawing/2014/main" id="{7EB9F6DD-EC53-4C82-AADF-19BAABA9D335}"/>
              </a:ext>
            </a:extLst>
          </p:cNvPr>
          <p:cNvSpPr>
            <a:spLocks xmlns:a="http://schemas.openxmlformats.org/drawingml/2006/main" noGrp="1"/>
          </p:cNvSpPr>
          <p:nvPr/>
        </p:nvSpPr>
        <p:spPr>
          <a:xfrm xmlns:a="http://schemas.openxmlformats.org/drawingml/2006/main">
            <a:off x="685800" y="2943225"/>
            <a:ext cx="10820400" cy="0"/>
          </a:xfrm>
          <a:prstGeom xmlns:a="http://schemas.openxmlformats.org/drawingml/2006/main" prst="line">
            <a:avLst/>
          </a:prstGeom>
          <a:noFill xmlns:a="http://schemas.openxmlformats.org/drawingml/2006/main"/>
          <a:ln xmlns:a="http://schemas.openxmlformats.org/drawingml/2006/main" w="14288">
            <a:solidFill>
              <a:srgbClr val="C5A567"/>
            </a:solidFill>
          </a:ln>
        </p:spPr>
      </p:sp>
      <p:sp>
        <p:nvSpPr>
          <p:cNvPr id="7" name="Editorial rule">
            <a:extLst xmlns:a="http://schemas.openxmlformats.org/drawingml/2006/main">
              <a:ext uri="{FF2B5EF4-FFF2-40B4-BE49-F238E27FC236}">
                <a16:creationId xmlns:a16="http://schemas.microsoft.com/office/drawing/2014/main" id="{9AA897F3-62E0-4A55-830A-33F7841FCCA3}"/>
              </a:ext>
            </a:extLst>
          </p:cNvPr>
          <p:cNvSpPr>
            <a:spLocks xmlns:a="http://schemas.openxmlformats.org/drawingml/2006/main" noGrp="1"/>
          </p:cNvSpPr>
          <p:nvPr/>
        </p:nvSpPr>
        <p:spPr>
          <a:xfrm xmlns:a="http://schemas.openxmlformats.org/drawingml/2006/main">
            <a:off x="685800" y="3733800"/>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8" name="Editorial rule">
            <a:extLst xmlns:a="http://schemas.openxmlformats.org/drawingml/2006/main">
              <a:ext uri="{FF2B5EF4-FFF2-40B4-BE49-F238E27FC236}">
                <a16:creationId xmlns:a16="http://schemas.microsoft.com/office/drawing/2014/main" id="{25DA35B2-C5CE-4941-A089-3C49F6575835}"/>
              </a:ext>
            </a:extLst>
          </p:cNvPr>
          <p:cNvSpPr>
            <a:spLocks xmlns:a="http://schemas.openxmlformats.org/drawingml/2006/main" noGrp="1"/>
          </p:cNvSpPr>
          <p:nvPr/>
        </p:nvSpPr>
        <p:spPr>
          <a:xfrm xmlns:a="http://schemas.openxmlformats.org/drawingml/2006/main">
            <a:off x="685800" y="4524375"/>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9" name="Editorial rule">
            <a:extLst xmlns:a="http://schemas.openxmlformats.org/drawingml/2006/main">
              <a:ext uri="{FF2B5EF4-FFF2-40B4-BE49-F238E27FC236}">
                <a16:creationId xmlns:a16="http://schemas.microsoft.com/office/drawing/2014/main" id="{731ED52A-C74F-40A2-ADFB-F7B8B83ECED6}"/>
              </a:ext>
            </a:extLst>
          </p:cNvPr>
          <p:cNvSpPr>
            <a:spLocks xmlns:a="http://schemas.openxmlformats.org/drawingml/2006/main" noGrp="1"/>
          </p:cNvSpPr>
          <p:nvPr/>
        </p:nvSpPr>
        <p:spPr>
          <a:xfrm xmlns:a="http://schemas.openxmlformats.org/drawingml/2006/main">
            <a:off x="685800" y="5314950"/>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10" name="Bounded parsing. Hash pins. No deserialization.">
            <a:extLst xmlns:a="http://schemas.openxmlformats.org/drawingml/2006/main">
              <a:ext uri="{FF2B5EF4-FFF2-40B4-BE49-F238E27FC236}">
                <a16:creationId xmlns:a16="http://schemas.microsoft.com/office/drawing/2014/main" id="{1E2D772F-E570-4A25-9745-739900F895FA}"/>
              </a:ext>
            </a:extLst>
          </p:cNvPr>
          <p:cNvSpPr>
            <a:spLocks xmlns:a="http://schemas.openxmlformats.org/drawingml/2006/main" noGrp="1"/>
          </p:cNvSpPr>
          <p:nvPr/>
        </p:nvSpPr>
        <p:spPr>
          <a:xfrm xmlns:a="http://schemas.openxmlformats.org/drawingml/2006/main">
            <a:off x="685800" y="5619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00" b="0">
                <a:solidFill>
                  <a:srgbClr val="536172"/>
                </a:solidFill>
                <a:latin typeface="Nimbus Sans"/>
                <a:ea typeface="Nimbus Sans"/>
                <a:cs typeface="Nimbus Sans"/>
              </a:defRPr>
            </a:pPr>
            <a:r>
              <a:rPr sz="2400" b="0">
                <a:solidFill>
                  <a:srgbClr val="536172"/>
                </a:solidFill>
                <a:latin typeface="Nimbus Sans"/>
                <a:ea typeface="Nimbus Sans"/>
                <a:cs typeface="Nimbus Sans"/>
              </a:rPr>
              <a:t>Bounded parsing. Hash pins. No deserialization.</a:t>
            </a:r>
          </a:p>
        </p:txBody>
      </p:sp>
    </p:spTree>
    <p:extLst>
      <p:ext uri="{BB962C8B-B14F-4D97-AF65-F5344CB8AC3E}">
        <p14:creationId xmlns:p14="http://schemas.microsoft.com/office/powerpoint/2010/main" val="212802614"/>
      </p:ext>
    </p:extLst>
  </p:cSld>
</p:sld>
</file>

<file path=ppt/slides/slide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Budget before dispatch">
            <a:extLst xmlns:a="http://schemas.openxmlformats.org/drawingml/2006/main">
              <a:ext uri="{FF2B5EF4-FFF2-40B4-BE49-F238E27FC236}">
                <a16:creationId xmlns:a16="http://schemas.microsoft.com/office/drawing/2014/main" id="{1E5C11EB-C81A-4717-A97E-EDC766CBCA67}"/>
              </a:ext>
            </a:extLst>
          </p:cNvPr>
          <p:cNvSpPr>
            <a:spLocks xmlns:a="http://schemas.openxmlformats.org/drawingml/2006/main" noGrp="1"/>
          </p:cNvSpPr>
          <p:nvPr/>
        </p:nvSpPr>
        <p:spPr>
          <a:xfrm xmlns:a="http://schemas.openxmlformats.org/drawingml/2006/main">
            <a:off x="685800" y="800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500" b="0">
                <a:solidFill>
                  <a:srgbClr val="101D32"/>
                </a:solidFill>
                <a:latin typeface="Nimbus Roman"/>
                <a:ea typeface="Nimbus Roman"/>
                <a:cs typeface="Nimbus Roman"/>
              </a:defRPr>
            </a:pPr>
            <a:r>
              <a:rPr sz="4500" b="0">
                <a:solidFill>
                  <a:srgbClr val="101D32"/>
                </a:solidFill>
                <a:latin typeface="Nimbus Roman"/>
                <a:ea typeface="Nimbus Roman"/>
                <a:cs typeface="Nimbus Roman"/>
              </a:rPr>
              <a:t>Budget before dispatch</a:t>
            </a:r>
          </a:p>
        </p:txBody>
      </p:sp>
      <p:sp>
        <p:nvSpPr>
          <p:cNvPr id="2" name="Editorial rule">
            <a:extLst xmlns:a="http://schemas.openxmlformats.org/drawingml/2006/main">
              <a:ext uri="{FF2B5EF4-FFF2-40B4-BE49-F238E27FC236}">
                <a16:creationId xmlns:a16="http://schemas.microsoft.com/office/drawing/2014/main" id="{52E4272E-9CCE-48E2-B381-2723D57E9198}"/>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D3D7DB"/>
            </a:solidFill>
          </a:ln>
        </p:spPr>
      </p:sp>
      <p:sp>
        <p:nvSpPr>
          <p:cNvPr id="3" name="MATHGUARD">
            <a:extLst xmlns:a="http://schemas.openxmlformats.org/drawingml/2006/main">
              <a:ext uri="{FF2B5EF4-FFF2-40B4-BE49-F238E27FC236}">
                <a16:creationId xmlns:a16="http://schemas.microsoft.com/office/drawing/2014/main" id="{CBA1B6DB-2A5C-4362-A553-CC915A3FC759}"/>
              </a:ext>
            </a:extLst>
          </p:cNvPr>
          <p:cNvSpPr>
            <a:spLocks xmlns:a="http://schemas.openxmlformats.org/drawingml/2006/main" noGrp="1"/>
          </p:cNvSpPr>
          <p:nvPr/>
        </p:nvSpPr>
        <p:spPr>
          <a:xfrm xmlns:a="http://schemas.openxmlformats.org/drawingml/2006/main">
            <a:off x="6858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00" b="1">
                <a:solidFill>
                  <a:srgbClr val="536172"/>
                </a:solidFill>
                <a:latin typeface="Nimbus Sans"/>
                <a:ea typeface="Nimbus Sans"/>
                <a:cs typeface="Nimbus Sans"/>
              </a:defRPr>
            </a:pPr>
            <a:r>
              <a:rPr sz="1200" b="1">
                <a:solidFill>
                  <a:srgbClr val="536172"/>
                </a:solidFill>
                <a:latin typeface="Nimbus Sans"/>
                <a:ea typeface="Nimbus Sans"/>
                <a:cs typeface="Nimbus Sans"/>
              </a:rPr>
              <a:t>MATHGUARD</a:t>
            </a:r>
          </a:p>
        </p:txBody>
      </p:sp>
      <p:sp>
        <p:nvSpPr>
          <p:cNvPr id="4" name="06">
            <a:extLst xmlns:a="http://schemas.openxmlformats.org/drawingml/2006/main">
              <a:ext uri="{FF2B5EF4-FFF2-40B4-BE49-F238E27FC236}">
                <a16:creationId xmlns:a16="http://schemas.microsoft.com/office/drawing/2014/main" id="{942E8C3C-E4DA-4B89-BF68-7A4169B8936F}"/>
              </a:ext>
            </a:extLst>
          </p:cNvPr>
          <p:cNvSpPr>
            <a:spLocks xmlns:a="http://schemas.openxmlformats.org/drawingml/2006/main" noGrp="1"/>
          </p:cNvSpPr>
          <p:nvPr/>
        </p:nvSpPr>
        <p:spPr>
          <a:xfrm xmlns:a="http://schemas.openxmlformats.org/drawingml/2006/main">
            <a:off x="10858500" y="6381750"/>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536172"/>
                </a:solidFill>
                <a:latin typeface="Nimbus Mono PS"/>
                <a:ea typeface="Nimbus Mono PS"/>
                <a:cs typeface="Nimbus Mono PS"/>
              </a:defRPr>
            </a:pPr>
            <a:r>
              <a:rPr sz="1350" b="0">
                <a:solidFill>
                  <a:srgbClr val="536172"/>
                </a:solidFill>
                <a:latin typeface="Nimbus Mono PS"/>
                <a:ea typeface="Nimbus Mono PS"/>
                <a:cs typeface="Nimbus Mono PS"/>
              </a:rPr>
              <a:t>06</a:t>
            </a:r>
          </a:p>
        </p:txBody>
      </p:sp>
      <p:sp>
        <p:nvSpPr>
          <p:cNvPr id="5" name="Reserve the upper bound">
            <a:extLst xmlns:a="http://schemas.openxmlformats.org/drawingml/2006/main">
              <a:ext uri="{FF2B5EF4-FFF2-40B4-BE49-F238E27FC236}">
                <a16:creationId xmlns:a16="http://schemas.microsoft.com/office/drawing/2014/main" id="{43205CBD-A439-4F0A-A71D-D257BF9BF2F8}"/>
              </a:ext>
            </a:extLst>
          </p:cNvPr>
          <p:cNvSpPr>
            <a:spLocks xmlns:a="http://schemas.openxmlformats.org/drawingml/2006/main" noGrp="1"/>
          </p:cNvSpPr>
          <p:nvPr/>
        </p:nvSpPr>
        <p:spPr>
          <a:xfrm xmlns:a="http://schemas.openxmlformats.org/drawingml/2006/main">
            <a:off x="685800" y="2181225"/>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900" b="0">
                <a:solidFill>
                  <a:srgbClr val="101D32"/>
                </a:solidFill>
                <a:latin typeface="Nimbus Roman"/>
                <a:ea typeface="Nimbus Roman"/>
                <a:cs typeface="Nimbus Roman"/>
              </a:defRPr>
            </a:pPr>
            <a:r>
              <a:rPr sz="3900" b="0">
                <a:solidFill>
                  <a:srgbClr val="101D32"/>
                </a:solidFill>
                <a:latin typeface="Nimbus Roman"/>
                <a:ea typeface="Nimbus Roman"/>
                <a:cs typeface="Nimbus Roman"/>
              </a:rPr>
              <a:t>Reserve the upper bound</a:t>
            </a:r>
          </a:p>
        </p:txBody>
      </p:sp>
      <p:sp>
        <p:nvSpPr>
          <p:cNvPr id="6" name="Tokens     Time     Calls">
            <a:extLst xmlns:a="http://schemas.openxmlformats.org/drawingml/2006/main">
              <a:ext uri="{FF2B5EF4-FFF2-40B4-BE49-F238E27FC236}">
                <a16:creationId xmlns:a16="http://schemas.microsoft.com/office/drawing/2014/main" id="{0E56EDF6-5062-471A-A6CF-0137B1109E00}"/>
              </a:ext>
            </a:extLst>
          </p:cNvPr>
          <p:cNvSpPr>
            <a:spLocks xmlns:a="http://schemas.openxmlformats.org/drawingml/2006/main" noGrp="1"/>
          </p:cNvSpPr>
          <p:nvPr/>
        </p:nvSpPr>
        <p:spPr>
          <a:xfrm xmlns:a="http://schemas.openxmlformats.org/drawingml/2006/main">
            <a:off x="685800" y="320040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000" b="0">
                <a:solidFill>
                  <a:srgbClr val="806638"/>
                </a:solidFill>
                <a:latin typeface="Nimbus Sans"/>
                <a:ea typeface="Nimbus Sans"/>
                <a:cs typeface="Nimbus Sans"/>
              </a:defRPr>
            </a:pPr>
            <a:r>
              <a:rPr sz="3000" b="0">
                <a:solidFill>
                  <a:srgbClr val="806638"/>
                </a:solidFill>
                <a:latin typeface="Nimbus Sans"/>
                <a:ea typeface="Nimbus Sans"/>
                <a:cs typeface="Nimbus Sans"/>
              </a:rPr>
              <a:t>Tokens     Time     Calls</a:t>
            </a:r>
          </a:p>
        </p:txBody>
      </p:sp>
      <p:sp>
        <p:nvSpPr>
          <p:cNvPr id="7" name="Editorial rule">
            <a:extLst xmlns:a="http://schemas.openxmlformats.org/drawingml/2006/main">
              <a:ext uri="{FF2B5EF4-FFF2-40B4-BE49-F238E27FC236}">
                <a16:creationId xmlns:a16="http://schemas.microsoft.com/office/drawing/2014/main" id="{9B743C4A-39E5-4B40-B074-1DAAF62F392D}"/>
              </a:ext>
            </a:extLst>
          </p:cNvPr>
          <p:cNvSpPr>
            <a:spLocks xmlns:a="http://schemas.openxmlformats.org/drawingml/2006/main" noGrp="1"/>
          </p:cNvSpPr>
          <p:nvPr/>
        </p:nvSpPr>
        <p:spPr>
          <a:xfrm xmlns:a="http://schemas.openxmlformats.org/drawingml/2006/main">
            <a:off x="685800" y="4114800"/>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8" name="Exhausted budget stops the next call.">
            <a:extLst xmlns:a="http://schemas.openxmlformats.org/drawingml/2006/main">
              <a:ext uri="{FF2B5EF4-FFF2-40B4-BE49-F238E27FC236}">
                <a16:creationId xmlns:a16="http://schemas.microsoft.com/office/drawing/2014/main" id="{2304E56E-46B6-4F8A-95DC-843CEC3C9C08}"/>
              </a:ext>
            </a:extLst>
          </p:cNvPr>
          <p:cNvSpPr>
            <a:spLocks xmlns:a="http://schemas.openxmlformats.org/drawingml/2006/main" noGrp="1"/>
          </p:cNvSpPr>
          <p:nvPr/>
        </p:nvSpPr>
        <p:spPr>
          <a:xfrm xmlns:a="http://schemas.openxmlformats.org/drawingml/2006/main">
            <a:off x="685800" y="4552950"/>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850" b="1">
                <a:solidFill>
                  <a:srgbClr val="101D32"/>
                </a:solidFill>
                <a:latin typeface="Nimbus Sans"/>
                <a:ea typeface="Nimbus Sans"/>
                <a:cs typeface="Nimbus Sans"/>
              </a:defRPr>
            </a:pPr>
            <a:r>
              <a:rPr sz="2850" b="1">
                <a:solidFill>
                  <a:srgbClr val="101D32"/>
                </a:solidFill>
                <a:latin typeface="Nimbus Sans"/>
                <a:ea typeface="Nimbus Sans"/>
                <a:cs typeface="Nimbus Sans"/>
              </a:rPr>
              <a:t>Exhausted budget stops the next call.</a:t>
            </a:r>
          </a:p>
        </p:txBody>
      </p:sp>
      <p:sp>
        <p:nvSpPr>
          <p:cNvPr id="9" name="Timeout keeps the charge and triggers quarantine.">
            <a:extLst xmlns:a="http://schemas.openxmlformats.org/drawingml/2006/main">
              <a:ext uri="{FF2B5EF4-FFF2-40B4-BE49-F238E27FC236}">
                <a16:creationId xmlns:a16="http://schemas.microsoft.com/office/drawing/2014/main" id="{23B0C8C4-00BD-4D34-B015-BC07199D6034}"/>
              </a:ext>
            </a:extLst>
          </p:cNvPr>
          <p:cNvSpPr>
            <a:spLocks xmlns:a="http://schemas.openxmlformats.org/drawingml/2006/main" noGrp="1"/>
          </p:cNvSpPr>
          <p:nvPr/>
        </p:nvSpPr>
        <p:spPr>
          <a:xfrm xmlns:a="http://schemas.openxmlformats.org/drawingml/2006/main">
            <a:off x="685800" y="5343525"/>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536172"/>
                </a:solidFill>
                <a:latin typeface="Nimbus Sans"/>
                <a:ea typeface="Nimbus Sans"/>
                <a:cs typeface="Nimbus Sans"/>
              </a:defRPr>
            </a:pPr>
            <a:r>
              <a:rPr sz="2325" b="0">
                <a:solidFill>
                  <a:srgbClr val="536172"/>
                </a:solidFill>
                <a:latin typeface="Nimbus Sans"/>
                <a:ea typeface="Nimbus Sans"/>
                <a:cs typeface="Nimbus Sans"/>
              </a:rPr>
              <a:t>Timeout keeps the charge and triggers quarantine.</a:t>
            </a:r>
          </a:p>
        </p:txBody>
      </p:sp>
    </p:spTree>
    <p:extLst>
      <p:ext uri="{BB962C8B-B14F-4D97-AF65-F5344CB8AC3E}">
        <p14:creationId xmlns:p14="http://schemas.microsoft.com/office/powerpoint/2010/main" val="387109927"/>
      </p:ext>
    </p:extLst>
  </p:cSld>
</p:sld>
</file>

<file path=ppt/slides/slide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cxnSp>
        <p:nvCxnSpPr>
          <p:cNvPr id="12" name=""/>
          <p:cNvCxnSpPr>
            <a:stCxn xmlns:a="http://schemas.openxmlformats.org/drawingml/2006/main" id="6" idx="3"/>
            <a:endCxn xmlns:a="http://schemas.openxmlformats.org/drawingml/2006/main" id="7" idx="1"/>
          </p:cNvCxnSpPr>
          <p:nvPr/>
        </p:nvCxnSpPr>
        <p:spPr>
          <a:xfrm xmlns:a="http://schemas.openxmlformats.org/drawingml/2006/main">
            <a:off x="7410450" y="3238500"/>
            <a:ext cx="1466850" cy="0"/>
          </a:xfrm>
          <a:prstGeom xmlns:a="http://schemas.openxmlformats.org/drawingml/2006/main" prst="straightConnector1">
            <a:avLst/>
          </a:prstGeom>
          <a:ln xmlns:a="http://schemas.openxmlformats.org/drawingml/2006/main" w="19050">
            <a:solidFill>
              <a:srgbClr val="806638"/>
            </a:solidFill>
            <a:tailEnd type="triangle" w="med" len="med"/>
          </a:ln>
        </p:spPr>
      </p:cxnSp>
      <p:cxnSp>
        <p:nvCxnSpPr>
          <p:cNvPr id="13" name=""/>
          <p:cNvCxnSpPr>
            <a:stCxn xmlns:a="http://schemas.openxmlformats.org/drawingml/2006/main" id="5" idx="3"/>
            <a:endCxn xmlns:a="http://schemas.openxmlformats.org/drawingml/2006/main" id="6" idx="1"/>
          </p:cNvCxnSpPr>
          <p:nvPr/>
        </p:nvCxnSpPr>
        <p:spPr>
          <a:xfrm xmlns:a="http://schemas.openxmlformats.org/drawingml/2006/main">
            <a:off x="3314700" y="3238500"/>
            <a:ext cx="1466850" cy="0"/>
          </a:xfrm>
          <a:prstGeom xmlns:a="http://schemas.openxmlformats.org/drawingml/2006/main" prst="straightConnector1">
            <a:avLst/>
          </a:prstGeom>
          <a:ln xmlns:a="http://schemas.openxmlformats.org/drawingml/2006/main" w="19050">
            <a:solidFill>
              <a:srgbClr val="806638"/>
            </a:solidFill>
            <a:tailEnd type="triangle" w="med" len="med"/>
          </a:ln>
        </p:spPr>
      </p:cxnSp>
      <p:sp>
        <p:nvSpPr>
          <p:cNvPr id="14" name="Approval and safe retry">
            <a:extLst xmlns:a="http://schemas.openxmlformats.org/drawingml/2006/main">
              <a:ext uri="{FF2B5EF4-FFF2-40B4-BE49-F238E27FC236}">
                <a16:creationId xmlns:a16="http://schemas.microsoft.com/office/drawing/2014/main" id="{C6B0D0A3-4DD8-4E89-82E8-4F9E6A3D9DC9}"/>
              </a:ext>
            </a:extLst>
          </p:cNvPr>
          <p:cNvSpPr>
            <a:spLocks xmlns:a="http://schemas.openxmlformats.org/drawingml/2006/main" noGrp="1"/>
          </p:cNvSpPr>
          <p:nvPr/>
        </p:nvSpPr>
        <p:spPr>
          <a:xfrm xmlns:a="http://schemas.openxmlformats.org/drawingml/2006/main">
            <a:off x="685800" y="800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500" b="0">
                <a:solidFill>
                  <a:srgbClr val="101D32"/>
                </a:solidFill>
                <a:latin typeface="Nimbus Roman"/>
                <a:ea typeface="Nimbus Roman"/>
                <a:cs typeface="Nimbus Roman"/>
              </a:defRPr>
            </a:pPr>
            <a:r>
              <a:rPr sz="4500" b="0">
                <a:solidFill>
                  <a:srgbClr val="101D32"/>
                </a:solidFill>
                <a:latin typeface="Nimbus Roman"/>
                <a:ea typeface="Nimbus Roman"/>
                <a:cs typeface="Nimbus Roman"/>
              </a:rPr>
              <a:t>Approval and safe retry</a:t>
            </a:r>
          </a:p>
        </p:txBody>
      </p:sp>
      <p:sp>
        <p:nvSpPr>
          <p:cNvPr id="2" name="Editorial rule">
            <a:extLst xmlns:a="http://schemas.openxmlformats.org/drawingml/2006/main">
              <a:ext uri="{FF2B5EF4-FFF2-40B4-BE49-F238E27FC236}">
                <a16:creationId xmlns:a16="http://schemas.microsoft.com/office/drawing/2014/main" id="{09643FEC-E967-45A1-A4D7-69E6B934C588}"/>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D3D7DB"/>
            </a:solidFill>
          </a:ln>
        </p:spPr>
      </p:sp>
      <p:sp>
        <p:nvSpPr>
          <p:cNvPr id="3" name="MATHGUARD">
            <a:extLst xmlns:a="http://schemas.openxmlformats.org/drawingml/2006/main">
              <a:ext uri="{FF2B5EF4-FFF2-40B4-BE49-F238E27FC236}">
                <a16:creationId xmlns:a16="http://schemas.microsoft.com/office/drawing/2014/main" id="{7ACF0617-6656-4B24-A8AB-B63371F6444A}"/>
              </a:ext>
            </a:extLst>
          </p:cNvPr>
          <p:cNvSpPr>
            <a:spLocks xmlns:a="http://schemas.openxmlformats.org/drawingml/2006/main" noGrp="1"/>
          </p:cNvSpPr>
          <p:nvPr/>
        </p:nvSpPr>
        <p:spPr>
          <a:xfrm xmlns:a="http://schemas.openxmlformats.org/drawingml/2006/main">
            <a:off x="6858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00" b="1">
                <a:solidFill>
                  <a:srgbClr val="536172"/>
                </a:solidFill>
                <a:latin typeface="Nimbus Sans"/>
                <a:ea typeface="Nimbus Sans"/>
                <a:cs typeface="Nimbus Sans"/>
              </a:defRPr>
            </a:pPr>
            <a:r>
              <a:rPr sz="1200" b="1">
                <a:solidFill>
                  <a:srgbClr val="536172"/>
                </a:solidFill>
                <a:latin typeface="Nimbus Sans"/>
                <a:ea typeface="Nimbus Sans"/>
                <a:cs typeface="Nimbus Sans"/>
              </a:rPr>
              <a:t>MATHGUARD</a:t>
            </a:r>
          </a:p>
        </p:txBody>
      </p:sp>
      <p:sp>
        <p:nvSpPr>
          <p:cNvPr id="4" name="07">
            <a:extLst xmlns:a="http://schemas.openxmlformats.org/drawingml/2006/main">
              <a:ext uri="{FF2B5EF4-FFF2-40B4-BE49-F238E27FC236}">
                <a16:creationId xmlns:a16="http://schemas.microsoft.com/office/drawing/2014/main" id="{55E5A172-1578-4552-B73B-D7FC2E664704}"/>
              </a:ext>
            </a:extLst>
          </p:cNvPr>
          <p:cNvSpPr>
            <a:spLocks xmlns:a="http://schemas.openxmlformats.org/drawingml/2006/main" noGrp="1"/>
          </p:cNvSpPr>
          <p:nvPr/>
        </p:nvSpPr>
        <p:spPr>
          <a:xfrm xmlns:a="http://schemas.openxmlformats.org/drawingml/2006/main">
            <a:off x="10858500" y="6381750"/>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536172"/>
                </a:solidFill>
                <a:latin typeface="Nimbus Mono PS"/>
                <a:ea typeface="Nimbus Mono PS"/>
                <a:cs typeface="Nimbus Mono PS"/>
              </a:defRPr>
            </a:pPr>
            <a:r>
              <a:rPr sz="1350" b="0">
                <a:solidFill>
                  <a:srgbClr val="536172"/>
                </a:solidFill>
                <a:latin typeface="Nimbus Mono PS"/>
                <a:ea typeface="Nimbus Mono PS"/>
                <a:cs typeface="Nimbus Mono PS"/>
              </a:rPr>
              <a:t>07</a:t>
            </a:r>
          </a:p>
        </p:txBody>
      </p:sp>
      <p:sp>
        <p:nvSpPr>
          <p:cNvPr id="5" name="Exact&#10;request">
            <a:extLst xmlns:a="http://schemas.openxmlformats.org/drawingml/2006/main">
              <a:ext uri="{FF2B5EF4-FFF2-40B4-BE49-F238E27FC236}">
                <a16:creationId xmlns:a16="http://schemas.microsoft.com/office/drawing/2014/main" id="{CD4E0A6C-BC89-460A-A0F3-18A84864E5C4}"/>
              </a:ext>
            </a:extLst>
          </p:cNvPr>
          <p:cNvSpPr>
            <a:spLocks xmlns:a="http://schemas.openxmlformats.org/drawingml/2006/main" noGrp="1"/>
          </p:cNvSpPr>
          <p:nvPr/>
        </p:nvSpPr>
        <p:spPr>
          <a:xfrm xmlns:a="http://schemas.openxmlformats.org/drawingml/2006/main">
            <a:off x="685800" y="2762250"/>
            <a:ext cx="2628900" cy="952500"/>
          </a:xfrm>
          <a:prstGeom xmlns:a="http://schemas.openxmlformats.org/drawingml/2006/main" prst="rect">
            <a:avLst/>
          </a:prstGeom>
          <a:solidFill xmlns:a="http://schemas.openxmlformats.org/drawingml/2006/main">
            <a:srgbClr val="F6F4ED"/>
          </a:solidFill>
          <a:ln xmlns:a="http://schemas.openxmlformats.org/drawingml/2006/main" w="10478">
            <a:solidFill>
              <a:srgbClr val="9BA5B2"/>
            </a:solidFill>
          </a:ln>
        </p:spPr>
        <p:txBody>
          <a:bodyPr xmlns:a="http://schemas.openxmlformats.org/drawingml/2006/main" lIns="95250" tIns="47625" rIns="95250" bIns="47625" anchor="ctr">
            <a:noAutofit/>
          </a:bodyPr>
          <a:lstStyle xmlns:a="http://schemas.openxmlformats.org/drawingml/2006/main"/>
          <a:p xmlns:a="http://schemas.openxmlformats.org/drawingml/2006/main">
            <a:pPr algn="ctr">
              <a:defRPr sz="2325" b="0">
                <a:solidFill>
                  <a:srgbClr val="101D32"/>
                </a:solidFill>
                <a:latin typeface="Nimbus Sans"/>
                <a:ea typeface="Nimbus Sans"/>
                <a:cs typeface="Nimbus Sans"/>
              </a:defRPr>
            </a:pPr>
            <a:r>
              <a:rPr sz="2325" b="0">
                <a:solidFill>
                  <a:srgbClr val="101D32"/>
                </a:solidFill>
                <a:latin typeface="Nimbus Sans"/>
                <a:ea typeface="Nimbus Sans"/>
                <a:cs typeface="Nimbus Sans"/>
              </a:rPr>
              <a:t>Exact</a:t>
            </a:r>
          </a:p>
          <a:p xmlns:a="http://schemas.openxmlformats.org/drawingml/2006/main">
            <a:pPr algn="ctr">
              <a:defRPr sz="2325" b="0">
                <a:solidFill>
                  <a:srgbClr val="101D32"/>
                </a:solidFill>
                <a:latin typeface="Nimbus Sans"/>
                <a:ea typeface="Nimbus Sans"/>
                <a:cs typeface="Nimbus Sans"/>
              </a:defRPr>
            </a:pPr>
            <a:r>
              <a:rPr sz="2325" b="0">
                <a:solidFill>
                  <a:srgbClr val="101D32"/>
                </a:solidFill>
                <a:latin typeface="Nimbus Sans"/>
                <a:ea typeface="Nimbus Sans"/>
                <a:cs typeface="Nimbus Sans"/>
              </a:rPr>
              <a:t>request</a:t>
            </a:r>
          </a:p>
        </p:txBody>
      </p:sp>
      <p:sp>
        <p:nvSpPr>
          <p:cNvPr id="6" name="Owner&#10;approval">
            <a:extLst xmlns:a="http://schemas.openxmlformats.org/drawingml/2006/main">
              <a:ext uri="{FF2B5EF4-FFF2-40B4-BE49-F238E27FC236}">
                <a16:creationId xmlns:a16="http://schemas.microsoft.com/office/drawing/2014/main" id="{D4E5076A-8F75-4E7F-BF21-EE7D91ECB0A8}"/>
              </a:ext>
            </a:extLst>
          </p:cNvPr>
          <p:cNvSpPr>
            <a:spLocks xmlns:a="http://schemas.openxmlformats.org/drawingml/2006/main" noGrp="1"/>
          </p:cNvSpPr>
          <p:nvPr/>
        </p:nvSpPr>
        <p:spPr>
          <a:xfrm xmlns:a="http://schemas.openxmlformats.org/drawingml/2006/main">
            <a:off x="4781550" y="2762250"/>
            <a:ext cx="2628900" cy="952500"/>
          </a:xfrm>
          <a:prstGeom xmlns:a="http://schemas.openxmlformats.org/drawingml/2006/main" prst="rect">
            <a:avLst/>
          </a:prstGeom>
          <a:solidFill xmlns:a="http://schemas.openxmlformats.org/drawingml/2006/main">
            <a:srgbClr val="F6F4ED"/>
          </a:solidFill>
          <a:ln xmlns:a="http://schemas.openxmlformats.org/drawingml/2006/main" w="10478">
            <a:solidFill>
              <a:srgbClr val="9BA5B2"/>
            </a:solidFill>
          </a:ln>
        </p:spPr>
        <p:txBody>
          <a:bodyPr xmlns:a="http://schemas.openxmlformats.org/drawingml/2006/main" lIns="95250" tIns="47625" rIns="95250" bIns="47625" anchor="ctr">
            <a:noAutofit/>
          </a:bodyPr>
          <a:lstStyle xmlns:a="http://schemas.openxmlformats.org/drawingml/2006/main"/>
          <a:p xmlns:a="http://schemas.openxmlformats.org/drawingml/2006/main">
            <a:pPr algn="ctr">
              <a:defRPr sz="2325" b="0">
                <a:solidFill>
                  <a:srgbClr val="101D32"/>
                </a:solidFill>
                <a:latin typeface="Nimbus Sans"/>
                <a:ea typeface="Nimbus Sans"/>
                <a:cs typeface="Nimbus Sans"/>
              </a:defRPr>
            </a:pPr>
            <a:r>
              <a:rPr sz="2325" b="0">
                <a:solidFill>
                  <a:srgbClr val="101D32"/>
                </a:solidFill>
                <a:latin typeface="Nimbus Sans"/>
                <a:ea typeface="Nimbus Sans"/>
                <a:cs typeface="Nimbus Sans"/>
              </a:rPr>
              <a:t>Owner</a:t>
            </a:r>
          </a:p>
          <a:p xmlns:a="http://schemas.openxmlformats.org/drawingml/2006/main">
            <a:pPr algn="ctr">
              <a:defRPr sz="2325" b="0">
                <a:solidFill>
                  <a:srgbClr val="101D32"/>
                </a:solidFill>
                <a:latin typeface="Nimbus Sans"/>
                <a:ea typeface="Nimbus Sans"/>
                <a:cs typeface="Nimbus Sans"/>
              </a:defRPr>
            </a:pPr>
            <a:r>
              <a:rPr sz="2325" b="0">
                <a:solidFill>
                  <a:srgbClr val="101D32"/>
                </a:solidFill>
                <a:latin typeface="Nimbus Sans"/>
                <a:ea typeface="Nimbus Sans"/>
                <a:cs typeface="Nimbus Sans"/>
              </a:rPr>
              <a:t>approval</a:t>
            </a:r>
          </a:p>
        </p:txBody>
      </p:sp>
      <p:sp>
        <p:nvSpPr>
          <p:cNvPr id="7" name="Ledger&#10;commit">
            <a:extLst xmlns:a="http://schemas.openxmlformats.org/drawingml/2006/main">
              <a:ext uri="{FF2B5EF4-FFF2-40B4-BE49-F238E27FC236}">
                <a16:creationId xmlns:a16="http://schemas.microsoft.com/office/drawing/2014/main" id="{87E6E129-6525-427A-A0A1-09934269676F}"/>
              </a:ext>
            </a:extLst>
          </p:cNvPr>
          <p:cNvSpPr>
            <a:spLocks xmlns:a="http://schemas.openxmlformats.org/drawingml/2006/main" noGrp="1"/>
          </p:cNvSpPr>
          <p:nvPr/>
        </p:nvSpPr>
        <p:spPr>
          <a:xfrm xmlns:a="http://schemas.openxmlformats.org/drawingml/2006/main">
            <a:off x="8877300" y="2762250"/>
            <a:ext cx="2628900" cy="952500"/>
          </a:xfrm>
          <a:prstGeom xmlns:a="http://schemas.openxmlformats.org/drawingml/2006/main" prst="rect">
            <a:avLst/>
          </a:prstGeom>
          <a:solidFill xmlns:a="http://schemas.openxmlformats.org/drawingml/2006/main">
            <a:srgbClr val="101D32"/>
          </a:solidFill>
          <a:ln xmlns:a="http://schemas.openxmlformats.org/drawingml/2006/main" w="10478">
            <a:solidFill>
              <a:srgbClr val="101D32"/>
            </a:solidFill>
          </a:ln>
        </p:spPr>
        <p:txBody>
          <a:bodyPr xmlns:a="http://schemas.openxmlformats.org/drawingml/2006/main" lIns="95250" tIns="47625" rIns="95250" bIns="47625" anchor="ctr">
            <a:noAutofit/>
          </a:bodyPr>
          <a:lstStyle xmlns:a="http://schemas.openxmlformats.org/drawingml/2006/main"/>
          <a:p xmlns:a="http://schemas.openxmlformats.org/drawingml/2006/main">
            <a:pPr algn="ctr">
              <a:defRPr sz="2325" b="1">
                <a:solidFill>
                  <a:srgbClr val="F6F4ED"/>
                </a:solidFill>
                <a:latin typeface="Nimbus Sans"/>
                <a:ea typeface="Nimbus Sans"/>
                <a:cs typeface="Nimbus Sans"/>
              </a:defRPr>
            </a:pPr>
            <a:r>
              <a:rPr sz="2325" b="1">
                <a:solidFill>
                  <a:srgbClr val="F6F4ED"/>
                </a:solidFill>
                <a:latin typeface="Nimbus Sans"/>
                <a:ea typeface="Nimbus Sans"/>
                <a:cs typeface="Nimbus Sans"/>
              </a:rPr>
              <a:t>Ledger</a:t>
            </a:r>
          </a:p>
          <a:p xmlns:a="http://schemas.openxmlformats.org/drawingml/2006/main">
            <a:pPr algn="ctr">
              <a:defRPr sz="2325" b="1">
                <a:solidFill>
                  <a:srgbClr val="F6F4ED"/>
                </a:solidFill>
                <a:latin typeface="Nimbus Sans"/>
                <a:ea typeface="Nimbus Sans"/>
                <a:cs typeface="Nimbus Sans"/>
              </a:defRPr>
            </a:pPr>
            <a:r>
              <a:rPr sz="2325" b="1">
                <a:solidFill>
                  <a:srgbClr val="F6F4ED"/>
                </a:solidFill>
                <a:latin typeface="Nimbus Sans"/>
                <a:ea typeface="Nimbus Sans"/>
                <a:cs typeface="Nimbus Sans"/>
              </a:rPr>
              <a:t>commit</a:t>
            </a:r>
          </a:p>
        </p:txBody>
      </p:sp>
      <p:sp>
        <p:nvSpPr>
          <p:cNvPr id="10" name="Restart restores acknowledged state.">
            <a:extLst xmlns:a="http://schemas.openxmlformats.org/drawingml/2006/main">
              <a:ext uri="{FF2B5EF4-FFF2-40B4-BE49-F238E27FC236}">
                <a16:creationId xmlns:a16="http://schemas.microsoft.com/office/drawing/2014/main" id="{3D031324-76B0-41AB-8642-79C35B4D4617}"/>
              </a:ext>
            </a:extLst>
          </p:cNvPr>
          <p:cNvSpPr>
            <a:spLocks xmlns:a="http://schemas.openxmlformats.org/drawingml/2006/main" noGrp="1"/>
          </p:cNvSpPr>
          <p:nvPr/>
        </p:nvSpPr>
        <p:spPr>
          <a:xfrm xmlns:a="http://schemas.openxmlformats.org/drawingml/2006/main">
            <a:off x="685800" y="4419600"/>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775" b="1">
                <a:solidFill>
                  <a:srgbClr val="101D32"/>
                </a:solidFill>
                <a:latin typeface="Nimbus Sans"/>
                <a:ea typeface="Nimbus Sans"/>
                <a:cs typeface="Nimbus Sans"/>
              </a:defRPr>
            </a:pPr>
            <a:r>
              <a:rPr sz="2775" b="1">
                <a:solidFill>
                  <a:srgbClr val="101D32"/>
                </a:solidFill>
                <a:latin typeface="Nimbus Sans"/>
                <a:ea typeface="Nimbus Sans"/>
                <a:cs typeface="Nimbus Sans"/>
              </a:rPr>
              <a:t>Restart restores acknowledged state.</a:t>
            </a:r>
          </a:p>
        </p:txBody>
      </p:sp>
      <p:sp>
        <p:nvSpPr>
          <p:cNvPr id="11" name="An exact retry adds no second debit.">
            <a:extLst xmlns:a="http://schemas.openxmlformats.org/drawingml/2006/main">
              <a:ext uri="{FF2B5EF4-FFF2-40B4-BE49-F238E27FC236}">
                <a16:creationId xmlns:a16="http://schemas.microsoft.com/office/drawing/2014/main" id="{650E33B6-E319-4E20-9701-3D750D9B2C5E}"/>
              </a:ext>
            </a:extLst>
          </p:cNvPr>
          <p:cNvSpPr>
            <a:spLocks xmlns:a="http://schemas.openxmlformats.org/drawingml/2006/main" noGrp="1"/>
          </p:cNvSpPr>
          <p:nvPr/>
        </p:nvSpPr>
        <p:spPr>
          <a:xfrm xmlns:a="http://schemas.openxmlformats.org/drawingml/2006/main">
            <a:off x="685800" y="5267325"/>
            <a:ext cx="10820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0">
                <a:solidFill>
                  <a:srgbClr val="536172"/>
                </a:solidFill>
                <a:latin typeface="Nimbus Sans"/>
                <a:ea typeface="Nimbus Sans"/>
                <a:cs typeface="Nimbus Sans"/>
              </a:defRPr>
            </a:pPr>
            <a:r>
              <a:rPr sz="2550" b="0">
                <a:solidFill>
                  <a:srgbClr val="536172"/>
                </a:solidFill>
                <a:latin typeface="Nimbus Sans"/>
                <a:ea typeface="Nimbus Sans"/>
                <a:cs typeface="Nimbus Sans"/>
              </a:rPr>
              <a:t>An exact retry adds no second debit.</a:t>
            </a:r>
          </a:p>
        </p:txBody>
      </p:sp>
    </p:spTree>
    <p:extLst>
      <p:ext uri="{BB962C8B-B14F-4D97-AF65-F5344CB8AC3E}">
        <p14:creationId xmlns:p14="http://schemas.microsoft.com/office/powerpoint/2010/main" val="173429795"/>
      </p:ext>
    </p:extLst>
  </p:cSld>
</p:sld>
</file>

<file path=ppt/slides/slide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1" name="A clear operator view">
            <a:extLst xmlns:a="http://schemas.openxmlformats.org/drawingml/2006/main">
              <a:ext uri="{FF2B5EF4-FFF2-40B4-BE49-F238E27FC236}">
                <a16:creationId xmlns:a16="http://schemas.microsoft.com/office/drawing/2014/main" id="{AC186EBA-91FF-4533-825E-EFE5551947C5}"/>
              </a:ext>
            </a:extLst>
          </p:cNvPr>
          <p:cNvSpPr>
            <a:spLocks xmlns:a="http://schemas.openxmlformats.org/drawingml/2006/main" noGrp="1"/>
          </p:cNvSpPr>
          <p:nvPr/>
        </p:nvSpPr>
        <p:spPr>
          <a:xfrm xmlns:a="http://schemas.openxmlformats.org/drawingml/2006/main">
            <a:off x="685800" y="800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500" b="0">
                <a:solidFill>
                  <a:srgbClr val="101D32"/>
                </a:solidFill>
                <a:latin typeface="Nimbus Roman"/>
                <a:ea typeface="Nimbus Roman"/>
                <a:cs typeface="Nimbus Roman"/>
              </a:defRPr>
            </a:pPr>
            <a:r>
              <a:rPr sz="4500" b="0">
                <a:solidFill>
                  <a:srgbClr val="101D32"/>
                </a:solidFill>
                <a:latin typeface="Nimbus Roman"/>
                <a:ea typeface="Nimbus Roman"/>
                <a:cs typeface="Nimbus Roman"/>
              </a:rPr>
              <a:t>A clear operator view</a:t>
            </a:r>
          </a:p>
        </p:txBody>
      </p:sp>
      <p:sp>
        <p:nvSpPr>
          <p:cNvPr id="2" name="Editorial rule">
            <a:extLst xmlns:a="http://schemas.openxmlformats.org/drawingml/2006/main">
              <a:ext uri="{FF2B5EF4-FFF2-40B4-BE49-F238E27FC236}">
                <a16:creationId xmlns:a16="http://schemas.microsoft.com/office/drawing/2014/main" id="{D114C15F-ED26-468C-8ACB-5683F48D09C9}"/>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D3D7DB"/>
            </a:solidFill>
          </a:ln>
        </p:spPr>
      </p:sp>
      <p:sp>
        <p:nvSpPr>
          <p:cNvPr id="3" name="MATHGUARD">
            <a:extLst xmlns:a="http://schemas.openxmlformats.org/drawingml/2006/main">
              <a:ext uri="{FF2B5EF4-FFF2-40B4-BE49-F238E27FC236}">
                <a16:creationId xmlns:a16="http://schemas.microsoft.com/office/drawing/2014/main" id="{683C9438-F40A-4106-A6F9-509DF56D8FAF}"/>
              </a:ext>
            </a:extLst>
          </p:cNvPr>
          <p:cNvSpPr>
            <a:spLocks xmlns:a="http://schemas.openxmlformats.org/drawingml/2006/main" noGrp="1"/>
          </p:cNvSpPr>
          <p:nvPr/>
        </p:nvSpPr>
        <p:spPr>
          <a:xfrm xmlns:a="http://schemas.openxmlformats.org/drawingml/2006/main">
            <a:off x="6858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00" b="1">
                <a:solidFill>
                  <a:srgbClr val="536172"/>
                </a:solidFill>
                <a:latin typeface="Nimbus Sans"/>
                <a:ea typeface="Nimbus Sans"/>
                <a:cs typeface="Nimbus Sans"/>
              </a:defRPr>
            </a:pPr>
            <a:r>
              <a:rPr sz="1200" b="1">
                <a:solidFill>
                  <a:srgbClr val="536172"/>
                </a:solidFill>
                <a:latin typeface="Nimbus Sans"/>
                <a:ea typeface="Nimbus Sans"/>
                <a:cs typeface="Nimbus Sans"/>
              </a:rPr>
              <a:t>MATHGUARD</a:t>
            </a:r>
          </a:p>
        </p:txBody>
      </p:sp>
      <p:sp>
        <p:nvSpPr>
          <p:cNvPr id="4" name="08">
            <a:extLst xmlns:a="http://schemas.openxmlformats.org/drawingml/2006/main">
              <a:ext uri="{FF2B5EF4-FFF2-40B4-BE49-F238E27FC236}">
                <a16:creationId xmlns:a16="http://schemas.microsoft.com/office/drawing/2014/main" id="{A6DB75DD-8B68-46E7-A0C6-7B2D9C0195D1}"/>
              </a:ext>
            </a:extLst>
          </p:cNvPr>
          <p:cNvSpPr>
            <a:spLocks xmlns:a="http://schemas.openxmlformats.org/drawingml/2006/main" noGrp="1"/>
          </p:cNvSpPr>
          <p:nvPr/>
        </p:nvSpPr>
        <p:spPr>
          <a:xfrm xmlns:a="http://schemas.openxmlformats.org/drawingml/2006/main">
            <a:off x="10858500" y="6381750"/>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536172"/>
                </a:solidFill>
                <a:latin typeface="Nimbus Mono PS"/>
                <a:ea typeface="Nimbus Mono PS"/>
                <a:cs typeface="Nimbus Mono PS"/>
              </a:defRPr>
            </a:pPr>
            <a:r>
              <a:rPr sz="1350" b="0">
                <a:solidFill>
                  <a:srgbClr val="536172"/>
                </a:solidFill>
                <a:latin typeface="Nimbus Mono PS"/>
                <a:ea typeface="Nimbus Mono PS"/>
                <a:cs typeface="Nimbus Mono PS"/>
              </a:rPr>
              <a:t>08</a:t>
            </a:r>
          </a:p>
        </p:txBody>
      </p:sp>
      <p:graphicFrame>
        <p:nvGraphicFramePr>
          <p:cNvPr id="15" name=""/>
          <p:cNvGraphicFramePr/>
          <p:nvPr/>
        </p:nvGraphicFramePr>
        <p:xfrm>
          <a:off xmlns:a="http://schemas.openxmlformats.org/drawingml/2006/main" x="685800" y="2152650"/>
          <a:ext xmlns:a="http://schemas.openxmlformats.org/drawingml/2006/main" cx="10820400" cy="3162300"/>
        </p:xfrm>
        <a:graphic xmlns:a="http://schemas.openxmlformats.org/drawingml/2006/main">
          <a:graphicData uri="http://schemas.openxmlformats.org/drawingml/2006/table">
            <a:tbl>
              <a:tblPr/>
              <a:tblGrid>
                <a:gridCol w="5048250"/>
                <a:gridCol w="5772150"/>
              </a:tblGrid>
              <a:tr h="790575">
                <a:tc>
                  <a:txBody>
                    <a:bodyPr lIns="0" tIns="0" rIns="171450" bIns="0">
                      <a:noAutofit/>
                    </a:bodyPr>
                    <a:lstStyle/>
                    <a:p>
                      <a:r>
                        <a:rPr sz="1725" b="1">
                          <a:solidFill>
                            <a:srgbClr val="806638"/>
                          </a:solidFill>
                          <a:latin typeface="Nimbus Sans"/>
                          <a:ea typeface="Nimbus Sans"/>
                          <a:cs typeface="Nimbus Sans"/>
                        </a:rPr>
                        <a:t>OPERATOR NEED</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1725" b="1">
                          <a:solidFill>
                            <a:srgbClr val="806638"/>
                          </a:solidFill>
                          <a:latin typeface="Nimbus Sans"/>
                          <a:ea typeface="Nimbus Sans"/>
                          <a:cs typeface="Nimbus Sans"/>
                        </a:rPr>
                        <a:t>VISIBLE EVIDENCE</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What stopped?</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Decision + reason</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What remains?</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Resource headroom</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r h="790575">
                <a:tc>
                  <a:txBody>
                    <a:bodyPr lIns="0" tIns="0" rIns="171450" bIns="0">
                      <a:noAutofit/>
                    </a:bodyPr>
                    <a:lstStyle/>
                    <a:p>
                      <a:r>
                        <a:rPr sz="2550" b="0">
                          <a:solidFill>
                            <a:srgbClr val="101D32"/>
                          </a:solidFill>
                          <a:latin typeface="Nimbus Sans"/>
                          <a:ea typeface="Nimbus Sans"/>
                          <a:cs typeface="Nimbus Sans"/>
                        </a:rPr>
                        <a:t>What changed?</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c>
                  <a:txBody>
                    <a:bodyPr lIns="0" tIns="0" rIns="171450" bIns="0">
                      <a:noAutofit/>
                    </a:bodyPr>
                    <a:lstStyle/>
                    <a:p>
                      <a:r>
                        <a:rPr sz="2550" b="1">
                          <a:solidFill>
                            <a:srgbClr val="101D32"/>
                          </a:solidFill>
                          <a:latin typeface="Nimbus Sans"/>
                          <a:ea typeface="Nimbus Sans"/>
                          <a:cs typeface="Nimbus Sans"/>
                        </a:rPr>
                        <a:t>Policy / feed / posture</a:t>
                      </a:r>
                    </a:p>
                  </a:txBody>
                  <a:tcPr marL="0" marR="171450" marT="57150" marB="57150" anchor="ctr">
                    <a:lnL w="5715">
                      <a:solidFill>
                        <a:srgbClr val="F6F4ED"/>
                      </a:solidFill>
                      <a:prstDash val="solid"/>
                    </a:lnL>
                    <a:lnR w="5715">
                      <a:solidFill>
                        <a:srgbClr val="F6F4ED"/>
                      </a:solidFill>
                      <a:prstDash val="solid"/>
                    </a:lnR>
                    <a:lnT w="5715">
                      <a:solidFill>
                        <a:srgbClr val="F6F4ED"/>
                      </a:solidFill>
                      <a:prstDash val="solid"/>
                    </a:lnT>
                    <a:lnB w="5715">
                      <a:solidFill>
                        <a:srgbClr val="F6F4ED"/>
                      </a:solidFill>
                      <a:prstDash val="solid"/>
                    </a:lnB>
                    <a:solidFill>
                      <a:srgbClr val="F6F4ED"/>
                    </a:solidFill>
                  </a:tcPr>
                </a:tc>
              </a:tr>
            </a:tbl>
          </a:graphicData>
        </a:graphic>
      </p:graphicFrame>
      <p:sp>
        <p:nvSpPr>
          <p:cNvPr id="6" name="Editorial rule">
            <a:extLst xmlns:a="http://schemas.openxmlformats.org/drawingml/2006/main">
              <a:ext uri="{FF2B5EF4-FFF2-40B4-BE49-F238E27FC236}">
                <a16:creationId xmlns:a16="http://schemas.microsoft.com/office/drawing/2014/main" id="{6AB45615-63C6-49F6-B18F-5784438FD729}"/>
              </a:ext>
            </a:extLst>
          </p:cNvPr>
          <p:cNvSpPr>
            <a:spLocks xmlns:a="http://schemas.openxmlformats.org/drawingml/2006/main" noGrp="1"/>
          </p:cNvSpPr>
          <p:nvPr/>
        </p:nvSpPr>
        <p:spPr>
          <a:xfrm xmlns:a="http://schemas.openxmlformats.org/drawingml/2006/main">
            <a:off x="685800" y="2943225"/>
            <a:ext cx="10820400" cy="0"/>
          </a:xfrm>
          <a:prstGeom xmlns:a="http://schemas.openxmlformats.org/drawingml/2006/main" prst="line">
            <a:avLst/>
          </a:prstGeom>
          <a:noFill xmlns:a="http://schemas.openxmlformats.org/drawingml/2006/main"/>
          <a:ln xmlns:a="http://schemas.openxmlformats.org/drawingml/2006/main" w="14288">
            <a:solidFill>
              <a:srgbClr val="C5A567"/>
            </a:solidFill>
          </a:ln>
        </p:spPr>
      </p:sp>
      <p:sp>
        <p:nvSpPr>
          <p:cNvPr id="7" name="Editorial rule">
            <a:extLst xmlns:a="http://schemas.openxmlformats.org/drawingml/2006/main">
              <a:ext uri="{FF2B5EF4-FFF2-40B4-BE49-F238E27FC236}">
                <a16:creationId xmlns:a16="http://schemas.microsoft.com/office/drawing/2014/main" id="{139C7CC0-BF51-41B0-AB2D-5E183BD605EB}"/>
              </a:ext>
            </a:extLst>
          </p:cNvPr>
          <p:cNvSpPr>
            <a:spLocks xmlns:a="http://schemas.openxmlformats.org/drawingml/2006/main" noGrp="1"/>
          </p:cNvSpPr>
          <p:nvPr/>
        </p:nvSpPr>
        <p:spPr>
          <a:xfrm xmlns:a="http://schemas.openxmlformats.org/drawingml/2006/main">
            <a:off x="685800" y="3733800"/>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8" name="Editorial rule">
            <a:extLst xmlns:a="http://schemas.openxmlformats.org/drawingml/2006/main">
              <a:ext uri="{FF2B5EF4-FFF2-40B4-BE49-F238E27FC236}">
                <a16:creationId xmlns:a16="http://schemas.microsoft.com/office/drawing/2014/main" id="{26BD8B7B-31EE-4643-89A2-A6BC999DDEBB}"/>
              </a:ext>
            </a:extLst>
          </p:cNvPr>
          <p:cNvSpPr>
            <a:spLocks xmlns:a="http://schemas.openxmlformats.org/drawingml/2006/main" noGrp="1"/>
          </p:cNvSpPr>
          <p:nvPr/>
        </p:nvSpPr>
        <p:spPr>
          <a:xfrm xmlns:a="http://schemas.openxmlformats.org/drawingml/2006/main">
            <a:off x="685800" y="4524375"/>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9" name="Editorial rule">
            <a:extLst xmlns:a="http://schemas.openxmlformats.org/drawingml/2006/main">
              <a:ext uri="{FF2B5EF4-FFF2-40B4-BE49-F238E27FC236}">
                <a16:creationId xmlns:a16="http://schemas.microsoft.com/office/drawing/2014/main" id="{63D19E4B-B0B8-4DCE-840F-B959ED1A758D}"/>
              </a:ext>
            </a:extLst>
          </p:cNvPr>
          <p:cNvSpPr>
            <a:spLocks xmlns:a="http://schemas.openxmlformats.org/drawingml/2006/main" noGrp="1"/>
          </p:cNvSpPr>
          <p:nvPr/>
        </p:nvSpPr>
        <p:spPr>
          <a:xfrm xmlns:a="http://schemas.openxmlformats.org/drawingml/2006/main">
            <a:off x="685800" y="5314950"/>
            <a:ext cx="10820400" cy="0"/>
          </a:xfrm>
          <a:prstGeom xmlns:a="http://schemas.openxmlformats.org/drawingml/2006/main" prst="line">
            <a:avLst/>
          </a:prstGeom>
          <a:noFill xmlns:a="http://schemas.openxmlformats.org/drawingml/2006/main"/>
          <a:ln xmlns:a="http://schemas.openxmlformats.org/drawingml/2006/main" w="9525">
            <a:solidFill>
              <a:srgbClr val="D3D7DB"/>
            </a:solidFill>
          </a:ln>
        </p:spPr>
      </p:sp>
      <p:sp>
        <p:nvSpPr>
          <p:cNvPr id="10" name="Sanitized logs and management export.">
            <a:extLst xmlns:a="http://schemas.openxmlformats.org/drawingml/2006/main">
              <a:ext uri="{FF2B5EF4-FFF2-40B4-BE49-F238E27FC236}">
                <a16:creationId xmlns:a16="http://schemas.microsoft.com/office/drawing/2014/main" id="{C4097AB6-0DCE-4CD5-83C4-F8C1160D2F86}"/>
              </a:ext>
            </a:extLst>
          </p:cNvPr>
          <p:cNvSpPr>
            <a:spLocks xmlns:a="http://schemas.openxmlformats.org/drawingml/2006/main" noGrp="1"/>
          </p:cNvSpPr>
          <p:nvPr/>
        </p:nvSpPr>
        <p:spPr>
          <a:xfrm xmlns:a="http://schemas.openxmlformats.org/drawingml/2006/main">
            <a:off x="685800" y="5619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550" b="0">
                <a:solidFill>
                  <a:srgbClr val="536172"/>
                </a:solidFill>
                <a:latin typeface="Nimbus Sans"/>
                <a:ea typeface="Nimbus Sans"/>
                <a:cs typeface="Nimbus Sans"/>
              </a:defRPr>
            </a:pPr>
            <a:r>
              <a:rPr sz="2550" b="0">
                <a:solidFill>
                  <a:srgbClr val="536172"/>
                </a:solidFill>
                <a:latin typeface="Nimbus Sans"/>
                <a:ea typeface="Nimbus Sans"/>
                <a:cs typeface="Nimbus Sans"/>
              </a:rPr>
              <a:t>Sanitized logs and management export.</a:t>
            </a:r>
          </a:p>
        </p:txBody>
      </p:sp>
    </p:spTree>
    <p:extLst>
      <p:ext uri="{BB962C8B-B14F-4D97-AF65-F5344CB8AC3E}">
        <p14:creationId xmlns:p14="http://schemas.microsoft.com/office/powerpoint/2010/main" val="2021352137"/>
      </p:ext>
    </p:extLst>
  </p:cSld>
</p:sld>
</file>

<file path=ppt/slides/slide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2" name="Evidence with a defined scope">
            <a:extLst xmlns:a="http://schemas.openxmlformats.org/drawingml/2006/main">
              <a:ext uri="{FF2B5EF4-FFF2-40B4-BE49-F238E27FC236}">
                <a16:creationId xmlns:a16="http://schemas.microsoft.com/office/drawing/2014/main" id="{EBAE032E-4A39-4C6A-90F7-876FDF3D8EAD}"/>
              </a:ext>
            </a:extLst>
          </p:cNvPr>
          <p:cNvSpPr>
            <a:spLocks xmlns:a="http://schemas.openxmlformats.org/drawingml/2006/main" noGrp="1"/>
          </p:cNvSpPr>
          <p:nvPr/>
        </p:nvSpPr>
        <p:spPr>
          <a:xfrm xmlns:a="http://schemas.openxmlformats.org/drawingml/2006/main">
            <a:off x="685800" y="800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500" b="0">
                <a:solidFill>
                  <a:srgbClr val="101D32"/>
                </a:solidFill>
                <a:latin typeface="Nimbus Roman"/>
                <a:ea typeface="Nimbus Roman"/>
                <a:cs typeface="Nimbus Roman"/>
              </a:defRPr>
            </a:pPr>
            <a:r>
              <a:rPr sz="4500" b="0">
                <a:solidFill>
                  <a:srgbClr val="101D32"/>
                </a:solidFill>
                <a:latin typeface="Nimbus Roman"/>
                <a:ea typeface="Nimbus Roman"/>
                <a:cs typeface="Nimbus Roman"/>
              </a:rPr>
              <a:t>Evidence with a defined scope</a:t>
            </a:r>
          </a:p>
        </p:txBody>
      </p:sp>
      <p:sp>
        <p:nvSpPr>
          <p:cNvPr id="2" name="Editorial rule">
            <a:extLst xmlns:a="http://schemas.openxmlformats.org/drawingml/2006/main">
              <a:ext uri="{FF2B5EF4-FFF2-40B4-BE49-F238E27FC236}">
                <a16:creationId xmlns:a16="http://schemas.microsoft.com/office/drawing/2014/main" id="{E7C717DE-3238-479A-8C38-4FF989FC26D4}"/>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D3D7DB"/>
            </a:solidFill>
          </a:ln>
        </p:spPr>
      </p:sp>
      <p:sp>
        <p:nvSpPr>
          <p:cNvPr id="3" name="MATHGUARD">
            <a:extLst xmlns:a="http://schemas.openxmlformats.org/drawingml/2006/main">
              <a:ext uri="{FF2B5EF4-FFF2-40B4-BE49-F238E27FC236}">
                <a16:creationId xmlns:a16="http://schemas.microsoft.com/office/drawing/2014/main" id="{FB4F18B8-1D09-4DB8-B1B8-3A41E2D02CE6}"/>
              </a:ext>
            </a:extLst>
          </p:cNvPr>
          <p:cNvSpPr>
            <a:spLocks xmlns:a="http://schemas.openxmlformats.org/drawingml/2006/main" noGrp="1"/>
          </p:cNvSpPr>
          <p:nvPr/>
        </p:nvSpPr>
        <p:spPr>
          <a:xfrm xmlns:a="http://schemas.openxmlformats.org/drawingml/2006/main">
            <a:off x="6858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00" b="1">
                <a:solidFill>
                  <a:srgbClr val="536172"/>
                </a:solidFill>
                <a:latin typeface="Nimbus Sans"/>
                <a:ea typeface="Nimbus Sans"/>
                <a:cs typeface="Nimbus Sans"/>
              </a:defRPr>
            </a:pPr>
            <a:r>
              <a:rPr sz="1200" b="1">
                <a:solidFill>
                  <a:srgbClr val="536172"/>
                </a:solidFill>
                <a:latin typeface="Nimbus Sans"/>
                <a:ea typeface="Nimbus Sans"/>
                <a:cs typeface="Nimbus Sans"/>
              </a:rPr>
              <a:t>MATHGUARD</a:t>
            </a:r>
          </a:p>
        </p:txBody>
      </p:sp>
      <p:sp>
        <p:nvSpPr>
          <p:cNvPr id="4" name="09">
            <a:extLst xmlns:a="http://schemas.openxmlformats.org/drawingml/2006/main">
              <a:ext uri="{FF2B5EF4-FFF2-40B4-BE49-F238E27FC236}">
                <a16:creationId xmlns:a16="http://schemas.microsoft.com/office/drawing/2014/main" id="{4DF3C2B4-61F4-4A00-B016-E2891931324C}"/>
              </a:ext>
            </a:extLst>
          </p:cNvPr>
          <p:cNvSpPr>
            <a:spLocks xmlns:a="http://schemas.openxmlformats.org/drawingml/2006/main" noGrp="1"/>
          </p:cNvSpPr>
          <p:nvPr/>
        </p:nvSpPr>
        <p:spPr>
          <a:xfrm xmlns:a="http://schemas.openxmlformats.org/drawingml/2006/main">
            <a:off x="10858500" y="6381750"/>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536172"/>
                </a:solidFill>
                <a:latin typeface="Nimbus Mono PS"/>
                <a:ea typeface="Nimbus Mono PS"/>
                <a:cs typeface="Nimbus Mono PS"/>
              </a:defRPr>
            </a:pPr>
            <a:r>
              <a:rPr sz="1350" b="0">
                <a:solidFill>
                  <a:srgbClr val="536172"/>
                </a:solidFill>
                <a:latin typeface="Nimbus Mono PS"/>
                <a:ea typeface="Nimbus Mono PS"/>
                <a:cs typeface="Nimbus Mono PS"/>
              </a:rPr>
              <a:t>09</a:t>
            </a:r>
          </a:p>
        </p:txBody>
      </p:sp>
      <p:sp>
        <p:nvSpPr>
          <p:cNvPr id="5" name="156">
            <a:extLst xmlns:a="http://schemas.openxmlformats.org/drawingml/2006/main">
              <a:ext uri="{FF2B5EF4-FFF2-40B4-BE49-F238E27FC236}">
                <a16:creationId xmlns:a16="http://schemas.microsoft.com/office/drawing/2014/main" id="{D84AD0D6-8C58-4DCE-BA19-3A7D6CCD2C3A}"/>
              </a:ext>
            </a:extLst>
          </p:cNvPr>
          <p:cNvSpPr>
            <a:spLocks xmlns:a="http://schemas.openxmlformats.org/drawingml/2006/main" noGrp="1"/>
          </p:cNvSpPr>
          <p:nvPr/>
        </p:nvSpPr>
        <p:spPr>
          <a:xfrm xmlns:a="http://schemas.openxmlformats.org/drawingml/2006/main">
            <a:off x="685800" y="2019300"/>
            <a:ext cx="42862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9300" b="0">
                <a:solidFill>
                  <a:srgbClr val="101D32"/>
                </a:solidFill>
                <a:latin typeface="Nimbus Roman"/>
                <a:ea typeface="Nimbus Roman"/>
                <a:cs typeface="Nimbus Roman"/>
              </a:defRPr>
            </a:pPr>
            <a:r>
              <a:rPr sz="9300" b="0">
                <a:solidFill>
                  <a:srgbClr val="101D32"/>
                </a:solidFill>
                <a:latin typeface="Nimbus Roman"/>
                <a:ea typeface="Nimbus Roman"/>
                <a:cs typeface="Nimbus Roman"/>
              </a:rPr>
              <a:t>156</a:t>
            </a:r>
          </a:p>
        </p:txBody>
      </p:sp>
      <p:sp>
        <p:nvSpPr>
          <p:cNvPr id="6" name="AXIOM AUDIT RECORDS">
            <a:extLst xmlns:a="http://schemas.openxmlformats.org/drawingml/2006/main">
              <a:ext uri="{FF2B5EF4-FFF2-40B4-BE49-F238E27FC236}">
                <a16:creationId xmlns:a16="http://schemas.microsoft.com/office/drawing/2014/main" id="{7669C06C-CF97-42C2-B8CC-4D0BF41AE6C2}"/>
              </a:ext>
            </a:extLst>
          </p:cNvPr>
          <p:cNvSpPr>
            <a:spLocks xmlns:a="http://schemas.openxmlformats.org/drawingml/2006/main" noGrp="1"/>
          </p:cNvSpPr>
          <p:nvPr/>
        </p:nvSpPr>
        <p:spPr>
          <a:xfrm xmlns:a="http://schemas.openxmlformats.org/drawingml/2006/main">
            <a:off x="723900" y="3581400"/>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806638"/>
                </a:solidFill>
                <a:latin typeface="Nimbus Mono PS"/>
                <a:ea typeface="Nimbus Mono PS"/>
                <a:cs typeface="Nimbus Mono PS"/>
              </a:defRPr>
            </a:pPr>
            <a:r>
              <a:rPr sz="1650" b="0">
                <a:solidFill>
                  <a:srgbClr val="806638"/>
                </a:solidFill>
                <a:latin typeface="Nimbus Mono PS"/>
                <a:ea typeface="Nimbus Mono PS"/>
                <a:cs typeface="Nimbus Mono PS"/>
              </a:rPr>
              <a:t>AXIOM AUDIT RECORDS</a:t>
            </a:r>
          </a:p>
        </p:txBody>
      </p:sp>
      <p:sp>
        <p:nvSpPr>
          <p:cNvPr id="7" name="Compiled Lean decision rules">
            <a:extLst xmlns:a="http://schemas.openxmlformats.org/drawingml/2006/main">
              <a:ext uri="{FF2B5EF4-FFF2-40B4-BE49-F238E27FC236}">
                <a16:creationId xmlns:a16="http://schemas.microsoft.com/office/drawing/2014/main" id="{F48908D9-C51A-41BF-B62D-D80EFFAD9EF8}"/>
              </a:ext>
            </a:extLst>
          </p:cNvPr>
          <p:cNvSpPr>
            <a:spLocks xmlns:a="http://schemas.openxmlformats.org/drawingml/2006/main" noGrp="1"/>
          </p:cNvSpPr>
          <p:nvPr/>
        </p:nvSpPr>
        <p:spPr>
          <a:xfrm xmlns:a="http://schemas.openxmlformats.org/drawingml/2006/main">
            <a:off x="723900" y="4171950"/>
            <a:ext cx="4286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00" b="1">
                <a:solidFill>
                  <a:srgbClr val="101D32"/>
                </a:solidFill>
                <a:latin typeface="Nimbus Sans"/>
                <a:ea typeface="Nimbus Sans"/>
                <a:cs typeface="Nimbus Sans"/>
              </a:defRPr>
            </a:pPr>
            <a:r>
              <a:rPr sz="2400" b="1">
                <a:solidFill>
                  <a:srgbClr val="101D32"/>
                </a:solidFill>
                <a:latin typeface="Nimbus Sans"/>
                <a:ea typeface="Nimbus Sans"/>
                <a:cs typeface="Nimbus Sans"/>
              </a:rPr>
              <a:t>Compiled Lean decision rules</a:t>
            </a:r>
          </a:p>
        </p:txBody>
      </p:sp>
      <p:sp>
        <p:nvSpPr>
          <p:cNvPr id="8" name="187">
            <a:extLst xmlns:a="http://schemas.openxmlformats.org/drawingml/2006/main">
              <a:ext uri="{FF2B5EF4-FFF2-40B4-BE49-F238E27FC236}">
                <a16:creationId xmlns:a16="http://schemas.microsoft.com/office/drawing/2014/main" id="{6E138DB4-4BE1-486C-8A8E-51C5550A32A7}"/>
              </a:ext>
            </a:extLst>
          </p:cNvPr>
          <p:cNvSpPr>
            <a:spLocks xmlns:a="http://schemas.openxmlformats.org/drawingml/2006/main" noGrp="1"/>
          </p:cNvSpPr>
          <p:nvPr/>
        </p:nvSpPr>
        <p:spPr>
          <a:xfrm xmlns:a="http://schemas.openxmlformats.org/drawingml/2006/main">
            <a:off x="6257925" y="2019300"/>
            <a:ext cx="47625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9300" b="0">
                <a:solidFill>
                  <a:srgbClr val="101D32"/>
                </a:solidFill>
                <a:latin typeface="Nimbus Roman"/>
                <a:ea typeface="Nimbus Roman"/>
                <a:cs typeface="Nimbus Roman"/>
              </a:defRPr>
            </a:pPr>
            <a:r>
              <a:rPr sz="9300" b="0">
                <a:solidFill>
                  <a:srgbClr val="101D32"/>
                </a:solidFill>
                <a:latin typeface="Nimbus Roman"/>
                <a:ea typeface="Nimbus Roman"/>
                <a:cs typeface="Nimbus Roman"/>
              </a:rPr>
              <a:t>187</a:t>
            </a:r>
          </a:p>
        </p:txBody>
      </p:sp>
      <p:sp>
        <p:nvSpPr>
          <p:cNvPr id="9" name="AUTOMATED TESTS PASSED">
            <a:extLst xmlns:a="http://schemas.openxmlformats.org/drawingml/2006/main">
              <a:ext uri="{FF2B5EF4-FFF2-40B4-BE49-F238E27FC236}">
                <a16:creationId xmlns:a16="http://schemas.microsoft.com/office/drawing/2014/main" id="{304175C8-207B-43B1-B5ED-07AA2D7B0391}"/>
              </a:ext>
            </a:extLst>
          </p:cNvPr>
          <p:cNvSpPr>
            <a:spLocks xmlns:a="http://schemas.openxmlformats.org/drawingml/2006/main" noGrp="1"/>
          </p:cNvSpPr>
          <p:nvPr/>
        </p:nvSpPr>
        <p:spPr>
          <a:xfrm xmlns:a="http://schemas.openxmlformats.org/drawingml/2006/main">
            <a:off x="6296025" y="3581400"/>
            <a:ext cx="52101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806638"/>
                </a:solidFill>
                <a:latin typeface="Nimbus Mono PS"/>
                <a:ea typeface="Nimbus Mono PS"/>
                <a:cs typeface="Nimbus Mono PS"/>
              </a:defRPr>
            </a:pPr>
            <a:r>
              <a:rPr sz="1650" b="0">
                <a:solidFill>
                  <a:srgbClr val="806638"/>
                </a:solidFill>
                <a:latin typeface="Nimbus Mono PS"/>
                <a:ea typeface="Nimbus Mono PS"/>
                <a:cs typeface="Nimbus Mono PS"/>
              </a:rPr>
              <a:t>AUTOMATED TESTS PASSED</a:t>
            </a:r>
          </a:p>
        </p:txBody>
      </p:sp>
      <p:sp>
        <p:nvSpPr>
          <p:cNvPr id="10" name="Actual worker and hostile inputs">
            <a:extLst xmlns:a="http://schemas.openxmlformats.org/drawingml/2006/main">
              <a:ext uri="{FF2B5EF4-FFF2-40B4-BE49-F238E27FC236}">
                <a16:creationId xmlns:a16="http://schemas.microsoft.com/office/drawing/2014/main" id="{72F95169-810C-427C-888F-74C40C932A72}"/>
              </a:ext>
            </a:extLst>
          </p:cNvPr>
          <p:cNvSpPr>
            <a:spLocks xmlns:a="http://schemas.openxmlformats.org/drawingml/2006/main" noGrp="1"/>
          </p:cNvSpPr>
          <p:nvPr/>
        </p:nvSpPr>
        <p:spPr>
          <a:xfrm xmlns:a="http://schemas.openxmlformats.org/drawingml/2006/main">
            <a:off x="6296025" y="4171950"/>
            <a:ext cx="52101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00" b="1">
                <a:solidFill>
                  <a:srgbClr val="101D32"/>
                </a:solidFill>
                <a:latin typeface="Nimbus Sans"/>
                <a:ea typeface="Nimbus Sans"/>
                <a:cs typeface="Nimbus Sans"/>
              </a:defRPr>
            </a:pPr>
            <a:r>
              <a:rPr sz="2400" b="1">
                <a:solidFill>
                  <a:srgbClr val="101D32"/>
                </a:solidFill>
                <a:latin typeface="Nimbus Sans"/>
                <a:ea typeface="Nimbus Sans"/>
                <a:cs typeface="Nimbus Sans"/>
              </a:rPr>
              <a:t>Actual worker and hostile inputs</a:t>
            </a:r>
          </a:p>
        </p:txBody>
      </p:sp>
      <p:sp>
        <p:nvSpPr>
          <p:cNvPr id="11" name="Detector accuracy remains empirical.">
            <a:extLst xmlns:a="http://schemas.openxmlformats.org/drawingml/2006/main">
              <a:ext uri="{FF2B5EF4-FFF2-40B4-BE49-F238E27FC236}">
                <a16:creationId xmlns:a16="http://schemas.microsoft.com/office/drawing/2014/main" id="{776C59CD-E0F1-487F-A279-6C66E71AA020}"/>
              </a:ext>
            </a:extLst>
          </p:cNvPr>
          <p:cNvSpPr>
            <a:spLocks xmlns:a="http://schemas.openxmlformats.org/drawingml/2006/main" noGrp="1"/>
          </p:cNvSpPr>
          <p:nvPr/>
        </p:nvSpPr>
        <p:spPr>
          <a:xfrm xmlns:a="http://schemas.openxmlformats.org/drawingml/2006/main">
            <a:off x="685800" y="550545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75" b="0">
                <a:solidFill>
                  <a:srgbClr val="536172"/>
                </a:solidFill>
                <a:latin typeface="Nimbus Sans"/>
                <a:ea typeface="Nimbus Sans"/>
                <a:cs typeface="Nimbus Sans"/>
              </a:defRPr>
            </a:pPr>
            <a:r>
              <a:rPr sz="2475" b="0">
                <a:solidFill>
                  <a:srgbClr val="536172"/>
                </a:solidFill>
                <a:latin typeface="Nimbus Sans"/>
                <a:ea typeface="Nimbus Sans"/>
                <a:cs typeface="Nimbus Sans"/>
              </a:rPr>
              <a:t>Detector accuracy remains empirical.</a:t>
            </a:r>
          </a:p>
        </p:txBody>
      </p:sp>
    </p:spTree>
    <p:extLst>
      <p:ext uri="{BB962C8B-B14F-4D97-AF65-F5344CB8AC3E}">
        <p14:creationId xmlns:p14="http://schemas.microsoft.com/office/powerpoint/2010/main" val="1265141361"/>
      </p:ext>
    </p:extLst>
  </p:cSld>
</p:sld>
</file>

<file path=ppt/slides/slide10.xml><?xml version="1.0" encoding="utf-8"?>
<p:sld xmlns:p="http://schemas.openxmlformats.org/presentationml/2006/main">
  <p:cSld>
    <p:bg>
      <p:bgPr>
        <a:solidFill xmlns:a="http://schemas.openxmlformats.org/drawingml/2006/main">
          <a:srgbClr val="101D32"/>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880b537d7a40485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Local demonstration">
            <a:extLst xmlns:a="http://schemas.openxmlformats.org/drawingml/2006/main">
              <a:ext uri="{FF2B5EF4-FFF2-40B4-BE49-F238E27FC236}">
                <a16:creationId xmlns:a16="http://schemas.microsoft.com/office/drawing/2014/main" id="{7BCB7F23-FC41-46B5-916C-A6C88E254B62}"/>
              </a:ext>
            </a:extLst>
          </p:cNvPr>
          <p:cNvSpPr>
            <a:spLocks xmlns:a="http://schemas.openxmlformats.org/drawingml/2006/main" noGrp="1"/>
          </p:cNvSpPr>
          <p:nvPr/>
        </p:nvSpPr>
        <p:spPr>
          <a:xfrm xmlns:a="http://schemas.openxmlformats.org/drawingml/2006/main">
            <a:off x="685800" y="8001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500" b="0">
                <a:solidFill>
                  <a:srgbClr val="F6F4ED"/>
                </a:solidFill>
                <a:latin typeface="Nimbus Roman"/>
                <a:ea typeface="Nimbus Roman"/>
                <a:cs typeface="Nimbus Roman"/>
              </a:defRPr>
            </a:pPr>
            <a:r>
              <a:rPr sz="4500" b="0">
                <a:solidFill>
                  <a:srgbClr val="F6F4ED"/>
                </a:solidFill>
                <a:latin typeface="Nimbus Roman"/>
                <a:ea typeface="Nimbus Roman"/>
                <a:cs typeface="Nimbus Roman"/>
              </a:rPr>
              <a:t>Local demonstration</a:t>
            </a:r>
          </a:p>
        </p:txBody>
      </p:sp>
      <p:sp>
        <p:nvSpPr>
          <p:cNvPr id="3" name="Editorial rule">
            <a:extLst xmlns:a="http://schemas.openxmlformats.org/drawingml/2006/main">
              <a:ext uri="{FF2B5EF4-FFF2-40B4-BE49-F238E27FC236}">
                <a16:creationId xmlns:a16="http://schemas.microsoft.com/office/drawing/2014/main" id="{E1A38378-2236-4E20-B242-36FC24DF5D6A}"/>
              </a:ext>
            </a:extLst>
          </p:cNvPr>
          <p:cNvSpPr>
            <a:spLocks xmlns:a="http://schemas.openxmlformats.org/drawingml/2006/main" noGrp="1"/>
          </p:cNvSpPr>
          <p:nvPr/>
        </p:nvSpPr>
        <p:spPr>
          <a:xfrm xmlns:a="http://schemas.openxmlformats.org/drawingml/2006/main">
            <a:off x="685800" y="6191250"/>
            <a:ext cx="10820400" cy="0"/>
          </a:xfrm>
          <a:prstGeom xmlns:a="http://schemas.openxmlformats.org/drawingml/2006/main" prst="line">
            <a:avLst/>
          </a:prstGeom>
          <a:noFill xmlns:a="http://schemas.openxmlformats.org/drawingml/2006/main"/>
          <a:ln xmlns:a="http://schemas.openxmlformats.org/drawingml/2006/main" w="7620">
            <a:solidFill>
              <a:srgbClr val="42506A"/>
            </a:solidFill>
          </a:ln>
        </p:spPr>
      </p:sp>
      <p:sp>
        <p:nvSpPr>
          <p:cNvPr id="4" name="MATHGUARD">
            <a:extLst xmlns:a="http://schemas.openxmlformats.org/drawingml/2006/main">
              <a:ext uri="{FF2B5EF4-FFF2-40B4-BE49-F238E27FC236}">
                <a16:creationId xmlns:a16="http://schemas.microsoft.com/office/drawing/2014/main" id="{153DCCF2-95B5-48C5-9C65-31339E4040B6}"/>
              </a:ext>
            </a:extLst>
          </p:cNvPr>
          <p:cNvSpPr>
            <a:spLocks xmlns:a="http://schemas.openxmlformats.org/drawingml/2006/main" noGrp="1"/>
          </p:cNvSpPr>
          <p:nvPr/>
        </p:nvSpPr>
        <p:spPr>
          <a:xfrm xmlns:a="http://schemas.openxmlformats.org/drawingml/2006/main">
            <a:off x="685800" y="6400800"/>
            <a:ext cx="857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200" b="1">
                <a:solidFill>
                  <a:srgbClr val="C6D0DB"/>
                </a:solidFill>
                <a:latin typeface="Nimbus Sans"/>
                <a:ea typeface="Nimbus Sans"/>
                <a:cs typeface="Nimbus Sans"/>
              </a:defRPr>
            </a:pPr>
            <a:r>
              <a:rPr sz="1200" b="1">
                <a:solidFill>
                  <a:srgbClr val="C6D0DB"/>
                </a:solidFill>
                <a:latin typeface="Nimbus Sans"/>
                <a:ea typeface="Nimbus Sans"/>
                <a:cs typeface="Nimbus Sans"/>
              </a:rPr>
              <a:t>MATHGUARD</a:t>
            </a:r>
          </a:p>
        </p:txBody>
      </p:sp>
      <p:sp>
        <p:nvSpPr>
          <p:cNvPr id="5" name="10">
            <a:extLst xmlns:a="http://schemas.openxmlformats.org/drawingml/2006/main">
              <a:ext uri="{FF2B5EF4-FFF2-40B4-BE49-F238E27FC236}">
                <a16:creationId xmlns:a16="http://schemas.microsoft.com/office/drawing/2014/main" id="{78AF063E-7DD4-49A0-BAA9-FD895DE56A24}"/>
              </a:ext>
            </a:extLst>
          </p:cNvPr>
          <p:cNvSpPr>
            <a:spLocks xmlns:a="http://schemas.openxmlformats.org/drawingml/2006/main" noGrp="1"/>
          </p:cNvSpPr>
          <p:nvPr/>
        </p:nvSpPr>
        <p:spPr>
          <a:xfrm xmlns:a="http://schemas.openxmlformats.org/drawingml/2006/main">
            <a:off x="10858500" y="6381750"/>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350" b="0">
                <a:solidFill>
                  <a:srgbClr val="C6D0DB"/>
                </a:solidFill>
                <a:latin typeface="Nimbus Mono PS"/>
                <a:ea typeface="Nimbus Mono PS"/>
                <a:cs typeface="Nimbus Mono PS"/>
              </a:defRPr>
            </a:pPr>
            <a:r>
              <a:rPr sz="1350" b="0">
                <a:solidFill>
                  <a:srgbClr val="C6D0DB"/>
                </a:solidFill>
                <a:latin typeface="Nimbus Mono PS"/>
                <a:ea typeface="Nimbus Mono PS"/>
                <a:cs typeface="Nimbus Mono PS"/>
              </a:rPr>
              <a:t>10</a:t>
            </a:r>
          </a:p>
        </p:txBody>
      </p:sp>
      <p:sp>
        <p:nvSpPr>
          <p:cNvPr id="6" name="make setup">
            <a:extLst xmlns:a="http://schemas.openxmlformats.org/drawingml/2006/main">
              <a:ext uri="{FF2B5EF4-FFF2-40B4-BE49-F238E27FC236}">
                <a16:creationId xmlns:a16="http://schemas.microsoft.com/office/drawing/2014/main" id="{0CBF696C-2792-495A-A4C2-B1F55A492916}"/>
              </a:ext>
            </a:extLst>
          </p:cNvPr>
          <p:cNvSpPr>
            <a:spLocks xmlns:a="http://schemas.openxmlformats.org/drawingml/2006/main" noGrp="1"/>
          </p:cNvSpPr>
          <p:nvPr/>
        </p:nvSpPr>
        <p:spPr>
          <a:xfrm xmlns:a="http://schemas.openxmlformats.org/drawingml/2006/main">
            <a:off x="685800" y="21431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825" b="0">
                <a:solidFill>
                  <a:srgbClr val="F6F4ED"/>
                </a:solidFill>
                <a:latin typeface="Nimbus Mono PS"/>
                <a:ea typeface="Nimbus Mono PS"/>
                <a:cs typeface="Nimbus Mono PS"/>
              </a:defRPr>
            </a:pPr>
            <a:r>
              <a:rPr sz="3825" b="0">
                <a:solidFill>
                  <a:srgbClr val="F6F4ED"/>
                </a:solidFill>
                <a:latin typeface="Nimbus Mono PS"/>
                <a:ea typeface="Nimbus Mono PS"/>
                <a:cs typeface="Nimbus Mono PS"/>
              </a:rPr>
              <a:t>make setup</a:t>
            </a:r>
          </a:p>
        </p:txBody>
      </p:sp>
      <p:sp>
        <p:nvSpPr>
          <p:cNvPr id="7" name="make run">
            <a:extLst xmlns:a="http://schemas.openxmlformats.org/drawingml/2006/main">
              <a:ext uri="{FF2B5EF4-FFF2-40B4-BE49-F238E27FC236}">
                <a16:creationId xmlns:a16="http://schemas.microsoft.com/office/drawing/2014/main" id="{D24254A9-04CC-4595-AC7F-3B69BF10A445}"/>
              </a:ext>
            </a:extLst>
          </p:cNvPr>
          <p:cNvSpPr>
            <a:spLocks xmlns:a="http://schemas.openxmlformats.org/drawingml/2006/main" noGrp="1"/>
          </p:cNvSpPr>
          <p:nvPr/>
        </p:nvSpPr>
        <p:spPr>
          <a:xfrm xmlns:a="http://schemas.openxmlformats.org/drawingml/2006/main">
            <a:off x="685800" y="311467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825" b="0">
                <a:solidFill>
                  <a:srgbClr val="F6F4ED"/>
                </a:solidFill>
                <a:latin typeface="Nimbus Mono PS"/>
                <a:ea typeface="Nimbus Mono PS"/>
                <a:cs typeface="Nimbus Mono PS"/>
              </a:defRPr>
            </a:pPr>
            <a:r>
              <a:rPr sz="3825" b="0">
                <a:solidFill>
                  <a:srgbClr val="F6F4ED"/>
                </a:solidFill>
                <a:latin typeface="Nimbus Mono PS"/>
                <a:ea typeface="Nimbus Mono PS"/>
                <a:cs typeface="Nimbus Mono PS"/>
              </a:rPr>
              <a:t>make run</a:t>
            </a:r>
          </a:p>
        </p:txBody>
      </p:sp>
      <p:sp>
        <p:nvSpPr>
          <p:cNvPr id="8" name="make test">
            <a:extLst xmlns:a="http://schemas.openxmlformats.org/drawingml/2006/main">
              <a:ext uri="{FF2B5EF4-FFF2-40B4-BE49-F238E27FC236}">
                <a16:creationId xmlns:a16="http://schemas.microsoft.com/office/drawing/2014/main" id="{2C9E72F5-DB46-40CD-A9C1-6FDDF802F187}"/>
              </a:ext>
            </a:extLst>
          </p:cNvPr>
          <p:cNvSpPr>
            <a:spLocks xmlns:a="http://schemas.openxmlformats.org/drawingml/2006/main" noGrp="1"/>
          </p:cNvSpPr>
          <p:nvPr/>
        </p:nvSpPr>
        <p:spPr>
          <a:xfrm xmlns:a="http://schemas.openxmlformats.org/drawingml/2006/main">
            <a:off x="685800" y="40862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825" b="0">
                <a:solidFill>
                  <a:srgbClr val="F6F4ED"/>
                </a:solidFill>
                <a:latin typeface="Nimbus Mono PS"/>
                <a:ea typeface="Nimbus Mono PS"/>
                <a:cs typeface="Nimbus Mono PS"/>
              </a:defRPr>
            </a:pPr>
            <a:r>
              <a:rPr sz="3825" b="0">
                <a:solidFill>
                  <a:srgbClr val="F6F4ED"/>
                </a:solidFill>
                <a:latin typeface="Nimbus Mono PS"/>
                <a:ea typeface="Nimbus Mono PS"/>
                <a:cs typeface="Nimbus Mono PS"/>
              </a:rPr>
              <a:t>make test</a:t>
            </a:r>
          </a:p>
        </p:txBody>
      </p:sp>
      <p:sp>
        <p:nvSpPr>
          <p:cNvPr id="9" name="Installed local model required.">
            <a:extLst xmlns:a="http://schemas.openxmlformats.org/drawingml/2006/main">
              <a:ext uri="{FF2B5EF4-FFF2-40B4-BE49-F238E27FC236}">
                <a16:creationId xmlns:a16="http://schemas.microsoft.com/office/drawing/2014/main" id="{47E83F79-12B7-44B0-9027-162E8F5035EF}"/>
              </a:ext>
            </a:extLst>
          </p:cNvPr>
          <p:cNvSpPr>
            <a:spLocks xmlns:a="http://schemas.openxmlformats.org/drawingml/2006/main" noGrp="1"/>
          </p:cNvSpPr>
          <p:nvPr/>
        </p:nvSpPr>
        <p:spPr>
          <a:xfrm xmlns:a="http://schemas.openxmlformats.org/drawingml/2006/main">
            <a:off x="685800" y="5257800"/>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325" b="0">
                <a:solidFill>
                  <a:srgbClr val="C6D0DB"/>
                </a:solidFill>
                <a:latin typeface="Nimbus Sans"/>
                <a:ea typeface="Nimbus Sans"/>
                <a:cs typeface="Nimbus Sans"/>
              </a:defRPr>
            </a:pPr>
            <a:r>
              <a:rPr sz="2325" b="0">
                <a:solidFill>
                  <a:srgbClr val="C6D0DB"/>
                </a:solidFill>
                <a:latin typeface="Nimbus Sans"/>
                <a:ea typeface="Nimbus Sans"/>
                <a:cs typeface="Nimbus Sans"/>
              </a:rPr>
              <a:t>Installed local model required.</a:t>
            </a:r>
          </a:p>
        </p:txBody>
      </p:sp>
      <p:sp>
        <p:nvSpPr>
          <p:cNvPr id="10" name="github.com/ljaniec/Mathguard">
            <a:extLst xmlns:a="http://schemas.openxmlformats.org/drawingml/2006/main">
              <a:ext uri="{FF2B5EF4-FFF2-40B4-BE49-F238E27FC236}">
                <a16:creationId xmlns:a16="http://schemas.microsoft.com/office/drawing/2014/main" id="{137401D2-DF3A-4CAE-93D6-997BC8ED6B93}"/>
              </a:ext>
            </a:extLst>
          </p:cNvPr>
          <p:cNvSpPr>
            <a:spLocks xmlns:a="http://schemas.openxmlformats.org/drawingml/2006/main" noGrp="1"/>
          </p:cNvSpPr>
          <p:nvPr/>
        </p:nvSpPr>
        <p:spPr>
          <a:xfrm xmlns:a="http://schemas.openxmlformats.org/drawingml/2006/main">
            <a:off x="685800" y="5753100"/>
            <a:ext cx="1000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00" b="0">
                <a:solidFill>
                  <a:srgbClr val="C5A567"/>
                </a:solidFill>
                <a:latin typeface="Nimbus Sans"/>
                <a:ea typeface="Nimbus Sans"/>
                <a:cs typeface="Nimbus Sans"/>
              </a:defRPr>
            </a:pPr>
            <a:r>
              <a:rPr sz="1800">
                <a:solidFill>
                  <a:srgbClr val="C5A567"/>
                </a:solidFill>
                <a:latin typeface="Nimbus Sans"/>
                <a:ea typeface="Nimbus Sans"/>
                <a:cs typeface="Nimbus Sans"/>
                <a:hlinkClick xmlns:r="http://schemas.openxmlformats.org/officeDocument/2006/relationships" r:id="Rde9b11da54d94b17"/>
              </a:rPr>
              <a:t>github.com/ljaniec/Mathguard</a:t>
            </a:r>
          </a:p>
        </p:txBody>
      </p:sp>
    </p:spTree>
    <p:extLst>
      <p:ext uri="{BB962C8B-B14F-4D97-AF65-F5344CB8AC3E}">
        <p14:creationId xmlns:p14="http://schemas.microsoft.com/office/powerpoint/2010/main" val="1091035363"/>
      </p:ext>
    </p:extLst>
  </p:cSld>
</p:sld>
</file>

<file path=ppt/theme/theme1.xml><?xml version="1.0" encoding="utf-8"?>
<a:theme xmlns:a="http://schemas.openxmlformats.org/drawingml/2006/main" name="ChatGPT">
  <a:themeElements>
    <a:clrScheme name="Mathguard / Classic Shield">
      <a:dk1>
        <a:srgbClr val="101D32"/>
      </a:dk1>
      <a:lt1>
        <a:srgbClr val="F6F4ED"/>
      </a:lt1>
      <a:dk2>
        <a:srgbClr val="536172"/>
      </a:dk2>
      <a:lt2>
        <a:srgbClr val="C6D0DB"/>
      </a:lt2>
      <a:accent1>
        <a:srgbClr val="C5A567"/>
      </a:accent1>
      <a:accent2>
        <a:srgbClr val="2B5279"/>
      </a:accent2>
      <a:accent3>
        <a:srgbClr val="536172"/>
      </a:accent3>
      <a:accent4>
        <a:srgbClr val="95483E"/>
      </a:accent4>
      <a:accent5>
        <a:srgbClr val="376554"/>
      </a:accent5>
      <a:accent6>
        <a:srgbClr val="D3D7DB"/>
      </a:accent6>
      <a:hlink>
        <a:srgbClr val="C5A567"/>
      </a:hlink>
      <a:folHlink>
        <a:srgbClr val="C5A567"/>
      </a:folHlink>
    </a:clrScheme>
    <a:fontScheme name="">
      <a:majorFont>
        <a:latin typeface="Aptos"/>
        <a:ea typeface=""/>
        <a:cs typeface=""/>
      </a:majorFont>
      <a:minorFont>
        <a:latin typeface="Aptos"/>
        <a:ea typeface=""/>
        <a:cs typeface=""/>
      </a:minorFont>
    </a:fontScheme>
    <a:fmtScheme name="Mathguard / Classic Shield">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2026-10-04T01:45:39.9820000Z</dcterms:created>
  <dcterms:modified xsi:type="dcterms:W3CDTF">2026-10-04T01:45:39.9820000Z</dcterms:modified>
</coreProperties>
</file>