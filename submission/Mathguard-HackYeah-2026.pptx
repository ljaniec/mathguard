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2aaa05ea9074073" /><Relationship Type="http://schemas.openxmlformats.org/officeDocument/2006/relationships/extended-properties" Target="/docProps/app.xml" Id="Re9d73225352e4afa" /><Relationship Type="http://schemas.openxmlformats.org/officeDocument/2006/relationships/officeDocument" Target="/ppt/presentation.xml" Id="R1638e2bec04f49ff" /></Relationships>
</file>

<file path=ppt/presentation.xml><?xml version="1.0" encoding="utf-8"?>
<p:presentation xmlns:p="http://schemas.openxmlformats.org/presentationml/2006/main">
  <p:sldMasterIdLst>
    <p:sldMasterId xmlns:r="http://schemas.openxmlformats.org/officeDocument/2006/relationships" id="2147483648" r:id="Re30c106f30c04acc"/>
  </p:sldMasterIdLst>
  <p:notesMasterIdLst>
    <p:notesMasterId xmlns:r="http://schemas.openxmlformats.org/officeDocument/2006/relationships" r:id="Rdb8e41b727224c5a"/>
  </p:notesMasterIdLst>
  <p:sldIdLst>
    <p:sldId xmlns:r="http://schemas.openxmlformats.org/officeDocument/2006/relationships" id="256" r:id="R57c2050a80694319"/>
    <p:sldId xmlns:r="http://schemas.openxmlformats.org/officeDocument/2006/relationships" id="257" r:id="R5567ac4d8af449b9"/>
    <p:sldId xmlns:r="http://schemas.openxmlformats.org/officeDocument/2006/relationships" id="258" r:id="R53cf5c6305044996"/>
    <p:sldId xmlns:r="http://schemas.openxmlformats.org/officeDocument/2006/relationships" id="259" r:id="R90ad797384e0432c"/>
    <p:sldId xmlns:r="http://schemas.openxmlformats.org/officeDocument/2006/relationships" id="260" r:id="Rb718420de310445e"/>
    <p:sldId xmlns:r="http://schemas.openxmlformats.org/officeDocument/2006/relationships" id="261" r:id="Rc3f0a3da8d3f41ec"/>
    <p:sldId xmlns:r="http://schemas.openxmlformats.org/officeDocument/2006/relationships" id="262" r:id="R5e62ea605c9441eb"/>
    <p:sldId xmlns:r="http://schemas.openxmlformats.org/officeDocument/2006/relationships" id="263" r:id="R118c31a8306a47af"/>
    <p:sldId xmlns:r="http://schemas.openxmlformats.org/officeDocument/2006/relationships" id="264" r:id="R6932583c6dc742d4"/>
    <p:sldId xmlns:r="http://schemas.openxmlformats.org/officeDocument/2006/relationships" id="265" r:id="Re2f7e427684940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fb5b81049224b95" /><Relationship Type="http://schemas.openxmlformats.org/officeDocument/2006/relationships/slideMaster" Target="/ppt/slideMasters/slideMaster1.xml" Id="Re30c106f30c04acc" /><Relationship Type="http://schemas.openxmlformats.org/officeDocument/2006/relationships/notesMaster" Target="/ppt/notesMasters/notesMaster1.xml" Id="Rdb8e41b727224c5a" /><Relationship Type="http://schemas.openxmlformats.org/officeDocument/2006/relationships/presProps" Target="/ppt/presProps.xml" Id="R7c7726a81c9a4d3d" /><Relationship Type="http://schemas.openxmlformats.org/officeDocument/2006/relationships/tableStyles" Target="/ppt/tableStyles.xml" Id="R18fd6339214b4cb2" /><Relationship Type="http://schemas.openxmlformats.org/officeDocument/2006/relationships/slide" Target="/ppt/slides/slide1.xml" Id="R57c2050a80694319" /><Relationship Type="http://schemas.openxmlformats.org/officeDocument/2006/relationships/slide" Target="/ppt/slides/slide2.xml" Id="R5567ac4d8af449b9" /><Relationship Type="http://schemas.openxmlformats.org/officeDocument/2006/relationships/slide" Target="/ppt/slides/slide3.xml" Id="R53cf5c6305044996" /><Relationship Type="http://schemas.openxmlformats.org/officeDocument/2006/relationships/slide" Target="/ppt/slides/slide4.xml" Id="R90ad797384e0432c" /><Relationship Type="http://schemas.openxmlformats.org/officeDocument/2006/relationships/slide" Target="/ppt/slides/slide5.xml" Id="Rb718420de310445e" /><Relationship Type="http://schemas.openxmlformats.org/officeDocument/2006/relationships/slide" Target="/ppt/slides/slide6.xml" Id="Rc3f0a3da8d3f41ec" /><Relationship Type="http://schemas.openxmlformats.org/officeDocument/2006/relationships/slide" Target="/ppt/slides/slide7.xml" Id="R5e62ea605c9441eb" /><Relationship Type="http://schemas.openxmlformats.org/officeDocument/2006/relationships/slide" Target="/ppt/slides/slide8.xml" Id="R118c31a8306a47af" /><Relationship Type="http://schemas.openxmlformats.org/officeDocument/2006/relationships/slide" Target="/ppt/slides/slide9.xml" Id="R6932583c6dc742d4" /><Relationship Type="http://schemas.openxmlformats.org/officeDocument/2006/relationships/slide" Target="/ppt/slides/slide10.xml" Id="Re2f7e427684940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cf249245684d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Mathguard / Proof Gate">
      <a:dk1>
        <a:srgbClr val="101D32"/>
      </a:dk1>
      <a:lt1>
        <a:srgbClr val="F6F4ED"/>
      </a:lt1>
      <a:dk2>
        <a:srgbClr val="556172"/>
      </a:dk2>
      <a:lt2>
        <a:srgbClr val="DDE3EC"/>
      </a:lt2>
      <a:accent1>
        <a:srgbClr val="9B814F"/>
      </a:accent1>
      <a:accent2>
        <a:srgbClr val="2B5279"/>
      </a:accent2>
      <a:accent3>
        <a:srgbClr val="556172"/>
      </a:accent3>
      <a:accent4>
        <a:srgbClr val="7A4441"/>
      </a:accent4>
      <a:accent5>
        <a:srgbClr val="547568"/>
      </a:accent5>
      <a:accent6>
        <a:srgbClr val="D4D9DF"/>
      </a:accent6>
      <a:hlink>
        <a:srgbClr val="D7BD84"/>
      </a:hlink>
      <a:folHlink>
        <a:srgbClr val="D7BD84"/>
      </a:folHlink>
    </a:clrScheme>
    <a:fontScheme name="">
      <a:majorFont>
        <a:latin typeface="Aptos"/>
        <a:ea typeface=""/>
        <a:cs typeface=""/>
      </a:majorFont>
      <a:minorFont>
        <a:latin typeface="Aptos"/>
        <a:ea typeface=""/>
        <a:cs typeface=""/>
      </a:minorFont>
    </a:fontScheme>
    <a:fmtScheme name="Mathguard / Proof Gat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8e54c7c9a64c83" /><Relationship Type="http://schemas.openxmlformats.org/officeDocument/2006/relationships/notesMaster" Target="/ppt/notesMasters/notesMaster1.xml" Id="R9a5e0256149c40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50f6e9bdbc4b8a" /><Relationship Type="http://schemas.openxmlformats.org/officeDocument/2006/relationships/notesMaster" Target="/ppt/notesMasters/notesMaster1.xml" Id="R14b7b9d16cdd4b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637cb1897f497a" /><Relationship Type="http://schemas.openxmlformats.org/officeDocument/2006/relationships/notesMaster" Target="/ppt/notesMasters/notesMaster1.xml" Id="R752377c718ae4f1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448b32624c4c51" /><Relationship Type="http://schemas.openxmlformats.org/officeDocument/2006/relationships/notesMaster" Target="/ppt/notesMasters/notesMaster1.xml" Id="R9571bc4988dd42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011eabc96343a5" /><Relationship Type="http://schemas.openxmlformats.org/officeDocument/2006/relationships/notesMaster" Target="/ppt/notesMasters/notesMaster1.xml" Id="R97d913b34da543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87c4708510418a" /><Relationship Type="http://schemas.openxmlformats.org/officeDocument/2006/relationships/notesMaster" Target="/ppt/notesMasters/notesMaster1.xml" Id="R9258a6c9764f4c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afb3aff3564848" /><Relationship Type="http://schemas.openxmlformats.org/officeDocument/2006/relationships/notesMaster" Target="/ppt/notesMasters/notesMaster1.xml" Id="Ra9a24973d61746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c74deb3a8242e4" /><Relationship Type="http://schemas.openxmlformats.org/officeDocument/2006/relationships/notesMaster" Target="/ppt/notesMasters/notesMaster1.xml" Id="R39a123b4238548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9a5e72be4d485a" /><Relationship Type="http://schemas.openxmlformats.org/officeDocument/2006/relationships/notesMaster" Target="/ppt/notesMasters/notesMaster1.xml" Id="Rb7f30a0b39f34ac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89df4456b04e9b" /><Relationship Type="http://schemas.openxmlformats.org/officeDocument/2006/relationships/notesMaster" Target="/ppt/notesMasters/notesMaster1.xml" Id="Rf9507ba2cae148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identity; registered member list must be confirmed in HackTribe. This deck records implementation evidence; live model evaluation remains pending.</a:t>
            </a:r>
          </a:p>
          <a:p xmlns:a="http://schemas.openxmlformats.org/drawingml/2006/main">
            <a:r>
              <a:t>Sources:</a:t>
            </a:r>
          </a:p>
          <a:p xmlns:a="http://schemas.openxmlformats.org/drawingml/2006/main">
            <a:r>
              <a:t>https://github.com/ljaniec/Mathguard/blob/integration/aristotle-general-control/README.md</a:t>
            </a:r>
          </a:p>
          <a:p xmlns:a="http://schemas.openxmlformats.org/drawingml/2006/main">
            <a:r>
              <a:t>https://github.com/ljaniec/Mathguard/blob/integration/aristotle-general-control/docs/13-GENERAL-CONTROL-LAYER.md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architecture. SDK callbacks are trusted integrations. Every relevant application boundary must be routed through the layer. Not a full MCP transport/OAuth implementation.</a:t>
            </a:r>
          </a:p>
          <a:p xmlns:a="http://schemas.openxmlformats.org/drawingml/2006/main">
            <a:r>
              <a:t>Sources:</a:t>
            </a:r>
          </a:p>
          <a:p xmlns:a="http://schemas.openxmlformats.org/drawingml/2006/main">
            <a:r>
              <a:t>https://github.com/ljaniec/Mathguard/blob/integration/aristotle-general-control/docs/13-GENERAL-CONTROL-LAYER.md</a:t>
            </a:r>
          </a:p>
          <a:p xmlns:a="http://schemas.openxmlformats.org/drawingml/2006/main">
            <a:r>
              <a:t>https://github.com/ljaniec/Mathguard/blob/integration/aristotle-general-control/gateway/engine.py</a:t>
            </a:r>
          </a:p>
          <a:p xmlns:a="http://schemas.openxmlformats.org/drawingml/2006/main">
            <a:r>
              <a:t>https://github.com/ljaniec/Mathguard/blob/integration/aristotle-general-control/gateway/sdk.py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gate_executes_imp_hard, Decision.combine_executes and gate_mono concern exact pure Lean functions. JSON/auth/provider integration is tested. Balanced unavailable fallback asks for review.</a:t>
            </a:r>
          </a:p>
          <a:p xmlns:a="http://schemas.openxmlformats.org/drawingml/2006/main">
            <a:r>
              <a:t>Sources:</a:t>
            </a:r>
          </a:p>
          <a:p xmlns:a="http://schemas.openxmlformats.org/drawingml/2006/main">
            <a:r>
              <a:t>https://github.com/ljaniec/Mathguard/blob/integration/aristotle-general-control/Mathguard/Control.lean</a:t>
            </a:r>
          </a:p>
          <a:p xmlns:a="http://schemas.openxmlformats.org/drawingml/2006/main">
            <a:r>
              <a:t>https://github.com/ljaniec/Mathguard/blob/integration/aristotle-general-control/docs/verification/GENERAL-CONTROL-INTEGRATION.md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Observed with actual worker/public HTTP and labeled fixture verdicts. Policies activate on next authenticated POST, not background watch. No valid initial configuration fails closed.</a:t>
            </a:r>
          </a:p>
          <a:p xmlns:a="http://schemas.openxmlformats.org/drawingml/2006/main">
            <a:r>
              <a:t>Sources:</a:t>
            </a:r>
          </a:p>
          <a:p xmlns:a="http://schemas.openxmlformats.org/drawingml/2006/main">
            <a:r>
              <a:t>https://github.com/ljaniec/Mathguard/blob/integration/aristotle-general-control/evidence/rehearsal.json</a:t>
            </a:r>
          </a:p>
          <a:p xmlns:a="http://schemas.openxmlformats.org/drawingml/2006/main">
            <a:r>
              <a:t>https://github.com/ljaniec/Mathguard/blob/integration/aristotle-general-control/scripts/rehearse-demo.py</a:t>
            </a:r>
          </a:p>
          <a:p xmlns:a="http://schemas.openxmlformats.org/drawingml/2006/main">
            <a:r>
              <a:t>https://github.com/ljaniec/Mathguard/blob/integration/aristotle-general-control/gateway/engine.py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rehearsal exhausted budget and observed BUDGET_EXHAUSTED. Runtime tokens/time are configured upper bounds, not measured bills. Provider adapter termination does not prove remote GPU cancellation. G1 step-limit theorem is pure-model evidence; runtime limits are integration-tested.</a:t>
            </a:r>
          </a:p>
          <a:p xmlns:a="http://schemas.openxmlformats.org/drawingml/2006/main">
            <a:r>
              <a:t>Sources:</a:t>
            </a:r>
          </a:p>
          <a:p xmlns:a="http://schemas.openxmlformats.org/drawingml/2006/main">
            <a:r>
              <a:t>https://github.com/ljaniec/Mathguard/blob/integration/aristotle-general-control/Mathguard/Budget.lean</a:t>
            </a:r>
          </a:p>
          <a:p xmlns:a="http://schemas.openxmlformats.org/drawingml/2006/main">
            <a:r>
              <a:t>https://github.com/ljaniec/Mathguard/blob/integration/aristotle-general-control/gateway/engine.py</a:t>
            </a:r>
          </a:p>
          <a:p xmlns:a="http://schemas.openxmlformats.org/drawingml/2006/main">
            <a:r>
              <a:t>https://github.com/ljaniec/Mathguard/blob/integration/aristotle-general-control/evidence/rehearsal.json</a:t>
            </a:r>
          </a:p>
          <a:p xmlns:a="http://schemas.openxmlformats.org/drawingml/2006/main">
            <a:r>
              <a:t>https://github.com/ljaniec/Mathguard/blob/integration/aristotle-general-control/tests/test_gateway.py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synthetic demonstrator accounts. 25.00 PLN transfer then100.00 PLN high-value transfer requiring owner approval. Volatile serialized owner; no durable crash recovery claim.</a:t>
            </a:r>
          </a:p>
          <a:p xmlns:a="http://schemas.openxmlformats.org/drawingml/2006/main">
            <a:r>
              <a:t>Sources:</a:t>
            </a:r>
          </a:p>
          <a:p xmlns:a="http://schemas.openxmlformats.org/drawingml/2006/main">
            <a:r>
              <a:t>https://github.com/ljaniec/Mathguard/blob/integration/aristotle-general-control/evidence/rehearsal.json</a:t>
            </a:r>
          </a:p>
          <a:p xmlns:a="http://schemas.openxmlformats.org/drawingml/2006/main">
            <a:r>
              <a:t>https://github.com/ljaniec/Mathguard/blob/integration/aristotle-general-control/Mathguard/Ledger.lean</a:t>
            </a:r>
          </a:p>
          <a:p xmlns:a="http://schemas.openxmlformats.org/drawingml/2006/main">
            <a:r>
              <a:t>https://github.com/ljaniec/Mathguard/blob/integration/aristotle-general-control/gateway/engine.py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complete historical exploit feed, universal injection resistance or provider weight-supply-chain guarantee. Artifact checks avoid deserialization entirely.</a:t>
            </a:r>
          </a:p>
          <a:p xmlns:a="http://schemas.openxmlformats.org/drawingml/2006/main">
            <a:r>
              <a:t>Sources:</a:t>
            </a:r>
          </a:p>
          <a:p xmlns:a="http://schemas.openxmlformats.org/drawingml/2006/main">
            <a:r>
              <a:t>https://github.com/ljaniec/Mathguard/blob/integration/aristotle-general-control/tests/test_gateway.py</a:t>
            </a:r>
          </a:p>
          <a:p xmlns:a="http://schemas.openxmlformats.org/drawingml/2006/main">
            <a:r>
              <a:t>https://github.com/ljaniec/Mathguard/blob/integration/aristotle-general-control/gateway/control.py</a:t>
            </a:r>
          </a:p>
          <a:p xmlns:a="http://schemas.openxmlformats.org/drawingml/2006/main">
            <a:r>
              <a:t>https://github.com/ljaniec/Mathguard/blob/integration/aristotle-general-control/feeds/demo-signatures.json</a:t>
            </a:r>
          </a:p>
          <a:p xmlns:a="http://schemas.openxmlformats.org/drawingml/2006/main">
            <a:r>
              <a:t>https://github.com/ljaniec/Mathguard/blob/integration/aristotle-general-control/docs/11-THREAT-MODEL.md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Worker SHA256: 13368e2720221f70dfb714a77c0405b94a0fd1706e088f40237e098030b7bf32. Integration file contains exact source hashes. Counts are runtime checks, not classifier quality. G1 only propext and Quot.sound; whole catalog also uses permitted standard axioms.</a:t>
            </a:r>
          </a:p>
          <a:p xmlns:a="http://schemas.openxmlformats.org/drawingml/2006/main">
            <a:r>
              <a:t>Sources:</a:t>
            </a:r>
          </a:p>
          <a:p xmlns:a="http://schemas.openxmlformats.org/drawingml/2006/main">
            <a:r>
              <a:t>https://github.com/ljaniec/Mathguard/blob/integration/aristotle-general-control/evidence/integration.json</a:t>
            </a:r>
          </a:p>
          <a:p xmlns:a="http://schemas.openxmlformats.org/drawingml/2006/main">
            <a:r>
              <a:t>https://github.com/ljaniec/Mathguard/blob/integration/aristotle-general-control/evidence/rehearsal.json</a:t>
            </a:r>
          </a:p>
          <a:p xmlns:a="http://schemas.openxmlformats.org/drawingml/2006/main">
            <a:r>
              <a:t>https://github.com/ljaniec/Mathguard/blob/integration/aristotle-general-control/docs/verification/axioms.txt</a:t>
            </a:r>
          </a:p>
          <a:p xmlns:a="http://schemas.openxmlformats.org/drawingml/2006/main">
            <a:r>
              <a:t>https://github.com/ljaniec/Mathguard/blob/integration/aristotle-general-control/docs/verification/GENERAL-CONTROL-INTEGRATION.md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dashboard exists and JS/HTTP serving are checked. Browser visual QA/operator rehearsal remains pending. Audit is a bounded2000-event volatile metadata window, not a durable append-only database. No UI screenshot is presented as observed.</a:t>
            </a:r>
          </a:p>
          <a:p xmlns:a="http://schemas.openxmlformats.org/drawingml/2006/main">
            <a:r>
              <a:t>Sources:</a:t>
            </a:r>
          </a:p>
          <a:p xmlns:a="http://schemas.openxmlformats.org/drawingml/2006/main">
            <a:r>
              <a:t>https://github.com/ljaniec/Mathguard/blob/integration/aristotle-general-control/dashboard/app.js</a:t>
            </a:r>
          </a:p>
          <a:p xmlns:a="http://schemas.openxmlformats.org/drawingml/2006/main">
            <a:r>
              <a:t>https://github.com/ljaniec/Mathguard/blob/integration/aristotle-general-control/gateway/engine.py</a:t>
            </a:r>
          </a:p>
          <a:p xmlns:a="http://schemas.openxmlformats.org/drawingml/2006/main">
            <a:r>
              <a:t>https://github.com/ljaniec/Mathguard/blob/integration/aristotle-general-control/evidence/rehearsal.json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Submission must be finalized by the registered team. This deck does not certify completion of HackTribe submission or live quality. make run requires installed Lean toolchain and local provider. Source license/model record remains pending for installed weights.</a:t>
            </a:r>
          </a:p>
          <a:p xmlns:a="http://schemas.openxmlformats.org/drawingml/2006/main">
            <a:r>
              <a:t>Sources:</a:t>
            </a:r>
          </a:p>
          <a:p xmlns:a="http://schemas.openxmlformats.org/drawingml/2006/main">
            <a:r>
              <a:t>https://github.com/ljaniec/Mathguard/blob/integration/aristotle-general-control/docs/14-OPERATOR-REHEARSAL.md</a:t>
            </a:r>
          </a:p>
          <a:p xmlns:a="http://schemas.openxmlformats.org/drawingml/2006/main">
            <a:r>
              <a:t>https://github.com/ljaniec/Mathguard/blob/integration/aristotle-general-control/STATUS.md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17f271e50d498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9d7f97f6f9d48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8770e3dcc84a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e5eba364f942c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bb1d6805ce438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53364dc66344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6DA7376-C307-4D6E-B718-C7402E17F726}"/>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98D35CD-DF02-4445-89B5-453F7AABCA8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9622687-2A4C-47D0-BFD3-A809AE616C1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27E5C91-A17D-483E-A34F-0BAC136DB825}"/>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B9F6A57-6F73-42D7-9230-C376DF5900B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A28BA61-69E2-47CC-B283-A5315798EAC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FA272C-5C2C-4F25-8BDC-7F3DDEB836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40A4619-4393-47F1-8BDA-7F6B67B7612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B817D2C-0483-4419-809B-FD1FD2A55E5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F41F5F1-EF39-467C-8BBE-B170705938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03F26C0-AD7D-427B-BDCF-B04B6A0873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BA969C-96F8-4A7C-ADD2-936C8C5DD82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7BBC667-6391-4D3A-AE6B-4787FA82943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CB87EE0-889F-4D0F-9D45-78B0CCEE13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1F35FAF-4B37-417F-8E9B-E407A14689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4317b19cf94c0f" /><Relationship Type="http://schemas.openxmlformats.org/officeDocument/2006/relationships/slideLayout" Target="/ppt/slideLayouts/slideLayout1.xml" Id="R68e239d3d7fe4da8" /><Relationship Type="http://schemas.openxmlformats.org/officeDocument/2006/relationships/slideLayout" Target="/ppt/slideLayouts/slideLayout2.xml" Id="Rcb5d18f8195f4dd5" /><Relationship Type="http://schemas.openxmlformats.org/officeDocument/2006/relationships/slideLayout" Target="/ppt/slideLayouts/slideLayout3.xml" Id="R4d6daf7b5d1c4e92" /><Relationship Type="http://schemas.openxmlformats.org/officeDocument/2006/relationships/slideLayout" Target="/ppt/slideLayouts/slideLayout4.xml" Id="R01a34e82b06245b2" /><Relationship Type="http://schemas.openxmlformats.org/officeDocument/2006/relationships/slideLayout" Target="/ppt/slideLayouts/slideLayout5.xml" Id="Rbdebd08c05f34ca3" /><Relationship Type="http://schemas.openxmlformats.org/officeDocument/2006/relationships/slideLayout" Target="/ppt/slideLayouts/slideLayout6.xml" Id="R606bbc98a79445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e239d3d7fe4da8"/>
    <p:sldLayoutId xmlns:r="http://schemas.openxmlformats.org/officeDocument/2006/relationships" id="2147483650" r:id="Rcb5d18f8195f4dd5"/>
    <p:sldLayoutId xmlns:r="http://schemas.openxmlformats.org/officeDocument/2006/relationships" id="2147483651" r:id="R4d6daf7b5d1c4e92"/>
    <p:sldLayoutId xmlns:r="http://schemas.openxmlformats.org/officeDocument/2006/relationships" id="2147483652" r:id="R01a34e82b06245b2"/>
    <p:sldLayoutId xmlns:r="http://schemas.openxmlformats.org/officeDocument/2006/relationships" id="2147483653" r:id="Rbdebd08c05f34ca3"/>
    <p:sldLayoutId xmlns:r="http://schemas.openxmlformats.org/officeDocument/2006/relationships" id="2147483654" r:id="R606bbc98a79445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Mathguard / Proof Gate">
      <a:dk1>
        <a:srgbClr val="101D32"/>
      </a:dk1>
      <a:lt1>
        <a:srgbClr val="F6F4ED"/>
      </a:lt1>
      <a:dk2>
        <a:srgbClr val="556172"/>
      </a:dk2>
      <a:lt2>
        <a:srgbClr val="DDE3EC"/>
      </a:lt2>
      <a:accent1>
        <a:srgbClr val="9B814F"/>
      </a:accent1>
      <a:accent2>
        <a:srgbClr val="2B5279"/>
      </a:accent2>
      <a:accent3>
        <a:srgbClr val="556172"/>
      </a:accent3>
      <a:accent4>
        <a:srgbClr val="7A4441"/>
      </a:accent4>
      <a:accent5>
        <a:srgbClr val="547568"/>
      </a:accent5>
      <a:accent6>
        <a:srgbClr val="D4D9DF"/>
      </a:accent6>
      <a:hlink>
        <a:srgbClr val="D7BD84"/>
      </a:hlink>
      <a:folHlink>
        <a:srgbClr val="D7BD84"/>
      </a:folHlink>
    </a:clrScheme>
    <a:fontScheme name="">
      <a:majorFont>
        <a:latin typeface="Aptos"/>
        <a:ea typeface=""/>
        <a:cs typeface=""/>
      </a:majorFont>
      <a:minorFont>
        <a:latin typeface="Aptos"/>
        <a:ea typeface=""/>
        <a:cs typeface=""/>
      </a:minorFont>
    </a:fontScheme>
    <a:fmtScheme name="Mathguard / Proof Gat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f52c0e24184fcb" /><Relationship Type="http://schemas.openxmlformats.org/officeDocument/2006/relationships/image" Target="/ppt/media/image.png" Id="R30896a14c96d4ce0" /><Relationship Type="http://schemas.openxmlformats.org/officeDocument/2006/relationships/image" Target="/ppt/media/image2.png" Id="R6c6f5a006bca4743" /><Relationship Type="http://schemas.openxmlformats.org/officeDocument/2006/relationships/notesSlide" Target="/ppt/notesSlides/notesSlide1.xml" Id="Rba71226daea04b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51a7604c41492f" /><Relationship Type="http://schemas.openxmlformats.org/officeDocument/2006/relationships/notesSlide" Target="/ppt/notesSlides/notesSlide2.xml" Id="Ref1ead4d308f48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8528a882f04497d" /><Relationship Type="http://schemas.openxmlformats.org/officeDocument/2006/relationships/notesSlide" Target="/ppt/notesSlides/notesSlide3.xml" Id="R133572889dc74f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8837b5d548448fb" /><Relationship Type="http://schemas.openxmlformats.org/officeDocument/2006/relationships/notesSlide" Target="/ppt/notesSlides/notesSlide4.xml" Id="Ra348837f557247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bf13f776ae7439b" /><Relationship Type="http://schemas.openxmlformats.org/officeDocument/2006/relationships/notesSlide" Target="/ppt/notesSlides/notesSlide5.xml" Id="R9a8a6eb7609345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c912c4aaaff4ae2" /><Relationship Type="http://schemas.openxmlformats.org/officeDocument/2006/relationships/notesSlide" Target="/ppt/notesSlides/notesSlide6.xml" Id="Ra17c115d4d9449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ff1ccef2a94203" /><Relationship Type="http://schemas.openxmlformats.org/officeDocument/2006/relationships/notesSlide" Target="/ppt/notesSlides/notesSlide7.xml" Id="Reb186f80cd0547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008c9292a494f8d" /><Relationship Type="http://schemas.openxmlformats.org/officeDocument/2006/relationships/notesSlide" Target="/ppt/notesSlides/notesSlide8.xml" Id="R24d2a43fe0c949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f2f50232324457a" /><Relationship Type="http://schemas.openxmlformats.org/officeDocument/2006/relationships/notesSlide" Target="/ppt/notesSlides/notesSlide9.xml" Id="R8c1dae0841254c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63b6545431545e4" /><Relationship Type="http://schemas.openxmlformats.org/officeDocument/2006/relationships/image" Target="/ppt/media/image3.png" Id="R65629caa3ce64a58" /><Relationship Type="http://schemas.openxmlformats.org/officeDocument/2006/relationships/hyperlink" Target="https://github.com/ljaniec/Mathguard/pull/5" TargetMode="External" Id="Rd8266c33bf9a4bc3" /><Relationship Type="http://schemas.openxmlformats.org/officeDocument/2006/relationships/notesSlide" Target="/ppt/notesSlides/notesSlide10.xml" Id="R7d54fbd91477422d" /></Relationships>
</file>

<file path=ppt/slides/slide1.xml><?xml version="1.0" encoding="utf-8"?>
<p:sld xmlns:p="http://schemas.openxmlformats.org/presentationml/2006/main">
  <p:cSld>
    <p:bg>
      <p:bgPr>
        <a:solidFill xmlns:a="http://schemas.openxmlformats.org/drawingml/2006/main">
          <a:srgbClr val="101D32"/>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0896a14c96d4ce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01 / IDENTITY">
            <a:extLst xmlns:a="http://schemas.openxmlformats.org/drawingml/2006/main">
              <a:ext uri="{FF2B5EF4-FFF2-40B4-BE49-F238E27FC236}">
                <a16:creationId xmlns:a16="http://schemas.microsoft.com/office/drawing/2014/main" id="{3AAF0E0E-5983-44DC-85BA-5C8DA81F6477}"/>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CEB580"/>
                </a:solidFill>
                <a:latin typeface="Nimbus Mono PS"/>
                <a:ea typeface="Nimbus Mono PS"/>
                <a:cs typeface="Nimbus Mono PS"/>
              </a:defRPr>
            </a:pPr>
            <a:r>
              <a:rPr sz="1275" b="0">
                <a:solidFill>
                  <a:srgbClr val="CEB580"/>
                </a:solidFill>
                <a:latin typeface="Nimbus Mono PS"/>
                <a:ea typeface="Nimbus Mono PS"/>
                <a:cs typeface="Nimbus Mono PS"/>
              </a:rPr>
              <a:t>01 / IDENTITY</a:t>
            </a:r>
          </a:p>
        </p:txBody>
      </p:sp>
      <p:sp>
        <p:nvSpPr>
          <p:cNvPr id="3" name="Typographic rule">
            <a:extLst xmlns:a="http://schemas.openxmlformats.org/drawingml/2006/main">
              <a:ext uri="{FF2B5EF4-FFF2-40B4-BE49-F238E27FC236}">
                <a16:creationId xmlns:a16="http://schemas.microsoft.com/office/drawing/2014/main" id="{ED803F0B-1A69-47D9-8BD7-091071B6A2D2}"/>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46516A"/>
            </a:solidFill>
          </a:ln>
        </p:spPr>
      </p:sp>
      <p:sp>
        <p:nvSpPr>
          <p:cNvPr id="4" name="MATHGUARD">
            <a:extLst xmlns:a="http://schemas.openxmlformats.org/drawingml/2006/main">
              <a:ext uri="{FF2B5EF4-FFF2-40B4-BE49-F238E27FC236}">
                <a16:creationId xmlns:a16="http://schemas.microsoft.com/office/drawing/2014/main" id="{E764F2A3-ACE5-40AE-92DA-3FE59E571ECA}"/>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F6F4ED"/>
                </a:solidFill>
                <a:latin typeface="Nimbus Sans"/>
                <a:ea typeface="Nimbus Sans"/>
                <a:cs typeface="Nimbus Sans"/>
              </a:defRPr>
            </a:pPr>
            <a:r>
              <a:rPr sz="1275" b="1">
                <a:solidFill>
                  <a:srgbClr val="F6F4ED"/>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0B01995D-DF29-4B66-9939-B89CF4F6BC2E}"/>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BCC8D7"/>
                </a:solidFill>
                <a:latin typeface="Nimbus Sans"/>
                <a:ea typeface="Nimbus Sans"/>
                <a:cs typeface="Nimbus Sans"/>
              </a:defRPr>
            </a:pPr>
            <a:r>
              <a:rPr sz="1125" b="0">
                <a:solidFill>
                  <a:srgbClr val="BCC8D7"/>
                </a:solidFill>
                <a:latin typeface="Nimbus Sans"/>
                <a:ea typeface="Nimbus Sans"/>
                <a:cs typeface="Nimbus Sans"/>
              </a:rPr>
              <a:t>GOLDMAN SACHS AI CONTROL LAYER</a:t>
            </a:r>
          </a:p>
        </p:txBody>
      </p:sp>
      <p:sp>
        <p:nvSpPr>
          <p:cNvPr id="6" name="01 / 10">
            <a:extLst xmlns:a="http://schemas.openxmlformats.org/drawingml/2006/main">
              <a:ext uri="{FF2B5EF4-FFF2-40B4-BE49-F238E27FC236}">
                <a16:creationId xmlns:a16="http://schemas.microsoft.com/office/drawing/2014/main" id="{58A7BA07-8508-4EA5-A6C5-DEEF759C10E8}"/>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BCC8D7"/>
                </a:solidFill>
                <a:latin typeface="Nimbus Mono PS"/>
                <a:ea typeface="Nimbus Mono PS"/>
                <a:cs typeface="Nimbus Mono PS"/>
              </a:defRPr>
            </a:pPr>
            <a:r>
              <a:rPr sz="1200" b="0">
                <a:solidFill>
                  <a:srgbClr val="BCC8D7"/>
                </a:solidFill>
                <a:latin typeface="Nimbus Mono PS"/>
                <a:ea typeface="Nimbus Mono PS"/>
                <a:cs typeface="Nimbus Mono PS"/>
              </a:rPr>
              <a:t>01 / 10</a:t>
            </a:r>
          </a:p>
        </p:txBody>
      </p:sp>
      <p:sp>
        <p:nvSpPr>
          <p:cNvPr id="7" name="MATHGUARD">
            <a:extLst xmlns:a="http://schemas.openxmlformats.org/drawingml/2006/main">
              <a:ext uri="{FF2B5EF4-FFF2-40B4-BE49-F238E27FC236}">
                <a16:creationId xmlns:a16="http://schemas.microsoft.com/office/drawing/2014/main" id="{E6DCBA02-477F-4A7F-9E04-84F688C71798}"/>
              </a:ext>
            </a:extLst>
          </p:cNvPr>
          <p:cNvSpPr>
            <a:spLocks xmlns:a="http://schemas.openxmlformats.org/drawingml/2006/main" noGrp="1"/>
          </p:cNvSpPr>
          <p:nvPr/>
        </p:nvSpPr>
        <p:spPr>
          <a:xfrm xmlns:a="http://schemas.openxmlformats.org/drawingml/2006/main">
            <a:off x="685800" y="981075"/>
            <a:ext cx="7620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850" b="1">
                <a:solidFill>
                  <a:srgbClr val="F6F4ED"/>
                </a:solidFill>
                <a:latin typeface="Nimbus Sans"/>
                <a:ea typeface="Nimbus Sans"/>
                <a:cs typeface="Nimbus Sans"/>
              </a:defRPr>
            </a:pPr>
            <a:r>
              <a:rPr sz="2850" b="1">
                <a:solidFill>
                  <a:srgbClr val="F6F4ED"/>
                </a:solidFill>
                <a:latin typeface="Nimbus Sans"/>
                <a:ea typeface="Nimbus Sans"/>
                <a:cs typeface="Nimbus Sans"/>
              </a:rPr>
              <a:t>MATHGUARD</a:t>
            </a:r>
          </a:p>
        </p:txBody>
      </p:sp>
      <p:sp>
        <p:nvSpPr>
          <p:cNvPr id="8" name="Typographic rule">
            <a:extLst xmlns:a="http://schemas.openxmlformats.org/drawingml/2006/main">
              <a:ext uri="{FF2B5EF4-FFF2-40B4-BE49-F238E27FC236}">
                <a16:creationId xmlns:a16="http://schemas.microsoft.com/office/drawing/2014/main" id="{BE3D6915-6B0A-4978-8E6F-C6D80E532ED9}"/>
              </a:ext>
            </a:extLst>
          </p:cNvPr>
          <p:cNvSpPr>
            <a:spLocks xmlns:a="http://schemas.openxmlformats.org/drawingml/2006/main" noGrp="1"/>
          </p:cNvSpPr>
          <p:nvPr/>
        </p:nvSpPr>
        <p:spPr>
          <a:xfrm xmlns:a="http://schemas.openxmlformats.org/drawingml/2006/main">
            <a:off x="685800" y="1790700"/>
            <a:ext cx="800100" cy="0"/>
          </a:xfrm>
          <a:prstGeom xmlns:a="http://schemas.openxmlformats.org/drawingml/2006/main" prst="line">
            <a:avLst/>
          </a:prstGeom>
          <a:noFill xmlns:a="http://schemas.openxmlformats.org/drawingml/2006/main"/>
          <a:ln xmlns:a="http://schemas.openxmlformats.org/drawingml/2006/main" w="19050">
            <a:solidFill>
              <a:srgbClr val="9B814F"/>
            </a:solidFill>
          </a:ln>
        </p:spPr>
      </p:sp>
      <p:sp>
        <p:nvSpPr>
          <p:cNvPr id="9" name="A policy gateway">
            <a:extLst xmlns:a="http://schemas.openxmlformats.org/drawingml/2006/main">
              <a:ext uri="{FF2B5EF4-FFF2-40B4-BE49-F238E27FC236}">
                <a16:creationId xmlns:a16="http://schemas.microsoft.com/office/drawing/2014/main" id="{24A71F68-2A9B-4E7E-8244-E3FC0962F927}"/>
              </a:ext>
            </a:extLst>
          </p:cNvPr>
          <p:cNvSpPr>
            <a:spLocks xmlns:a="http://schemas.openxmlformats.org/drawingml/2006/main" noGrp="1"/>
          </p:cNvSpPr>
          <p:nvPr/>
        </p:nvSpPr>
        <p:spPr>
          <a:xfrm xmlns:a="http://schemas.openxmlformats.org/drawingml/2006/main">
            <a:off x="647700" y="2162175"/>
            <a:ext cx="8143875"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5850" b="0">
                <a:solidFill>
                  <a:srgbClr val="F6F4ED"/>
                </a:solidFill>
                <a:latin typeface="Nimbus Roman"/>
                <a:ea typeface="Nimbus Roman"/>
                <a:cs typeface="Nimbus Roman"/>
              </a:defRPr>
            </a:pPr>
            <a:r>
              <a:rPr sz="5850" b="0">
                <a:solidFill>
                  <a:srgbClr val="F6F4ED"/>
                </a:solidFill>
                <a:latin typeface="Nimbus Roman"/>
                <a:ea typeface="Nimbus Roman"/>
                <a:cs typeface="Nimbus Roman"/>
              </a:rPr>
              <a:t>A policy gateway</a:t>
            </a:r>
          </a:p>
          <a:p xmlns:a="http://schemas.openxmlformats.org/drawingml/2006/main">
            <a:pPr>
              <a:defRPr sz="5850" b="0">
                <a:solidFill>
                  <a:srgbClr val="F6F4ED"/>
                </a:solidFill>
                <a:latin typeface="Nimbus Roman"/>
                <a:ea typeface="Nimbus Roman"/>
                <a:cs typeface="Nimbus Roman"/>
              </a:defRPr>
            </a:pPr>
            <a:r>
              <a:rPr sz="5850" b="0">
                <a:solidFill>
                  <a:srgbClr val="F6F4ED"/>
                </a:solidFill>
                <a:latin typeface="Nimbus Roman"/>
                <a:ea typeface="Nimbus Roman"/>
                <a:cs typeface="Nimbus Roman"/>
              </a:rPr>
              <a:t>for AI agents</a:t>
            </a:r>
          </a:p>
        </p:txBody>
      </p:sp>
      <p:sp>
        <p:nvSpPr>
          <p:cNvPr id="10" name="Inspect prompts, tool calls and messages.">
            <a:extLst xmlns:a="http://schemas.openxmlformats.org/drawingml/2006/main">
              <a:ext uri="{FF2B5EF4-FFF2-40B4-BE49-F238E27FC236}">
                <a16:creationId xmlns:a16="http://schemas.microsoft.com/office/drawing/2014/main" id="{BF044C72-FCF6-4E76-B6FD-CBF5F470C5EF}"/>
              </a:ext>
            </a:extLst>
          </p:cNvPr>
          <p:cNvSpPr>
            <a:spLocks xmlns:a="http://schemas.openxmlformats.org/drawingml/2006/main" noGrp="1"/>
          </p:cNvSpPr>
          <p:nvPr/>
        </p:nvSpPr>
        <p:spPr>
          <a:xfrm xmlns:a="http://schemas.openxmlformats.org/drawingml/2006/main">
            <a:off x="685800" y="4429125"/>
            <a:ext cx="7858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DDE3EC"/>
                </a:solidFill>
                <a:latin typeface="Nimbus Sans"/>
                <a:ea typeface="Nimbus Sans"/>
                <a:cs typeface="Nimbus Sans"/>
              </a:defRPr>
            </a:pPr>
            <a:r>
              <a:rPr sz="2100" b="0">
                <a:solidFill>
                  <a:srgbClr val="DDE3EC"/>
                </a:solidFill>
                <a:latin typeface="Nimbus Sans"/>
                <a:ea typeface="Nimbus Sans"/>
                <a:cs typeface="Nimbus Sans"/>
              </a:rPr>
              <a:t>Inspect prompts, tool calls and messages.</a:t>
            </a:r>
          </a:p>
          <a:p xmlns:a="http://schemas.openxmlformats.org/drawingml/2006/main">
            <a:pPr>
              <a:defRPr sz="2100" b="0">
                <a:solidFill>
                  <a:srgbClr val="DDE3EC"/>
                </a:solidFill>
                <a:latin typeface="Nimbus Sans"/>
                <a:ea typeface="Nimbus Sans"/>
                <a:cs typeface="Nimbus Sans"/>
              </a:defRPr>
            </a:pPr>
            <a:r>
              <a:rPr sz="2100" b="0">
                <a:solidFill>
                  <a:srgbClr val="DDE3EC"/>
                </a:solidFill>
                <a:latin typeface="Nimbus Sans"/>
                <a:ea typeface="Nimbus Sans"/>
                <a:cs typeface="Nimbus Sans"/>
              </a:rPr>
              <a:t>Apply policy before releasing content</a:t>
            </a:r>
          </a:p>
          <a:p xmlns:a="http://schemas.openxmlformats.org/drawingml/2006/main">
            <a:pPr>
              <a:defRPr sz="2100" b="0">
                <a:solidFill>
                  <a:srgbClr val="DDE3EC"/>
                </a:solidFill>
                <a:latin typeface="Nimbus Sans"/>
                <a:ea typeface="Nimbus Sans"/>
                <a:cs typeface="Nimbus Sans"/>
              </a:defRPr>
            </a:pPr>
            <a:r>
              <a:rPr sz="2100" b="0">
                <a:solidFill>
                  <a:srgbClr val="DDE3EC"/>
                </a:solidFill>
                <a:latin typeface="Nimbus Sans"/>
                <a:ea typeface="Nimbus Sans"/>
                <a:cs typeface="Nimbus Sans"/>
              </a:rPr>
              <a:t>or committing a tool effect.</a:t>
            </a:r>
          </a:p>
        </p:txBody>
      </p:sp>
      <p:sp>
        <p:nvSpPr>
          <p:cNvPr id="11" name="TEAM MATHGUARD">
            <a:extLst xmlns:a="http://schemas.openxmlformats.org/drawingml/2006/main">
              <a:ext uri="{FF2B5EF4-FFF2-40B4-BE49-F238E27FC236}">
                <a16:creationId xmlns:a16="http://schemas.microsoft.com/office/drawing/2014/main" id="{2BE62C56-A40D-48F0-9EB5-04E056B28236}"/>
              </a:ext>
            </a:extLst>
          </p:cNvPr>
          <p:cNvSpPr>
            <a:spLocks xmlns:a="http://schemas.openxmlformats.org/drawingml/2006/main" noGrp="1"/>
          </p:cNvSpPr>
          <p:nvPr/>
        </p:nvSpPr>
        <p:spPr>
          <a:xfrm xmlns:a="http://schemas.openxmlformats.org/drawingml/2006/main">
            <a:off x="685800" y="57150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350" b="0">
                <a:solidFill>
                  <a:srgbClr val="CEB580"/>
                </a:solidFill>
                <a:latin typeface="Nimbus Mono PS"/>
                <a:ea typeface="Nimbus Mono PS"/>
                <a:cs typeface="Nimbus Mono PS"/>
              </a:defRPr>
            </a:pPr>
            <a:r>
              <a:rPr sz="1350" b="0">
                <a:solidFill>
                  <a:srgbClr val="CEB580"/>
                </a:solidFill>
                <a:latin typeface="Nimbus Mono PS"/>
                <a:ea typeface="Nimbus Mono PS"/>
                <a:cs typeface="Nimbus Mono PS"/>
              </a:rPr>
              <a:t>TEAM MATHGUARD</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c6f5a006bca4743"/>
          <a:stretch xmlns:a="http://schemas.openxmlformats.org/drawingml/2006/main"/>
        </p:blipFill>
        <p:spPr>
          <a:xfrm xmlns:a="http://schemas.openxmlformats.org/drawingml/2006/main">
            <a:off x="8763000" y="2352675"/>
            <a:ext cx="2743200" cy="2743200"/>
          </a:xfrm>
          <a:prstGeom xmlns:a="http://schemas.openxmlformats.org/drawingml/2006/main" prst="rect">
            <a:avLst/>
          </a:prstGeom>
        </p:spPr>
      </p:pic>
    </p:spTree>
    <p:extLst>
      <p:ext uri="{BB962C8B-B14F-4D97-AF65-F5344CB8AC3E}">
        <p14:creationId xmlns:p14="http://schemas.microsoft.com/office/powerpoint/2010/main" val="176084769"/>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cxnSp>
        <p:nvCxnSpPr>
          <p:cNvPr id="22" name=""/>
          <p:cNvCxnSpPr>
            <a:stCxn xmlns:a="http://schemas.openxmlformats.org/drawingml/2006/main" id="12" idx="3"/>
            <a:endCxn xmlns:a="http://schemas.openxmlformats.org/drawingml/2006/main" id="14" idx="1"/>
          </p:cNvCxnSpPr>
          <p:nvPr/>
        </p:nvCxnSpPr>
        <p:spPr>
          <a:xfrm xmlns:a="http://schemas.openxmlformats.org/drawingml/2006/main">
            <a:off x="7753350" y="5019675"/>
            <a:ext cx="971550" cy="0"/>
          </a:xfrm>
          <a:prstGeom xmlns:a="http://schemas.openxmlformats.org/drawingml/2006/main" prst="straightConnector1">
            <a:avLst/>
          </a:prstGeom>
          <a:ln xmlns:a="http://schemas.openxmlformats.org/drawingml/2006/main" w="15240">
            <a:solidFill>
              <a:srgbClr val="806638"/>
            </a:solidFill>
            <a:tailEnd type="triangle" w="med" len="med"/>
          </a:ln>
        </p:spPr>
      </p:cxnSp>
      <p:cxnSp>
        <p:nvCxnSpPr>
          <p:cNvPr id="23" name=""/>
          <p:cNvCxnSpPr>
            <a:stCxn xmlns:a="http://schemas.openxmlformats.org/drawingml/2006/main" id="12" idx="1"/>
            <a:endCxn xmlns:a="http://schemas.openxmlformats.org/drawingml/2006/main" id="13" idx="3"/>
          </p:cNvCxnSpPr>
          <p:nvPr/>
        </p:nvCxnSpPr>
        <p:spPr>
          <a:xfrm xmlns:a="http://schemas.openxmlformats.org/drawingml/2006/main" flipH="1">
            <a:off x="3543300" y="5019675"/>
            <a:ext cx="971550" cy="0"/>
          </a:xfrm>
          <a:prstGeom xmlns:a="http://schemas.openxmlformats.org/drawingml/2006/main" prst="straightConnector1">
            <a:avLst/>
          </a:prstGeom>
          <a:ln xmlns:a="http://schemas.openxmlformats.org/drawingml/2006/main" w="15240">
            <a:solidFill>
              <a:srgbClr val="806638"/>
            </a:solidFill>
            <a:tailEnd type="triangle" w="med" len="med"/>
          </a:ln>
        </p:spPr>
      </p:cxnSp>
      <p:cxnSp>
        <p:nvCxnSpPr>
          <p:cNvPr id="24" name=""/>
          <p:cNvCxnSpPr>
            <a:stCxn xmlns:a="http://schemas.openxmlformats.org/drawingml/2006/main" id="11" idx="2"/>
            <a:endCxn xmlns:a="http://schemas.openxmlformats.org/drawingml/2006/main" id="12" idx="0"/>
          </p:cNvCxnSpPr>
          <p:nvPr/>
        </p:nvCxnSpPr>
        <p:spPr>
          <a:xfrm xmlns:a="http://schemas.openxmlformats.org/drawingml/2006/main">
            <a:off x="6134100" y="4257675"/>
            <a:ext cx="0" cy="400050"/>
          </a:xfrm>
          <a:prstGeom xmlns:a="http://schemas.openxmlformats.org/drawingml/2006/main" prst="straightConnector1">
            <a:avLst/>
          </a:prstGeom>
          <a:ln xmlns:a="http://schemas.openxmlformats.org/drawingml/2006/main" w="15240">
            <a:solidFill>
              <a:srgbClr val="806638"/>
            </a:solidFill>
            <a:tailEnd type="triangle" w="med" len="med"/>
          </a:ln>
        </p:spPr>
      </p:cxnSp>
      <p:cxnSp>
        <p:nvCxnSpPr>
          <p:cNvPr id="25" name=""/>
          <p:cNvCxnSpPr>
            <a:stCxn xmlns:a="http://schemas.openxmlformats.org/drawingml/2006/main" id="9" idx="2"/>
            <a:endCxn xmlns:a="http://schemas.openxmlformats.org/drawingml/2006/main" id="11" idx="0"/>
          </p:cNvCxnSpPr>
          <p:nvPr/>
        </p:nvCxnSpPr>
        <p:spPr>
          <a:xfrm xmlns:a="http://schemas.openxmlformats.org/drawingml/2006/main">
            <a:off x="6134100" y="3133725"/>
            <a:ext cx="0" cy="400050"/>
          </a:xfrm>
          <a:prstGeom xmlns:a="http://schemas.openxmlformats.org/drawingml/2006/main" prst="straightConnector1">
            <a:avLst/>
          </a:prstGeom>
          <a:ln xmlns:a="http://schemas.openxmlformats.org/drawingml/2006/main" w="15240">
            <a:solidFill>
              <a:srgbClr val="806638"/>
            </a:solidFill>
            <a:tailEnd type="triangle" w="med" len="med"/>
          </a:ln>
        </p:spPr>
      </p:cxnSp>
      <p:cxnSp>
        <p:nvCxnSpPr>
          <p:cNvPr id="26" name=""/>
          <p:cNvCxnSpPr>
            <a:stCxn xmlns:a="http://schemas.openxmlformats.org/drawingml/2006/main" id="10" idx="1"/>
            <a:endCxn xmlns:a="http://schemas.openxmlformats.org/drawingml/2006/main" id="9" idx="3"/>
          </p:cNvCxnSpPr>
          <p:nvPr/>
        </p:nvCxnSpPr>
        <p:spPr>
          <a:xfrm xmlns:a="http://schemas.openxmlformats.org/drawingml/2006/main" flipH="1">
            <a:off x="7753350" y="2771775"/>
            <a:ext cx="971550" cy="0"/>
          </a:xfrm>
          <a:prstGeom xmlns:a="http://schemas.openxmlformats.org/drawingml/2006/main" prst="straightConnector1">
            <a:avLst/>
          </a:prstGeom>
          <a:ln xmlns:a="http://schemas.openxmlformats.org/drawingml/2006/main" w="15240">
            <a:solidFill>
              <a:srgbClr val="806638"/>
            </a:solidFill>
            <a:tailEnd type="triangle" w="med" len="med"/>
          </a:ln>
        </p:spPr>
      </p:cxnSp>
      <p:cxnSp>
        <p:nvCxnSpPr>
          <p:cNvPr id="27" name=""/>
          <p:cNvCxnSpPr>
            <a:stCxn xmlns:a="http://schemas.openxmlformats.org/drawingml/2006/main" id="8" idx="3"/>
            <a:endCxn xmlns:a="http://schemas.openxmlformats.org/drawingml/2006/main" id="9" idx="1"/>
          </p:cNvCxnSpPr>
          <p:nvPr/>
        </p:nvCxnSpPr>
        <p:spPr>
          <a:xfrm xmlns:a="http://schemas.openxmlformats.org/drawingml/2006/main">
            <a:off x="3543300" y="2771775"/>
            <a:ext cx="971550" cy="0"/>
          </a:xfrm>
          <a:prstGeom xmlns:a="http://schemas.openxmlformats.org/drawingml/2006/main" prst="straightConnector1">
            <a:avLst/>
          </a:prstGeom>
          <a:ln xmlns:a="http://schemas.openxmlformats.org/drawingml/2006/main" w="15240">
            <a:solidFill>
              <a:srgbClr val="806638"/>
            </a:solidFill>
            <a:tailEnd type="triangle" w="med" len="med"/>
          </a:ln>
        </p:spPr>
      </p:cxnSp>
      <p:sp>
        <p:nvSpPr>
          <p:cNvPr id="28" name="02 / ARCHITECTURE">
            <a:extLst xmlns:a="http://schemas.openxmlformats.org/drawingml/2006/main">
              <a:ext uri="{FF2B5EF4-FFF2-40B4-BE49-F238E27FC236}">
                <a16:creationId xmlns:a16="http://schemas.microsoft.com/office/drawing/2014/main" id="{57E5834A-FFDC-4192-9759-5A0D9150A7F6}"/>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02 / ARCHITECTURE</a:t>
            </a:r>
          </a:p>
        </p:txBody>
      </p:sp>
      <p:sp>
        <p:nvSpPr>
          <p:cNvPr id="2" name="One enforcement path">
            <a:extLst xmlns:a="http://schemas.openxmlformats.org/drawingml/2006/main">
              <a:ext uri="{FF2B5EF4-FFF2-40B4-BE49-F238E27FC236}">
                <a16:creationId xmlns:a16="http://schemas.microsoft.com/office/drawing/2014/main" id="{CD3F8CDA-A776-4D20-A026-97C3D8587127}"/>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One enforcement path</a:t>
            </a:r>
          </a:p>
        </p:txBody>
      </p:sp>
      <p:sp>
        <p:nvSpPr>
          <p:cNvPr id="3" name="Typographic rule">
            <a:extLst xmlns:a="http://schemas.openxmlformats.org/drawingml/2006/main">
              <a:ext uri="{FF2B5EF4-FFF2-40B4-BE49-F238E27FC236}">
                <a16:creationId xmlns:a16="http://schemas.microsoft.com/office/drawing/2014/main" id="{AEE6A761-46B6-4A88-B379-E7CFA5D3C81D}"/>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3E821AAD-E305-4440-8E7D-1D36B1A9CE97}"/>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D3F70CB5-6F14-45B3-B6B4-D2979F16715B}"/>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2 / 10">
            <a:extLst xmlns:a="http://schemas.openxmlformats.org/drawingml/2006/main">
              <a:ext uri="{FF2B5EF4-FFF2-40B4-BE49-F238E27FC236}">
                <a16:creationId xmlns:a16="http://schemas.microsoft.com/office/drawing/2014/main" id="{EE6A956E-55E5-46BE-9534-BFC9C5EC6E8F}"/>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02 / 10</a:t>
            </a:r>
          </a:p>
        </p:txBody>
      </p:sp>
      <p:sp>
        <p:nvSpPr>
          <p:cNvPr id="7" name="Applications route their AI interactions through the sa">
            <a:extLst xmlns:a="http://schemas.openxmlformats.org/drawingml/2006/main">
              <a:ext uri="{FF2B5EF4-FFF2-40B4-BE49-F238E27FC236}">
                <a16:creationId xmlns:a16="http://schemas.microsoft.com/office/drawing/2014/main" id="{0E93CEB0-A0E6-4E61-99F8-AC394B702519}"/>
              </a:ext>
            </a:extLst>
          </p:cNvPr>
          <p:cNvSpPr>
            <a:spLocks xmlns:a="http://schemas.openxmlformats.org/drawingml/2006/main" noGrp="1"/>
          </p:cNvSpPr>
          <p:nvPr/>
        </p:nvSpPr>
        <p:spPr>
          <a:xfrm xmlns:a="http://schemas.openxmlformats.org/drawingml/2006/main">
            <a:off x="685800" y="173355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556172"/>
                </a:solidFill>
                <a:latin typeface="Nimbus Sans"/>
                <a:ea typeface="Nimbus Sans"/>
                <a:cs typeface="Nimbus Sans"/>
              </a:defRPr>
            </a:pPr>
            <a:r>
              <a:rPr sz="2025" b="0">
                <a:solidFill>
                  <a:srgbClr val="556172"/>
                </a:solidFill>
                <a:latin typeface="Nimbus Sans"/>
                <a:ea typeface="Nimbus Sans"/>
                <a:cs typeface="Nimbus Sans"/>
              </a:rPr>
              <a:t>Applications route their AI interactions through the same gate.</a:t>
            </a:r>
          </a:p>
        </p:txBody>
      </p:sp>
      <p:sp>
        <p:nvSpPr>
          <p:cNvPr id="8" name="Application / agent SDK">
            <a:extLst xmlns:a="http://schemas.openxmlformats.org/drawingml/2006/main">
              <a:ext uri="{FF2B5EF4-FFF2-40B4-BE49-F238E27FC236}">
                <a16:creationId xmlns:a16="http://schemas.microsoft.com/office/drawing/2014/main" id="{D19E6363-2508-4C87-B6B3-320386BF0832}"/>
              </a:ext>
            </a:extLst>
          </p:cNvPr>
          <p:cNvSpPr>
            <a:spLocks xmlns:a="http://schemas.openxmlformats.org/drawingml/2006/main" noGrp="1"/>
          </p:cNvSpPr>
          <p:nvPr/>
        </p:nvSpPr>
        <p:spPr>
          <a:xfrm xmlns:a="http://schemas.openxmlformats.org/drawingml/2006/main">
            <a:off x="685800" y="2409825"/>
            <a:ext cx="28575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Application / agent SDK</a:t>
            </a:r>
          </a:p>
        </p:txBody>
      </p:sp>
      <p:sp>
        <p:nvSpPr>
          <p:cNvPr id="9" name="Authenticated gateway">
            <a:extLst xmlns:a="http://schemas.openxmlformats.org/drawingml/2006/main">
              <a:ext uri="{FF2B5EF4-FFF2-40B4-BE49-F238E27FC236}">
                <a16:creationId xmlns:a16="http://schemas.microsoft.com/office/drawing/2014/main" id="{5804670E-8327-42C3-905B-319E3377A9D6}"/>
              </a:ext>
            </a:extLst>
          </p:cNvPr>
          <p:cNvSpPr>
            <a:spLocks xmlns:a="http://schemas.openxmlformats.org/drawingml/2006/main" noGrp="1"/>
          </p:cNvSpPr>
          <p:nvPr/>
        </p:nvSpPr>
        <p:spPr>
          <a:xfrm xmlns:a="http://schemas.openxmlformats.org/drawingml/2006/main">
            <a:off x="4514850" y="2409825"/>
            <a:ext cx="32385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Authenticated gateway</a:t>
            </a:r>
          </a:p>
        </p:txBody>
      </p:sp>
      <p:sp>
        <p:nvSpPr>
          <p:cNvPr id="10" name="Policy + signature feed">
            <a:extLst xmlns:a="http://schemas.openxmlformats.org/drawingml/2006/main">
              <a:ext uri="{FF2B5EF4-FFF2-40B4-BE49-F238E27FC236}">
                <a16:creationId xmlns:a16="http://schemas.microsoft.com/office/drawing/2014/main" id="{6D4BEAFC-EB8C-453E-8492-0B09507AA9B0}"/>
              </a:ext>
            </a:extLst>
          </p:cNvPr>
          <p:cNvSpPr>
            <a:spLocks xmlns:a="http://schemas.openxmlformats.org/drawingml/2006/main" noGrp="1"/>
          </p:cNvSpPr>
          <p:nvPr/>
        </p:nvSpPr>
        <p:spPr>
          <a:xfrm xmlns:a="http://schemas.openxmlformats.org/drawingml/2006/main">
            <a:off x="8724900" y="2409825"/>
            <a:ext cx="27813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Policy + signature feed</a:t>
            </a:r>
          </a:p>
        </p:txBody>
      </p:sp>
      <p:sp>
        <p:nvSpPr>
          <p:cNvPr id="11" name="Pattern facts +&#10;local classifier">
            <a:extLst xmlns:a="http://schemas.openxmlformats.org/drawingml/2006/main">
              <a:ext uri="{FF2B5EF4-FFF2-40B4-BE49-F238E27FC236}">
                <a16:creationId xmlns:a16="http://schemas.microsoft.com/office/drawing/2014/main" id="{DDDAA6B3-E56F-4241-B152-C7D39E329A49}"/>
              </a:ext>
            </a:extLst>
          </p:cNvPr>
          <p:cNvSpPr>
            <a:spLocks xmlns:a="http://schemas.openxmlformats.org/drawingml/2006/main" noGrp="1"/>
          </p:cNvSpPr>
          <p:nvPr/>
        </p:nvSpPr>
        <p:spPr>
          <a:xfrm xmlns:a="http://schemas.openxmlformats.org/drawingml/2006/main">
            <a:off x="4514850" y="3533775"/>
            <a:ext cx="32385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Pattern facts +</a:t>
            </a:r>
          </a:p>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local classifier</a:t>
            </a:r>
          </a:p>
        </p:txBody>
      </p:sp>
      <p:sp>
        <p:nvSpPr>
          <p:cNvPr id="12" name="Compiled Lean gate&#10;+ budgets">
            <a:extLst xmlns:a="http://schemas.openxmlformats.org/drawingml/2006/main">
              <a:ext uri="{FF2B5EF4-FFF2-40B4-BE49-F238E27FC236}">
                <a16:creationId xmlns:a16="http://schemas.microsoft.com/office/drawing/2014/main" id="{7B42D232-4447-4DD6-BE26-9669EC5660A2}"/>
              </a:ext>
            </a:extLst>
          </p:cNvPr>
          <p:cNvSpPr>
            <a:spLocks xmlns:a="http://schemas.openxmlformats.org/drawingml/2006/main" noGrp="1"/>
          </p:cNvSpPr>
          <p:nvPr/>
        </p:nvSpPr>
        <p:spPr>
          <a:xfrm xmlns:a="http://schemas.openxmlformats.org/drawingml/2006/main">
            <a:off x="4514850" y="4657725"/>
            <a:ext cx="3238500" cy="723900"/>
          </a:xfrm>
          <a:prstGeom xmlns:a="http://schemas.openxmlformats.org/drawingml/2006/main" prst="rect">
            <a:avLst/>
          </a:prstGeom>
          <a:solidFill xmlns:a="http://schemas.openxmlformats.org/drawingml/2006/main">
            <a:srgbClr val="101D32"/>
          </a:solidFill>
          <a:ln xmlns:a="http://schemas.openxmlformats.org/drawingml/2006/main" w="9525">
            <a:solidFill>
              <a:srgbClr val="101D3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1">
                <a:solidFill>
                  <a:srgbClr val="F6F4ED"/>
                </a:solidFill>
                <a:latin typeface="Nimbus Sans"/>
                <a:ea typeface="Nimbus Sans"/>
                <a:cs typeface="Nimbus Sans"/>
              </a:defRPr>
            </a:pPr>
            <a:r>
              <a:rPr sz="1875" b="1">
                <a:solidFill>
                  <a:srgbClr val="F6F4ED"/>
                </a:solidFill>
                <a:latin typeface="Nimbus Sans"/>
                <a:ea typeface="Nimbus Sans"/>
                <a:cs typeface="Nimbus Sans"/>
              </a:rPr>
              <a:t>Compiled Lean gate</a:t>
            </a:r>
          </a:p>
          <a:p xmlns:a="http://schemas.openxmlformats.org/drawingml/2006/main">
            <a:pPr algn="ctr">
              <a:defRPr sz="1875" b="1">
                <a:solidFill>
                  <a:srgbClr val="F6F4ED"/>
                </a:solidFill>
                <a:latin typeface="Nimbus Sans"/>
                <a:ea typeface="Nimbus Sans"/>
                <a:cs typeface="Nimbus Sans"/>
              </a:defRPr>
            </a:pPr>
            <a:r>
              <a:rPr sz="1875" b="1">
                <a:solidFill>
                  <a:srgbClr val="F6F4ED"/>
                </a:solidFill>
                <a:latin typeface="Nimbus Sans"/>
                <a:ea typeface="Nimbus Sans"/>
                <a:cs typeface="Nimbus Sans"/>
              </a:rPr>
              <a:t>+ budgets</a:t>
            </a:r>
          </a:p>
        </p:txBody>
      </p:sp>
      <p:sp>
        <p:nvSpPr>
          <p:cNvPr id="13" name="Ledger demonstrator">
            <a:extLst xmlns:a="http://schemas.openxmlformats.org/drawingml/2006/main">
              <a:ext uri="{FF2B5EF4-FFF2-40B4-BE49-F238E27FC236}">
                <a16:creationId xmlns:a16="http://schemas.microsoft.com/office/drawing/2014/main" id="{DD186839-C196-4217-BBB7-1E53375D34A1}"/>
              </a:ext>
            </a:extLst>
          </p:cNvPr>
          <p:cNvSpPr>
            <a:spLocks xmlns:a="http://schemas.openxmlformats.org/drawingml/2006/main" noGrp="1"/>
          </p:cNvSpPr>
          <p:nvPr/>
        </p:nvSpPr>
        <p:spPr>
          <a:xfrm xmlns:a="http://schemas.openxmlformats.org/drawingml/2006/main">
            <a:off x="685800" y="4657725"/>
            <a:ext cx="28575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Ledger demonstrator</a:t>
            </a:r>
          </a:p>
        </p:txBody>
      </p:sp>
      <p:sp>
        <p:nvSpPr>
          <p:cNvPr id="14" name="Model / SDK delivery">
            <a:extLst xmlns:a="http://schemas.openxmlformats.org/drawingml/2006/main">
              <a:ext uri="{FF2B5EF4-FFF2-40B4-BE49-F238E27FC236}">
                <a16:creationId xmlns:a16="http://schemas.microsoft.com/office/drawing/2014/main" id="{5B8275A1-5C26-4D87-BA4E-B3B10D1626D7}"/>
              </a:ext>
            </a:extLst>
          </p:cNvPr>
          <p:cNvSpPr>
            <a:spLocks xmlns:a="http://schemas.openxmlformats.org/drawingml/2006/main" noGrp="1"/>
          </p:cNvSpPr>
          <p:nvPr/>
        </p:nvSpPr>
        <p:spPr>
          <a:xfrm xmlns:a="http://schemas.openxmlformats.org/drawingml/2006/main">
            <a:off x="8724900" y="4657725"/>
            <a:ext cx="2781300" cy="723900"/>
          </a:xfrm>
          <a:prstGeom xmlns:a="http://schemas.openxmlformats.org/drawingml/2006/main" prst="rect">
            <a:avLst/>
          </a:prstGeom>
          <a:solidFill xmlns:a="http://schemas.openxmlformats.org/drawingml/2006/main">
            <a:srgbClr val="F6F4ED"/>
          </a:solidFill>
          <a:ln xmlns:a="http://schemas.openxmlformats.org/drawingml/2006/main" w="9525">
            <a:solidFill>
              <a:srgbClr val="9BA5B2"/>
            </a:solidFill>
          </a:ln>
        </p:spPr>
        <p:txBody>
          <a:bodyPr xmlns:a="http://schemas.openxmlformats.org/drawingml/2006/main" lIns="76200" tIns="47625" rIns="76200" bIns="47625" anchor="ctr">
            <a:noAutofit/>
          </a:bodyPr>
          <a:lstStyle xmlns:a="http://schemas.openxmlformats.org/drawingml/2006/main"/>
          <a:p xmlns:a="http://schemas.openxmlformats.org/drawingml/2006/main">
            <a:pPr algn="ctr">
              <a:defRPr sz="1875" b="0">
                <a:solidFill>
                  <a:srgbClr val="101D32"/>
                </a:solidFill>
                <a:latin typeface="Nimbus Sans"/>
                <a:ea typeface="Nimbus Sans"/>
                <a:cs typeface="Nimbus Sans"/>
              </a:defRPr>
            </a:pPr>
            <a:r>
              <a:rPr sz="1875" b="0">
                <a:solidFill>
                  <a:srgbClr val="101D32"/>
                </a:solidFill>
                <a:latin typeface="Nimbus Sans"/>
                <a:ea typeface="Nimbus Sans"/>
                <a:cs typeface="Nimbus Sans"/>
              </a:rPr>
              <a:t>Model / SDK delivery</a:t>
            </a:r>
          </a:p>
        </p:txBody>
      </p:sp>
      <p:sp>
        <p:nvSpPr>
          <p:cNvPr id="21" name="Sanitized decisions and resources feed the dashboard an">
            <a:extLst xmlns:a="http://schemas.openxmlformats.org/drawingml/2006/main">
              <a:ext uri="{FF2B5EF4-FFF2-40B4-BE49-F238E27FC236}">
                <a16:creationId xmlns:a16="http://schemas.microsoft.com/office/drawing/2014/main" id="{169FF7F1-D981-45DC-854D-B1088B4DB285}"/>
              </a:ext>
            </a:extLst>
          </p:cNvPr>
          <p:cNvSpPr>
            <a:spLocks xmlns:a="http://schemas.openxmlformats.org/drawingml/2006/main" noGrp="1"/>
          </p:cNvSpPr>
          <p:nvPr/>
        </p:nvSpPr>
        <p:spPr>
          <a:xfrm xmlns:a="http://schemas.openxmlformats.org/drawingml/2006/main">
            <a:off x="685800" y="57531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56172"/>
                </a:solidFill>
                <a:latin typeface="Nimbus Sans"/>
                <a:ea typeface="Nimbus Sans"/>
                <a:cs typeface="Nimbus Sans"/>
              </a:defRPr>
            </a:pPr>
            <a:r>
              <a:rPr sz="1725" b="0">
                <a:solidFill>
                  <a:srgbClr val="556172"/>
                </a:solidFill>
                <a:latin typeface="Nimbus Sans"/>
                <a:ea typeface="Nimbus Sans"/>
                <a:cs typeface="Nimbus Sans"/>
              </a:rPr>
              <a:t>Sanitized decisions and resources feed the dashboard and audit export.</a:t>
            </a:r>
          </a:p>
        </p:txBody>
      </p:sp>
    </p:spTree>
    <p:extLst>
      <p:ext uri="{BB962C8B-B14F-4D97-AF65-F5344CB8AC3E}">
        <p14:creationId xmlns:p14="http://schemas.microsoft.com/office/powerpoint/2010/main" val="1005942301"/>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6" name="03 / DECISION KERNEL">
            <a:extLst xmlns:a="http://schemas.openxmlformats.org/drawingml/2006/main">
              <a:ext uri="{FF2B5EF4-FFF2-40B4-BE49-F238E27FC236}">
                <a16:creationId xmlns:a16="http://schemas.microsoft.com/office/drawing/2014/main" id="{AB5C1AAF-57F9-4420-B0D3-7D113574985A}"/>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03 / DECISION KERNEL</a:t>
            </a:r>
          </a:p>
        </p:txBody>
      </p:sp>
      <p:sp>
        <p:nvSpPr>
          <p:cNvPr id="2" name="Hard restrictions remain in force">
            <a:extLst xmlns:a="http://schemas.openxmlformats.org/drawingml/2006/main">
              <a:ext uri="{FF2B5EF4-FFF2-40B4-BE49-F238E27FC236}">
                <a16:creationId xmlns:a16="http://schemas.microsoft.com/office/drawing/2014/main" id="{4CF6A235-4A71-41F0-B31A-30B5949137FB}"/>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Hard restrictions remain in force</a:t>
            </a:r>
          </a:p>
        </p:txBody>
      </p:sp>
      <p:sp>
        <p:nvSpPr>
          <p:cNvPr id="3" name="Typographic rule">
            <a:extLst xmlns:a="http://schemas.openxmlformats.org/drawingml/2006/main">
              <a:ext uri="{FF2B5EF4-FFF2-40B4-BE49-F238E27FC236}">
                <a16:creationId xmlns:a16="http://schemas.microsoft.com/office/drawing/2014/main" id="{A612B017-BCF6-4F65-A4E0-6772CA0D140C}"/>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6FF8F770-BA8F-4E08-B7C9-85D8CB1D25F8}"/>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961271EC-D72E-419E-9465-ED0E7FD854E0}"/>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3 / 10">
            <a:extLst xmlns:a="http://schemas.openxmlformats.org/drawingml/2006/main">
              <a:ext uri="{FF2B5EF4-FFF2-40B4-BE49-F238E27FC236}">
                <a16:creationId xmlns:a16="http://schemas.microsoft.com/office/drawing/2014/main" id="{6428CCDD-55DE-48B4-A9D2-64C4BB397A9B}"/>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03 / 10</a:t>
            </a:r>
          </a:p>
        </p:txBody>
      </p:sp>
      <p:sp>
        <p:nvSpPr>
          <p:cNvPr id="7" name="A semantic “safe” result cannot override a deterministi">
            <a:extLst xmlns:a="http://schemas.openxmlformats.org/drawingml/2006/main">
              <a:ext uri="{FF2B5EF4-FFF2-40B4-BE49-F238E27FC236}">
                <a16:creationId xmlns:a16="http://schemas.microsoft.com/office/drawing/2014/main" id="{AFC792B6-AAB3-43EF-A79D-B1F808963D64}"/>
              </a:ext>
            </a:extLst>
          </p:cNvPr>
          <p:cNvSpPr>
            <a:spLocks xmlns:a="http://schemas.openxmlformats.org/drawingml/2006/main" noGrp="1"/>
          </p:cNvSpPr>
          <p:nvPr/>
        </p:nvSpPr>
        <p:spPr>
          <a:xfrm xmlns:a="http://schemas.openxmlformats.org/drawingml/2006/main">
            <a:off x="685800" y="17335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556172"/>
                </a:solidFill>
                <a:latin typeface="Nimbus Sans"/>
                <a:ea typeface="Nimbus Sans"/>
                <a:cs typeface="Nimbus Sans"/>
              </a:defRPr>
            </a:pPr>
            <a:r>
              <a:rPr sz="2025" b="0">
                <a:solidFill>
                  <a:srgbClr val="556172"/>
                </a:solidFill>
                <a:latin typeface="Nimbus Sans"/>
                <a:ea typeface="Nimbus Sans"/>
                <a:cs typeface="Nimbus Sans"/>
              </a:rPr>
              <a:t>A semantic “safe” result cannot override a deterministic denial.</a:t>
            </a:r>
          </a:p>
        </p:txBody>
      </p:sp>
      <p:graphicFrame>
        <p:nvGraphicFramePr>
          <p:cNvPr id="23" name=""/>
          <p:cNvGraphicFramePr/>
          <p:nvPr/>
        </p:nvGraphicFramePr>
        <p:xfrm>
          <a:off xmlns:a="http://schemas.openxmlformats.org/drawingml/2006/main" x="685800" y="2247900"/>
          <a:ext xmlns:a="http://schemas.openxmlformats.org/drawingml/2006/main" cx="10820400" cy="2952750"/>
        </p:xfrm>
        <a:graphic xmlns:a="http://schemas.openxmlformats.org/drawingml/2006/main">
          <a:graphicData uri="http://schemas.openxmlformats.org/drawingml/2006/table">
            <a:tbl>
              <a:tblPr/>
              <a:tblGrid>
                <a:gridCol w="4076700"/>
                <a:gridCol w="3390900"/>
                <a:gridCol w="3352800"/>
              </a:tblGrid>
              <a:tr h="590550">
                <a:tc>
                  <a:txBody>
                    <a:bodyPr lIns="0" tIns="0" rIns="190500" bIns="0">
                      <a:noAutofit/>
                    </a:bodyPr>
                    <a:lstStyle/>
                    <a:p>
                      <a:pPr algn="l"/>
                      <a:r>
                        <a:rPr sz="1500" b="1">
                          <a:solidFill>
                            <a:srgbClr val="806638"/>
                          </a:solidFill>
                          <a:latin typeface="Nimbus Sans"/>
                          <a:ea typeface="Nimbus Sans"/>
                          <a:cs typeface="Nimbus Sans"/>
                        </a:rPr>
                        <a:t>DETERMINISTIC FACTS</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500" b="1">
                          <a:solidFill>
                            <a:srgbClr val="806638"/>
                          </a:solidFill>
                          <a:latin typeface="Nimbus Sans"/>
                          <a:ea typeface="Nimbus Sans"/>
                          <a:cs typeface="Nimbus Sans"/>
                        </a:rPr>
                        <a:t>SEMANTIC RESULT</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500" b="1">
                          <a:solidFill>
                            <a:srgbClr val="806638"/>
                          </a:solidFill>
                          <a:latin typeface="Nimbus Sans"/>
                          <a:ea typeface="Nimbus Sans"/>
                          <a:cs typeface="Nimbus Sans"/>
                        </a:rPr>
                        <a:t>FINAL ADMISSION</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590550">
                <a:tc>
                  <a:txBody>
                    <a:bodyPr lIns="0" tIns="0" rIns="190500" bIns="0">
                      <a:noAutofit/>
                    </a:bodyPr>
                    <a:lstStyle/>
                    <a:p>
                      <a:pPr algn="l"/>
                      <a:r>
                        <a:rPr sz="1875" b="0">
                          <a:solidFill>
                            <a:srgbClr val="101D32"/>
                          </a:solidFill>
                          <a:latin typeface="Nimbus Sans"/>
                          <a:ea typeface="Nimbus Sans"/>
                          <a:cs typeface="Nimbus Sans"/>
                        </a:rPr>
                        <a:t>Signature matched</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Safe / allow</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1">
                          <a:solidFill>
                            <a:srgbClr val="101D32"/>
                          </a:solidFill>
                          <a:latin typeface="Nimbus Sans"/>
                          <a:ea typeface="Nimbus Sans"/>
                          <a:cs typeface="Nimbus Sans"/>
                        </a:rPr>
                        <a:t>Denied</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590550">
                <a:tc>
                  <a:txBody>
                    <a:bodyPr lIns="0" tIns="0" rIns="190500" bIns="0">
                      <a:noAutofit/>
                    </a:bodyPr>
                    <a:lstStyle/>
                    <a:p>
                      <a:pPr algn="l"/>
                      <a:r>
                        <a:rPr sz="1875" b="0">
                          <a:solidFill>
                            <a:srgbClr val="101D32"/>
                          </a:solidFill>
                          <a:latin typeface="Nimbus Sans"/>
                          <a:ea typeface="Nimbus Sans"/>
                          <a:cs typeface="Nimbus Sans"/>
                        </a:rPr>
                        <a:t>Tool outside allowlist</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Safe / allow</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1">
                          <a:solidFill>
                            <a:srgbClr val="101D32"/>
                          </a:solidFill>
                          <a:latin typeface="Nimbus Sans"/>
                          <a:ea typeface="Nimbus Sans"/>
                          <a:cs typeface="Nimbus Sans"/>
                        </a:rPr>
                        <a:t>Denied</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590550">
                <a:tc>
                  <a:txBody>
                    <a:bodyPr lIns="0" tIns="0" rIns="190500" bIns="0">
                      <a:noAutofit/>
                    </a:bodyPr>
                    <a:lstStyle/>
                    <a:p>
                      <a:pPr algn="l"/>
                      <a:r>
                        <a:rPr sz="1875" b="0">
                          <a:solidFill>
                            <a:srgbClr val="101D32"/>
                          </a:solidFill>
                          <a:latin typeface="Nimbus Sans"/>
                          <a:ea typeface="Nimbus Sans"/>
                          <a:cs typeface="Nimbus Sans"/>
                        </a:rPr>
                        <a:t>No hard restriction</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At or above block threshold</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1">
                          <a:solidFill>
                            <a:srgbClr val="101D32"/>
                          </a:solidFill>
                          <a:latin typeface="Nimbus Sans"/>
                          <a:ea typeface="Nimbus Sans"/>
                          <a:cs typeface="Nimbus Sans"/>
                        </a:rPr>
                        <a:t>Denied + review</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590550">
                <a:tc>
                  <a:txBody>
                    <a:bodyPr lIns="0" tIns="0" rIns="190500" bIns="0">
                      <a:noAutofit/>
                    </a:bodyPr>
                    <a:lstStyle/>
                    <a:p>
                      <a:pPr algn="l"/>
                      <a:r>
                        <a:rPr sz="1875" b="0">
                          <a:solidFill>
                            <a:srgbClr val="101D32"/>
                          </a:solidFill>
                          <a:latin typeface="Nimbus Sans"/>
                          <a:ea typeface="Nimbus Sans"/>
                          <a:cs typeface="Nimbus Sans"/>
                        </a:rPr>
                        <a:t>Classifier unavailable</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Balanced policy</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1">
                          <a:solidFill>
                            <a:srgbClr val="101D32"/>
                          </a:solidFill>
                          <a:latin typeface="Nimbus Sans"/>
                          <a:ea typeface="Nimbus Sans"/>
                          <a:cs typeface="Nimbus Sans"/>
                        </a:rPr>
                        <a:t>Review, no dispatch</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9" name="Typographic rule">
            <a:extLst xmlns:a="http://schemas.openxmlformats.org/drawingml/2006/main">
              <a:ext uri="{FF2B5EF4-FFF2-40B4-BE49-F238E27FC236}">
                <a16:creationId xmlns:a16="http://schemas.microsoft.com/office/drawing/2014/main" id="{950DFF30-8FF7-494A-8F4A-7B6CADB4DC98}"/>
              </a:ext>
            </a:extLst>
          </p:cNvPr>
          <p:cNvSpPr>
            <a:spLocks xmlns:a="http://schemas.openxmlformats.org/drawingml/2006/main" noGrp="1"/>
          </p:cNvSpPr>
          <p:nvPr/>
        </p:nvSpPr>
        <p:spPr>
          <a:xfrm xmlns:a="http://schemas.openxmlformats.org/drawingml/2006/main">
            <a:off x="685800" y="2838450"/>
            <a:ext cx="10820400" cy="0"/>
          </a:xfrm>
          <a:prstGeom xmlns:a="http://schemas.openxmlformats.org/drawingml/2006/main" prst="line">
            <a:avLst/>
          </a:prstGeom>
          <a:noFill xmlns:a="http://schemas.openxmlformats.org/drawingml/2006/main"/>
          <a:ln xmlns:a="http://schemas.openxmlformats.org/drawingml/2006/main" w="12383">
            <a:solidFill>
              <a:srgbClr val="9B814F"/>
            </a:solidFill>
          </a:ln>
        </p:spPr>
      </p:sp>
      <p:sp>
        <p:nvSpPr>
          <p:cNvPr id="10" name="Typographic rule">
            <a:extLst xmlns:a="http://schemas.openxmlformats.org/drawingml/2006/main">
              <a:ext uri="{FF2B5EF4-FFF2-40B4-BE49-F238E27FC236}">
                <a16:creationId xmlns:a16="http://schemas.microsoft.com/office/drawing/2014/main" id="{EB835C25-F0D1-424F-BBC6-6CBC2E3DA9AF}"/>
              </a:ext>
            </a:extLst>
          </p:cNvPr>
          <p:cNvSpPr>
            <a:spLocks xmlns:a="http://schemas.openxmlformats.org/drawingml/2006/main" noGrp="1"/>
          </p:cNvSpPr>
          <p:nvPr/>
        </p:nvSpPr>
        <p:spPr>
          <a:xfrm xmlns:a="http://schemas.openxmlformats.org/drawingml/2006/main">
            <a:off x="685800" y="342900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1" name="Typographic rule">
            <a:extLst xmlns:a="http://schemas.openxmlformats.org/drawingml/2006/main">
              <a:ext uri="{FF2B5EF4-FFF2-40B4-BE49-F238E27FC236}">
                <a16:creationId xmlns:a16="http://schemas.microsoft.com/office/drawing/2014/main" id="{139C2624-1FB2-4636-A996-C6A61E705A4B}"/>
              </a:ext>
            </a:extLst>
          </p:cNvPr>
          <p:cNvSpPr>
            <a:spLocks xmlns:a="http://schemas.openxmlformats.org/drawingml/2006/main" noGrp="1"/>
          </p:cNvSpPr>
          <p:nvPr/>
        </p:nvSpPr>
        <p:spPr>
          <a:xfrm xmlns:a="http://schemas.openxmlformats.org/drawingml/2006/main">
            <a:off x="685800" y="401955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2" name="Typographic rule">
            <a:extLst xmlns:a="http://schemas.openxmlformats.org/drawingml/2006/main">
              <a:ext uri="{FF2B5EF4-FFF2-40B4-BE49-F238E27FC236}">
                <a16:creationId xmlns:a16="http://schemas.microsoft.com/office/drawing/2014/main" id="{F6C0940F-24BC-412E-BB35-C4A7ABEB1493}"/>
              </a:ext>
            </a:extLst>
          </p:cNvPr>
          <p:cNvSpPr>
            <a:spLocks xmlns:a="http://schemas.openxmlformats.org/drawingml/2006/main" noGrp="1"/>
          </p:cNvSpPr>
          <p:nvPr/>
        </p:nvSpPr>
        <p:spPr>
          <a:xfrm xmlns:a="http://schemas.openxmlformats.org/drawingml/2006/main">
            <a:off x="685800" y="461010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3" name="Typographic rule">
            <a:extLst xmlns:a="http://schemas.openxmlformats.org/drawingml/2006/main">
              <a:ext uri="{FF2B5EF4-FFF2-40B4-BE49-F238E27FC236}">
                <a16:creationId xmlns:a16="http://schemas.microsoft.com/office/drawing/2014/main" id="{12652EAA-6350-4F51-84D9-70EB91E97575}"/>
              </a:ext>
            </a:extLst>
          </p:cNvPr>
          <p:cNvSpPr>
            <a:spLocks xmlns:a="http://schemas.openxmlformats.org/drawingml/2006/main" noGrp="1"/>
          </p:cNvSpPr>
          <p:nvPr/>
        </p:nvSpPr>
        <p:spPr>
          <a:xfrm xmlns:a="http://schemas.openxmlformats.org/drawingml/2006/main">
            <a:off x="685800" y="520065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4" name="Deny, review and redact flags combine by union.">
            <a:extLst xmlns:a="http://schemas.openxmlformats.org/drawingml/2006/main">
              <a:ext uri="{FF2B5EF4-FFF2-40B4-BE49-F238E27FC236}">
                <a16:creationId xmlns:a16="http://schemas.microsoft.com/office/drawing/2014/main" id="{9EC87411-3FA0-416F-BD6B-B6F2A4A3B51A}"/>
              </a:ext>
            </a:extLst>
          </p:cNvPr>
          <p:cNvSpPr>
            <a:spLocks xmlns:a="http://schemas.openxmlformats.org/drawingml/2006/main" noGrp="1"/>
          </p:cNvSpPr>
          <p:nvPr/>
        </p:nvSpPr>
        <p:spPr>
          <a:xfrm xmlns:a="http://schemas.openxmlformats.org/drawingml/2006/main">
            <a:off x="685800" y="53816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101D32"/>
                </a:solidFill>
                <a:latin typeface="Nimbus Sans"/>
                <a:ea typeface="Nimbus Sans"/>
                <a:cs typeface="Nimbus Sans"/>
              </a:defRPr>
            </a:pPr>
            <a:r>
              <a:rPr sz="2100" b="1">
                <a:solidFill>
                  <a:srgbClr val="101D32"/>
                </a:solidFill>
                <a:latin typeface="Nimbus Sans"/>
                <a:ea typeface="Nimbus Sans"/>
                <a:cs typeface="Nimbus Sans"/>
              </a:rPr>
              <a:t>Deny, review and redact flags combine by union.</a:t>
            </a:r>
          </a:p>
        </p:txBody>
      </p:sp>
      <p:sp>
        <p:nvSpPr>
          <p:cNvPr id="15" name="Proofs cover rule composition. Detector completeness re">
            <a:extLst xmlns:a="http://schemas.openxmlformats.org/drawingml/2006/main">
              <a:ext uri="{FF2B5EF4-FFF2-40B4-BE49-F238E27FC236}">
                <a16:creationId xmlns:a16="http://schemas.microsoft.com/office/drawing/2014/main" id="{E827A73F-A215-44B3-8141-15ED8ECB096B}"/>
              </a:ext>
            </a:extLst>
          </p:cNvPr>
          <p:cNvSpPr>
            <a:spLocks xmlns:a="http://schemas.openxmlformats.org/drawingml/2006/main" noGrp="1"/>
          </p:cNvSpPr>
          <p:nvPr/>
        </p:nvSpPr>
        <p:spPr>
          <a:xfrm xmlns:a="http://schemas.openxmlformats.org/drawingml/2006/main">
            <a:off x="685800" y="58007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56172"/>
                </a:solidFill>
                <a:latin typeface="Nimbus Sans"/>
                <a:ea typeface="Nimbus Sans"/>
                <a:cs typeface="Nimbus Sans"/>
              </a:defRPr>
            </a:pPr>
            <a:r>
              <a:rPr sz="1650" b="0">
                <a:solidFill>
                  <a:srgbClr val="556172"/>
                </a:solidFill>
                <a:latin typeface="Nimbus Sans"/>
                <a:ea typeface="Nimbus Sans"/>
                <a:cs typeface="Nimbus Sans"/>
              </a:rPr>
              <a:t>Proofs cover rule composition. Detector completeness remains empirical.</a:t>
            </a:r>
          </a:p>
        </p:txBody>
      </p:sp>
    </p:spTree>
    <p:extLst>
      <p:ext uri="{BB962C8B-B14F-4D97-AF65-F5344CB8AC3E}">
        <p14:creationId xmlns:p14="http://schemas.microsoft.com/office/powerpoint/2010/main" val="522978397"/>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04 / LIVE POLICY">
            <a:extLst xmlns:a="http://schemas.openxmlformats.org/drawingml/2006/main">
              <a:ext uri="{FF2B5EF4-FFF2-40B4-BE49-F238E27FC236}">
                <a16:creationId xmlns:a16="http://schemas.microsoft.com/office/drawing/2014/main" id="{A1E77B9C-8690-4421-ADEE-3A193D422AA5}"/>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04 / LIVE POLICY</a:t>
            </a:r>
          </a:p>
        </p:txBody>
      </p:sp>
      <p:sp>
        <p:nvSpPr>
          <p:cNvPr id="2" name="Live policy and signature edits">
            <a:extLst xmlns:a="http://schemas.openxmlformats.org/drawingml/2006/main">
              <a:ext uri="{FF2B5EF4-FFF2-40B4-BE49-F238E27FC236}">
                <a16:creationId xmlns:a16="http://schemas.microsoft.com/office/drawing/2014/main" id="{11A3E276-451E-44EF-9FCD-DDF2ADA028EE}"/>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Live policy and signature edits</a:t>
            </a:r>
          </a:p>
        </p:txBody>
      </p:sp>
      <p:sp>
        <p:nvSpPr>
          <p:cNvPr id="3" name="Typographic rule">
            <a:extLst xmlns:a="http://schemas.openxmlformats.org/drawingml/2006/main">
              <a:ext uri="{FF2B5EF4-FFF2-40B4-BE49-F238E27FC236}">
                <a16:creationId xmlns:a16="http://schemas.microsoft.com/office/drawing/2014/main" id="{97DAD4A1-96E0-4090-B56E-6387353FEFFB}"/>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A285F792-F11B-443C-93C6-D199A0AF13CB}"/>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98DC4673-5DA1-4C69-B7CC-94283D7D0A4C}"/>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4 / 10">
            <a:extLst xmlns:a="http://schemas.openxmlformats.org/drawingml/2006/main">
              <a:ext uri="{FF2B5EF4-FFF2-40B4-BE49-F238E27FC236}">
                <a16:creationId xmlns:a16="http://schemas.microsoft.com/office/drawing/2014/main" id="{7458C912-A8EE-488F-A117-8EB629DD5A4A}"/>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04 / 10</a:t>
            </a:r>
          </a:p>
        </p:txBody>
      </p:sp>
      <p:sp>
        <p:nvSpPr>
          <p:cNvPr id="7" name="Observed through the public HTTP rehearsal with fixture">
            <a:extLst xmlns:a="http://schemas.openxmlformats.org/drawingml/2006/main">
              <a:ext uri="{FF2B5EF4-FFF2-40B4-BE49-F238E27FC236}">
                <a16:creationId xmlns:a16="http://schemas.microsoft.com/office/drawing/2014/main" id="{395F49B4-03A1-412B-9E1B-DEBBA1F5ED92}"/>
              </a:ext>
            </a:extLst>
          </p:cNvPr>
          <p:cNvSpPr>
            <a:spLocks xmlns:a="http://schemas.openxmlformats.org/drawingml/2006/main" noGrp="1"/>
          </p:cNvSpPr>
          <p:nvPr/>
        </p:nvSpPr>
        <p:spPr>
          <a:xfrm xmlns:a="http://schemas.openxmlformats.org/drawingml/2006/main">
            <a:off x="685800" y="17335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556172"/>
                </a:solidFill>
                <a:latin typeface="Nimbus Sans"/>
                <a:ea typeface="Nimbus Sans"/>
                <a:cs typeface="Nimbus Sans"/>
              </a:defRPr>
            </a:pPr>
            <a:r>
              <a:rPr sz="2025" b="0">
                <a:solidFill>
                  <a:srgbClr val="556172"/>
                </a:solidFill>
                <a:latin typeface="Nimbus Sans"/>
                <a:ea typeface="Nimbus Sans"/>
                <a:cs typeface="Nimbus Sans"/>
              </a:rPr>
              <a:t>Observed through the public HTTP rehearsal with fixture verdicts.</a:t>
            </a:r>
          </a:p>
        </p:txBody>
      </p:sp>
      <p:graphicFrame>
        <p:nvGraphicFramePr>
          <p:cNvPr id="22" name=""/>
          <p:cNvGraphicFramePr/>
          <p:nvPr/>
        </p:nvGraphicFramePr>
        <p:xfrm>
          <a:off xmlns:a="http://schemas.openxmlformats.org/drawingml/2006/main" x="685800" y="2286000"/>
          <a:ext xmlns:a="http://schemas.openxmlformats.org/drawingml/2006/main" cx="10820400" cy="3095625"/>
        </p:xfrm>
        <a:graphic xmlns:a="http://schemas.openxmlformats.org/drawingml/2006/main">
          <a:graphicData uri="http://schemas.openxmlformats.org/drawingml/2006/table">
            <a:tbl>
              <a:tblPr/>
              <a:tblGrid>
                <a:gridCol w="4762500"/>
                <a:gridCol w="2286000"/>
                <a:gridCol w="3771900"/>
              </a:tblGrid>
              <a:tr h="619125">
                <a:tc>
                  <a:txBody>
                    <a:bodyPr lIns="0" tIns="0" rIns="190500" bIns="0">
                      <a:noAutofit/>
                    </a:bodyPr>
                    <a:lstStyle/>
                    <a:p>
                      <a:pPr algn="l"/>
                      <a:r>
                        <a:rPr sz="1500" b="1">
                          <a:solidFill>
                            <a:srgbClr val="806638"/>
                          </a:solidFill>
                          <a:latin typeface="Nimbus Sans"/>
                          <a:ea typeface="Nimbus Sans"/>
                          <a:cs typeface="Nimbus Sans"/>
                        </a:rPr>
                        <a:t>HTTP REHEARSAL</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500" b="1">
                          <a:solidFill>
                            <a:srgbClr val="806638"/>
                          </a:solidFill>
                          <a:latin typeface="Nimbus Sans"/>
                          <a:ea typeface="Nimbus Sans"/>
                          <a:cs typeface="Nimbus Sans"/>
                        </a:rPr>
                        <a:t>ACTIVE VERSION</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500" b="1">
                          <a:solidFill>
                            <a:srgbClr val="806638"/>
                          </a:solidFill>
                          <a:latin typeface="Nimbus Sans"/>
                          <a:ea typeface="Nimbus Sans"/>
                          <a:cs typeface="Nimbus Sans"/>
                        </a:rPr>
                        <a:t>RESULT</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Add a synthetic signature</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Feed 2</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0">
                          <a:solidFill>
                            <a:srgbClr val="101D32"/>
                          </a:solidFill>
                          <a:latin typeface="Nimbus Sans"/>
                          <a:ea typeface="Nimbus Sans"/>
                          <a:cs typeface="Nimbus Sans"/>
                        </a:rPr>
                        <a:t>Matching content blocked</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Remove that signature</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Feed 3</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0">
                          <a:solidFill>
                            <a:srgbClr val="101D32"/>
                          </a:solidFill>
                          <a:latin typeface="Nimbus Sans"/>
                          <a:ea typeface="Nimbus Sans"/>
                          <a:cs typeface="Nimbus Sans"/>
                        </a:rPr>
                        <a:t>Same content allowed</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Tighten PII handling</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Policy 8</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0">
                          <a:solidFill>
                            <a:srgbClr val="101D32"/>
                          </a:solidFill>
                          <a:latin typeface="Nimbus Sans"/>
                          <a:ea typeface="Nimbus Sans"/>
                          <a:cs typeface="Nimbus Sans"/>
                        </a:rPr>
                        <a:t>Email now blocked</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Submit invalid policy JSON</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75" b="0">
                          <a:solidFill>
                            <a:srgbClr val="101D32"/>
                          </a:solidFill>
                          <a:latin typeface="Nimbus Sans"/>
                          <a:ea typeface="Nimbus Sans"/>
                          <a:cs typeface="Nimbus Sans"/>
                        </a:rPr>
                        <a:t>Policy 8 retained</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75" b="0">
                          <a:solidFill>
                            <a:srgbClr val="101D32"/>
                          </a:solidFill>
                          <a:latin typeface="Nimbus Sans"/>
                          <a:ea typeface="Nimbus Sans"/>
                          <a:cs typeface="Nimbus Sans"/>
                        </a:rPr>
                        <a:t>Last valid policy kept</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9" name="Typographic rule">
            <a:extLst xmlns:a="http://schemas.openxmlformats.org/drawingml/2006/main">
              <a:ext uri="{FF2B5EF4-FFF2-40B4-BE49-F238E27FC236}">
                <a16:creationId xmlns:a16="http://schemas.microsoft.com/office/drawing/2014/main" id="{C88AF86D-2857-45EC-AE8D-628AA6A9F706}"/>
              </a:ext>
            </a:extLst>
          </p:cNvPr>
          <p:cNvSpPr>
            <a:spLocks xmlns:a="http://schemas.openxmlformats.org/drawingml/2006/main" noGrp="1"/>
          </p:cNvSpPr>
          <p:nvPr/>
        </p:nvSpPr>
        <p:spPr>
          <a:xfrm xmlns:a="http://schemas.openxmlformats.org/drawingml/2006/main">
            <a:off x="685800" y="2905125"/>
            <a:ext cx="10820400" cy="0"/>
          </a:xfrm>
          <a:prstGeom xmlns:a="http://schemas.openxmlformats.org/drawingml/2006/main" prst="line">
            <a:avLst/>
          </a:prstGeom>
          <a:noFill xmlns:a="http://schemas.openxmlformats.org/drawingml/2006/main"/>
          <a:ln xmlns:a="http://schemas.openxmlformats.org/drawingml/2006/main" w="12383">
            <a:solidFill>
              <a:srgbClr val="9B814F"/>
            </a:solidFill>
          </a:ln>
        </p:spPr>
      </p:sp>
      <p:sp>
        <p:nvSpPr>
          <p:cNvPr id="10" name="Typographic rule">
            <a:extLst xmlns:a="http://schemas.openxmlformats.org/drawingml/2006/main">
              <a:ext uri="{FF2B5EF4-FFF2-40B4-BE49-F238E27FC236}">
                <a16:creationId xmlns:a16="http://schemas.microsoft.com/office/drawing/2014/main" id="{6AD21F14-CFB1-4228-82EB-D273414564F8}"/>
              </a:ext>
            </a:extLst>
          </p:cNvPr>
          <p:cNvSpPr>
            <a:spLocks xmlns:a="http://schemas.openxmlformats.org/drawingml/2006/main" noGrp="1"/>
          </p:cNvSpPr>
          <p:nvPr/>
        </p:nvSpPr>
        <p:spPr>
          <a:xfrm xmlns:a="http://schemas.openxmlformats.org/drawingml/2006/main">
            <a:off x="685800" y="352425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1" name="Typographic rule">
            <a:extLst xmlns:a="http://schemas.openxmlformats.org/drawingml/2006/main">
              <a:ext uri="{FF2B5EF4-FFF2-40B4-BE49-F238E27FC236}">
                <a16:creationId xmlns:a16="http://schemas.microsoft.com/office/drawing/2014/main" id="{5A5A2D1F-A7BA-497F-A2B0-DE559B202291}"/>
              </a:ext>
            </a:extLst>
          </p:cNvPr>
          <p:cNvSpPr>
            <a:spLocks xmlns:a="http://schemas.openxmlformats.org/drawingml/2006/main" noGrp="1"/>
          </p:cNvSpPr>
          <p:nvPr/>
        </p:nvSpPr>
        <p:spPr>
          <a:xfrm xmlns:a="http://schemas.openxmlformats.org/drawingml/2006/main">
            <a:off x="685800" y="4143375"/>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2" name="Typographic rule">
            <a:extLst xmlns:a="http://schemas.openxmlformats.org/drawingml/2006/main">
              <a:ext uri="{FF2B5EF4-FFF2-40B4-BE49-F238E27FC236}">
                <a16:creationId xmlns:a16="http://schemas.microsoft.com/office/drawing/2014/main" id="{92A9A859-7390-4D17-B1C8-A7F3E589D7A0}"/>
              </a:ext>
            </a:extLst>
          </p:cNvPr>
          <p:cNvSpPr>
            <a:spLocks xmlns:a="http://schemas.openxmlformats.org/drawingml/2006/main" noGrp="1"/>
          </p:cNvSpPr>
          <p:nvPr/>
        </p:nvSpPr>
        <p:spPr>
          <a:xfrm xmlns:a="http://schemas.openxmlformats.org/drawingml/2006/main">
            <a:off x="685800" y="476250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3" name="Typographic rule">
            <a:extLst xmlns:a="http://schemas.openxmlformats.org/drawingml/2006/main">
              <a:ext uri="{FF2B5EF4-FFF2-40B4-BE49-F238E27FC236}">
                <a16:creationId xmlns:a16="http://schemas.microsoft.com/office/drawing/2014/main" id="{A8248985-FB72-48E2-BC16-55AB7AE18367}"/>
              </a:ext>
            </a:extLst>
          </p:cNvPr>
          <p:cNvSpPr>
            <a:spLocks xmlns:a="http://schemas.openxmlformats.org/drawingml/2006/main" noGrp="1"/>
          </p:cNvSpPr>
          <p:nvPr/>
        </p:nvSpPr>
        <p:spPr>
          <a:xfrm xmlns:a="http://schemas.openxmlformats.org/drawingml/2006/main">
            <a:off x="685800" y="5381625"/>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4" name="Activation preserves balances and previously charged re">
            <a:extLst xmlns:a="http://schemas.openxmlformats.org/drawingml/2006/main">
              <a:ext uri="{FF2B5EF4-FFF2-40B4-BE49-F238E27FC236}">
                <a16:creationId xmlns:a16="http://schemas.microsoft.com/office/drawing/2014/main" id="{003CB9AA-7CD0-4C17-85C2-9DBBCCBBEA8A}"/>
              </a:ext>
            </a:extLst>
          </p:cNvPr>
          <p:cNvSpPr>
            <a:spLocks xmlns:a="http://schemas.openxmlformats.org/drawingml/2006/main" noGrp="1"/>
          </p:cNvSpPr>
          <p:nvPr/>
        </p:nvSpPr>
        <p:spPr>
          <a:xfrm xmlns:a="http://schemas.openxmlformats.org/drawingml/2006/main">
            <a:off x="685800" y="56673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1">
                <a:solidFill>
                  <a:srgbClr val="101D32"/>
                </a:solidFill>
                <a:latin typeface="Nimbus Sans"/>
                <a:ea typeface="Nimbus Sans"/>
                <a:cs typeface="Nimbus Sans"/>
              </a:defRPr>
            </a:pPr>
            <a:r>
              <a:rPr sz="2025" b="1">
                <a:solidFill>
                  <a:srgbClr val="101D32"/>
                </a:solidFill>
                <a:latin typeface="Nimbus Sans"/>
                <a:ea typeface="Nimbus Sans"/>
                <a:cs typeface="Nimbus Sans"/>
              </a:rPr>
              <a:t>Activation preserves balances and previously charged resources.</a:t>
            </a:r>
          </a:p>
        </p:txBody>
      </p:sp>
    </p:spTree>
    <p:extLst>
      <p:ext uri="{BB962C8B-B14F-4D97-AF65-F5344CB8AC3E}">
        <p14:creationId xmlns:p14="http://schemas.microsoft.com/office/powerpoint/2010/main" val="134632537"/>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8" name="05 / RESOURCE GOVERNANCE">
            <a:extLst xmlns:a="http://schemas.openxmlformats.org/drawingml/2006/main">
              <a:ext uri="{FF2B5EF4-FFF2-40B4-BE49-F238E27FC236}">
                <a16:creationId xmlns:a16="http://schemas.microsoft.com/office/drawing/2014/main" id="{CEDECF17-DF6E-4FD2-9E58-21AA742899A0}"/>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05 / RESOURCE GOVERNANCE</a:t>
            </a:r>
          </a:p>
        </p:txBody>
      </p:sp>
      <p:sp>
        <p:nvSpPr>
          <p:cNvPr id="2" name="Resource governance before dispatch">
            <a:extLst xmlns:a="http://schemas.openxmlformats.org/drawingml/2006/main">
              <a:ext uri="{FF2B5EF4-FFF2-40B4-BE49-F238E27FC236}">
                <a16:creationId xmlns:a16="http://schemas.microsoft.com/office/drawing/2014/main" id="{20F9F67C-6A90-4DEF-B8BE-AA07C2BD498E}"/>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Resource governance before dispatch</a:t>
            </a:r>
          </a:p>
        </p:txBody>
      </p:sp>
      <p:sp>
        <p:nvSpPr>
          <p:cNvPr id="3" name="Typographic rule">
            <a:extLst xmlns:a="http://schemas.openxmlformats.org/drawingml/2006/main">
              <a:ext uri="{FF2B5EF4-FFF2-40B4-BE49-F238E27FC236}">
                <a16:creationId xmlns:a16="http://schemas.microsoft.com/office/drawing/2014/main" id="{F6FD4DAE-7587-490D-B9B5-9D6E91631AC3}"/>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58E41A0B-1F35-4CBE-85C9-4CCD41AD34CD}"/>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8E2590CF-3AB3-449F-A316-AA4371B49B40}"/>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5 / 10">
            <a:extLst xmlns:a="http://schemas.openxmlformats.org/drawingml/2006/main">
              <a:ext uri="{FF2B5EF4-FFF2-40B4-BE49-F238E27FC236}">
                <a16:creationId xmlns:a16="http://schemas.microsoft.com/office/drawing/2014/main" id="{C0B5A553-5C7A-4E68-9A03-DFC3AB96C4DE}"/>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05 / 10</a:t>
            </a:r>
          </a:p>
        </p:txBody>
      </p:sp>
      <p:sp>
        <p:nvSpPr>
          <p:cNvPr id="7" name="01">
            <a:extLst xmlns:a="http://schemas.openxmlformats.org/drawingml/2006/main">
              <a:ext uri="{FF2B5EF4-FFF2-40B4-BE49-F238E27FC236}">
                <a16:creationId xmlns:a16="http://schemas.microsoft.com/office/drawing/2014/main" id="{EDE498A9-44AD-40C0-B04A-41D4D2346F2F}"/>
              </a:ext>
            </a:extLst>
          </p:cNvPr>
          <p:cNvSpPr>
            <a:spLocks xmlns:a="http://schemas.openxmlformats.org/drawingml/2006/main" noGrp="1"/>
          </p:cNvSpPr>
          <p:nvPr/>
        </p:nvSpPr>
        <p:spPr>
          <a:xfrm xmlns:a="http://schemas.openxmlformats.org/drawingml/2006/main">
            <a:off x="685800" y="20859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01</a:t>
            </a:r>
          </a:p>
        </p:txBody>
      </p:sp>
      <p:sp>
        <p:nvSpPr>
          <p:cNvPr id="8" name="Reserve a configured upper bound">
            <a:extLst xmlns:a="http://schemas.openxmlformats.org/drawingml/2006/main">
              <a:ext uri="{FF2B5EF4-FFF2-40B4-BE49-F238E27FC236}">
                <a16:creationId xmlns:a16="http://schemas.microsoft.com/office/drawing/2014/main" id="{11B6A2DB-4420-4874-95C6-485A0F223673}"/>
              </a:ext>
            </a:extLst>
          </p:cNvPr>
          <p:cNvSpPr>
            <a:spLocks xmlns:a="http://schemas.openxmlformats.org/drawingml/2006/main" noGrp="1"/>
          </p:cNvSpPr>
          <p:nvPr/>
        </p:nvSpPr>
        <p:spPr>
          <a:xfrm xmlns:a="http://schemas.openxmlformats.org/drawingml/2006/main">
            <a:off x="1447800" y="20764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Reserve a configured upper bound</a:t>
            </a:r>
          </a:p>
        </p:txBody>
      </p:sp>
      <p:sp>
        <p:nvSpPr>
          <p:cNvPr id="9" name="Money, tokens, compute time and call count">
            <a:extLst xmlns:a="http://schemas.openxmlformats.org/drawingml/2006/main">
              <a:ext uri="{FF2B5EF4-FFF2-40B4-BE49-F238E27FC236}">
                <a16:creationId xmlns:a16="http://schemas.microsoft.com/office/drawing/2014/main" id="{ADB0F410-B5D1-45E3-8CAF-7065B081BBB9}"/>
              </a:ext>
            </a:extLst>
          </p:cNvPr>
          <p:cNvSpPr>
            <a:spLocks xmlns:a="http://schemas.openxmlformats.org/drawingml/2006/main" noGrp="1"/>
          </p:cNvSpPr>
          <p:nvPr/>
        </p:nvSpPr>
        <p:spPr>
          <a:xfrm xmlns:a="http://schemas.openxmlformats.org/drawingml/2006/main">
            <a:off x="1447800" y="25336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Money, tokens, compute time and call count</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are charged conservatively.</a:t>
            </a:r>
          </a:p>
        </p:txBody>
      </p:sp>
      <p:sp>
        <p:nvSpPr>
          <p:cNvPr id="10" name="Typographic rule">
            <a:extLst xmlns:a="http://schemas.openxmlformats.org/drawingml/2006/main">
              <a:ext uri="{FF2B5EF4-FFF2-40B4-BE49-F238E27FC236}">
                <a16:creationId xmlns:a16="http://schemas.microsoft.com/office/drawing/2014/main" id="{1648B03F-BC16-42FC-A632-C2C0C02C6330}"/>
              </a:ext>
            </a:extLst>
          </p:cNvPr>
          <p:cNvSpPr>
            <a:spLocks xmlns:a="http://schemas.openxmlformats.org/drawingml/2006/main" noGrp="1"/>
          </p:cNvSpPr>
          <p:nvPr/>
        </p:nvSpPr>
        <p:spPr>
          <a:xfrm xmlns:a="http://schemas.openxmlformats.org/drawingml/2006/main">
            <a:off x="1447800" y="329565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1" name="02">
            <a:extLst xmlns:a="http://schemas.openxmlformats.org/drawingml/2006/main">
              <a:ext uri="{FF2B5EF4-FFF2-40B4-BE49-F238E27FC236}">
                <a16:creationId xmlns:a16="http://schemas.microsoft.com/office/drawing/2014/main" id="{B9D8207A-19CC-4A9D-9E4B-F8527912A264}"/>
              </a:ext>
            </a:extLst>
          </p:cNvPr>
          <p:cNvSpPr>
            <a:spLocks xmlns:a="http://schemas.openxmlformats.org/drawingml/2006/main" noGrp="1"/>
          </p:cNvSpPr>
          <p:nvPr/>
        </p:nvSpPr>
        <p:spPr>
          <a:xfrm xmlns:a="http://schemas.openxmlformats.org/drawingml/2006/main">
            <a:off x="685800" y="35718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02</a:t>
            </a:r>
          </a:p>
        </p:txBody>
      </p:sp>
      <p:sp>
        <p:nvSpPr>
          <p:cNvPr id="12" name="Stop exhausted budgets and runaway sessions">
            <a:extLst xmlns:a="http://schemas.openxmlformats.org/drawingml/2006/main">
              <a:ext uri="{FF2B5EF4-FFF2-40B4-BE49-F238E27FC236}">
                <a16:creationId xmlns:a16="http://schemas.microsoft.com/office/drawing/2014/main" id="{08640BB8-91D8-4846-8C40-48D5AA36700C}"/>
              </a:ext>
            </a:extLst>
          </p:cNvPr>
          <p:cNvSpPr>
            <a:spLocks xmlns:a="http://schemas.openxmlformats.org/drawingml/2006/main" noGrp="1"/>
          </p:cNvSpPr>
          <p:nvPr/>
        </p:nvSpPr>
        <p:spPr>
          <a:xfrm xmlns:a="http://schemas.openxmlformats.org/drawingml/2006/main">
            <a:off x="1447800" y="35623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Stop exhausted budgets and runaway sessions</a:t>
            </a:r>
          </a:p>
        </p:txBody>
      </p:sp>
      <p:sp>
        <p:nvSpPr>
          <p:cNvPr id="13" name="Actual worker tests reject before dispatch.">
            <a:extLst xmlns:a="http://schemas.openxmlformats.org/drawingml/2006/main">
              <a:ext uri="{FF2B5EF4-FFF2-40B4-BE49-F238E27FC236}">
                <a16:creationId xmlns:a16="http://schemas.microsoft.com/office/drawing/2014/main" id="{AC8C79D3-C680-4DF2-89C8-FDCDC02D9028}"/>
              </a:ext>
            </a:extLst>
          </p:cNvPr>
          <p:cNvSpPr>
            <a:spLocks xmlns:a="http://schemas.openxmlformats.org/drawingml/2006/main" noGrp="1"/>
          </p:cNvSpPr>
          <p:nvPr/>
        </p:nvSpPr>
        <p:spPr>
          <a:xfrm xmlns:a="http://schemas.openxmlformats.org/drawingml/2006/main">
            <a:off x="1447800" y="40195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Actual worker tests reject before dispatch.</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Per-session step and repeat caps apply.</a:t>
            </a:r>
          </a:p>
        </p:txBody>
      </p:sp>
      <p:sp>
        <p:nvSpPr>
          <p:cNvPr id="14" name="Typographic rule">
            <a:extLst xmlns:a="http://schemas.openxmlformats.org/drawingml/2006/main">
              <a:ext uri="{FF2B5EF4-FFF2-40B4-BE49-F238E27FC236}">
                <a16:creationId xmlns:a16="http://schemas.microsoft.com/office/drawing/2014/main" id="{2BCCFD82-2660-43DD-9C2F-EA7948EA7091}"/>
              </a:ext>
            </a:extLst>
          </p:cNvPr>
          <p:cNvSpPr>
            <a:spLocks xmlns:a="http://schemas.openxmlformats.org/drawingml/2006/main" noGrp="1"/>
          </p:cNvSpPr>
          <p:nvPr/>
        </p:nvSpPr>
        <p:spPr>
          <a:xfrm xmlns:a="http://schemas.openxmlformats.org/drawingml/2006/main">
            <a:off x="1447800" y="476250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5" name="03">
            <a:extLst xmlns:a="http://schemas.openxmlformats.org/drawingml/2006/main">
              <a:ext uri="{FF2B5EF4-FFF2-40B4-BE49-F238E27FC236}">
                <a16:creationId xmlns:a16="http://schemas.microsoft.com/office/drawing/2014/main" id="{4787ED34-405D-419A-8DD0-C811666598CE}"/>
              </a:ext>
            </a:extLst>
          </p:cNvPr>
          <p:cNvSpPr>
            <a:spLocks xmlns:a="http://schemas.openxmlformats.org/drawingml/2006/main" noGrp="1"/>
          </p:cNvSpPr>
          <p:nvPr/>
        </p:nvSpPr>
        <p:spPr>
          <a:xfrm xmlns:a="http://schemas.openxmlformats.org/drawingml/2006/main">
            <a:off x="685800" y="503872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03</a:t>
            </a:r>
          </a:p>
        </p:txBody>
      </p:sp>
      <p:sp>
        <p:nvSpPr>
          <p:cNvPr id="16" name="Quarantine after provider timeout">
            <a:extLst xmlns:a="http://schemas.openxmlformats.org/drawingml/2006/main">
              <a:ext uri="{FF2B5EF4-FFF2-40B4-BE49-F238E27FC236}">
                <a16:creationId xmlns:a16="http://schemas.microsoft.com/office/drawing/2014/main" id="{87E1F745-E74B-4CC2-B6DA-AE854C6F3295}"/>
              </a:ext>
            </a:extLst>
          </p:cNvPr>
          <p:cNvSpPr>
            <a:spLocks xmlns:a="http://schemas.openxmlformats.org/drawingml/2006/main" noGrp="1"/>
          </p:cNvSpPr>
          <p:nvPr/>
        </p:nvSpPr>
        <p:spPr>
          <a:xfrm xmlns:a="http://schemas.openxmlformats.org/drawingml/2006/main">
            <a:off x="1447800" y="502920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Quarantine after provider timeout</a:t>
            </a:r>
          </a:p>
        </p:txBody>
      </p:sp>
      <p:sp>
        <p:nvSpPr>
          <p:cNvPr id="17" name="The adapter stops. An operator confirms">
            <a:extLst xmlns:a="http://schemas.openxmlformats.org/drawingml/2006/main">
              <a:ext uri="{FF2B5EF4-FFF2-40B4-BE49-F238E27FC236}">
                <a16:creationId xmlns:a16="http://schemas.microsoft.com/office/drawing/2014/main" id="{AE482DEB-4F70-464C-B5C6-0CFC0DD8B872}"/>
              </a:ext>
            </a:extLst>
          </p:cNvPr>
          <p:cNvSpPr>
            <a:spLocks xmlns:a="http://schemas.openxmlformats.org/drawingml/2006/main" noGrp="1"/>
          </p:cNvSpPr>
          <p:nvPr/>
        </p:nvSpPr>
        <p:spPr>
          <a:xfrm xmlns:a="http://schemas.openxmlformats.org/drawingml/2006/main">
            <a:off x="1447800" y="548640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The adapter stops. An operator confirms</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upstream cleanup before recovery.</a:t>
            </a:r>
          </a:p>
        </p:txBody>
      </p:sp>
    </p:spTree>
    <p:extLst>
      <p:ext uri="{BB962C8B-B14F-4D97-AF65-F5344CB8AC3E}">
        <p14:creationId xmlns:p14="http://schemas.microsoft.com/office/powerpoint/2010/main" val="212802614"/>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06 / LEDGER DEMONSTRATOR">
            <a:extLst xmlns:a="http://schemas.openxmlformats.org/drawingml/2006/main">
              <a:ext uri="{FF2B5EF4-FFF2-40B4-BE49-F238E27FC236}">
                <a16:creationId xmlns:a16="http://schemas.microsoft.com/office/drawing/2014/main" id="{E7774E58-404A-4DE0-8CCD-CEC981CA7A7A}"/>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06 / LEDGER DEMONSTRATOR</a:t>
            </a:r>
          </a:p>
        </p:txBody>
      </p:sp>
      <p:sp>
        <p:nvSpPr>
          <p:cNvPr id="2" name="Ledger approval and replay">
            <a:extLst xmlns:a="http://schemas.openxmlformats.org/drawingml/2006/main">
              <a:ext uri="{FF2B5EF4-FFF2-40B4-BE49-F238E27FC236}">
                <a16:creationId xmlns:a16="http://schemas.microsoft.com/office/drawing/2014/main" id="{1957033D-02A4-48E5-8A4C-64A7BA719581}"/>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Ledger approval and replay</a:t>
            </a:r>
          </a:p>
        </p:txBody>
      </p:sp>
      <p:sp>
        <p:nvSpPr>
          <p:cNvPr id="3" name="Typographic rule">
            <a:extLst xmlns:a="http://schemas.openxmlformats.org/drawingml/2006/main">
              <a:ext uri="{FF2B5EF4-FFF2-40B4-BE49-F238E27FC236}">
                <a16:creationId xmlns:a16="http://schemas.microsoft.com/office/drawing/2014/main" id="{B40663FC-8855-4865-B95C-34888E240EE9}"/>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789AE24B-D130-49CB-BA9A-98642CB841D2}"/>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62A389A6-68DF-444E-8751-3FA397C19904}"/>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6 / 10">
            <a:extLst xmlns:a="http://schemas.openxmlformats.org/drawingml/2006/main">
              <a:ext uri="{FF2B5EF4-FFF2-40B4-BE49-F238E27FC236}">
                <a16:creationId xmlns:a16="http://schemas.microsoft.com/office/drawing/2014/main" id="{ADB31ADC-377A-49E2-BA87-A19C4BA24832}"/>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06 / 10</a:t>
            </a:r>
          </a:p>
        </p:txBody>
      </p:sp>
      <p:sp>
        <p:nvSpPr>
          <p:cNvPr id="7" name="Synthetic demonstrator accounts. Balances in PLN.">
            <a:extLst xmlns:a="http://schemas.openxmlformats.org/drawingml/2006/main">
              <a:ext uri="{FF2B5EF4-FFF2-40B4-BE49-F238E27FC236}">
                <a16:creationId xmlns:a16="http://schemas.microsoft.com/office/drawing/2014/main" id="{A2242884-64BB-46E8-8A81-8EF0C3949D86}"/>
              </a:ext>
            </a:extLst>
          </p:cNvPr>
          <p:cNvSpPr>
            <a:spLocks xmlns:a="http://schemas.openxmlformats.org/drawingml/2006/main" noGrp="1"/>
          </p:cNvSpPr>
          <p:nvPr/>
        </p:nvSpPr>
        <p:spPr>
          <a:xfrm xmlns:a="http://schemas.openxmlformats.org/drawingml/2006/main">
            <a:off x="685800" y="17335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556172"/>
                </a:solidFill>
                <a:latin typeface="Nimbus Sans"/>
                <a:ea typeface="Nimbus Sans"/>
                <a:cs typeface="Nimbus Sans"/>
              </a:defRPr>
            </a:pPr>
            <a:r>
              <a:rPr sz="2025" b="0">
                <a:solidFill>
                  <a:srgbClr val="556172"/>
                </a:solidFill>
                <a:latin typeface="Nimbus Sans"/>
                <a:ea typeface="Nimbus Sans"/>
                <a:cs typeface="Nimbus Sans"/>
              </a:rPr>
              <a:t>Synthetic demonstrator accounts. Balances in PLN.</a:t>
            </a:r>
          </a:p>
        </p:txBody>
      </p:sp>
      <p:graphicFrame>
        <p:nvGraphicFramePr>
          <p:cNvPr id="22" name=""/>
          <p:cNvGraphicFramePr/>
          <p:nvPr/>
        </p:nvGraphicFramePr>
        <p:xfrm>
          <a:off xmlns:a="http://schemas.openxmlformats.org/drawingml/2006/main" x="685800" y="2286000"/>
          <a:ext xmlns:a="http://schemas.openxmlformats.org/drawingml/2006/main" cx="10820400" cy="3095625"/>
        </p:xfrm>
        <a:graphic xmlns:a="http://schemas.openxmlformats.org/drawingml/2006/main">
          <a:graphicData uri="http://schemas.openxmlformats.org/drawingml/2006/table">
            <a:tbl>
              <a:tblPr/>
              <a:tblGrid>
                <a:gridCol w="5638800"/>
                <a:gridCol w="2590800"/>
                <a:gridCol w="2590800"/>
              </a:tblGrid>
              <a:tr h="619125">
                <a:tc>
                  <a:txBody>
                    <a:bodyPr lIns="0" tIns="0" rIns="190500" bIns="0">
                      <a:noAutofit/>
                    </a:bodyPr>
                    <a:lstStyle/>
                    <a:p>
                      <a:pPr algn="l"/>
                      <a:r>
                        <a:rPr sz="1500" b="1">
                          <a:solidFill>
                            <a:srgbClr val="806638"/>
                          </a:solidFill>
                          <a:latin typeface="Nimbus Sans"/>
                          <a:ea typeface="Nimbus Sans"/>
                          <a:cs typeface="Nimbus Sans"/>
                        </a:rPr>
                        <a:t>OBSERVED TRANSITION</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r"/>
                      <a:r>
                        <a:rPr sz="1500" b="1">
                          <a:solidFill>
                            <a:srgbClr val="806638"/>
                          </a:solidFill>
                          <a:latin typeface="Nimbus Sans"/>
                          <a:ea typeface="Nimbus Sans"/>
                          <a:cs typeface="Nimbus Sans"/>
                        </a:rPr>
                        <a:t>ALICE (PLN)</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r"/>
                      <a:r>
                        <a:rPr sz="1500" b="1">
                          <a:solidFill>
                            <a:srgbClr val="806638"/>
                          </a:solidFill>
                          <a:latin typeface="Nimbus Sans"/>
                          <a:ea typeface="Nimbus Sans"/>
                          <a:cs typeface="Nimbus Sans"/>
                        </a:rPr>
                        <a:t>BOB (PLN)</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Initial state</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r"/>
                      <a:r>
                        <a:rPr sz="1875" b="0">
                          <a:solidFill>
                            <a:srgbClr val="101D32"/>
                          </a:solidFill>
                          <a:latin typeface="Nimbus Mono PS"/>
                          <a:ea typeface="Nimbus Mono PS"/>
                          <a:cs typeface="Nimbus Mono PS"/>
                        </a:rPr>
                        <a:t>1,000.00</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r"/>
                      <a:r>
                        <a:rPr sz="1875" b="0">
                          <a:solidFill>
                            <a:srgbClr val="101D32"/>
                          </a:solidFill>
                          <a:latin typeface="Nimbus Mono PS"/>
                          <a:ea typeface="Nimbus Mono PS"/>
                          <a:cs typeface="Nimbus Mono PS"/>
                        </a:rPr>
                        <a:t>200.00</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25.00 transfer</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r"/>
                      <a:r>
                        <a:rPr sz="1875" b="0">
                          <a:solidFill>
                            <a:srgbClr val="101D32"/>
                          </a:solidFill>
                          <a:latin typeface="Nimbus Mono PS"/>
                          <a:ea typeface="Nimbus Mono PS"/>
                          <a:cs typeface="Nimbus Mono PS"/>
                        </a:rPr>
                        <a:t>975.00</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r"/>
                      <a:r>
                        <a:rPr sz="1875" b="0">
                          <a:solidFill>
                            <a:srgbClr val="101D32"/>
                          </a:solidFill>
                          <a:latin typeface="Nimbus Mono PS"/>
                          <a:ea typeface="Nimbus Mono PS"/>
                          <a:cs typeface="Nimbus Mono PS"/>
                        </a:rPr>
                        <a:t>225.00</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100.00 approved transfer</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r"/>
                      <a:r>
                        <a:rPr sz="1875" b="0">
                          <a:solidFill>
                            <a:srgbClr val="101D32"/>
                          </a:solidFill>
                          <a:latin typeface="Nimbus Mono PS"/>
                          <a:ea typeface="Nimbus Mono PS"/>
                          <a:cs typeface="Nimbus Mono PS"/>
                        </a:rPr>
                        <a:t>875.00</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r"/>
                      <a:r>
                        <a:rPr sz="1875" b="0">
                          <a:solidFill>
                            <a:srgbClr val="101D32"/>
                          </a:solidFill>
                          <a:latin typeface="Nimbus Mono PS"/>
                          <a:ea typeface="Nimbus Mono PS"/>
                          <a:cs typeface="Nimbus Mono PS"/>
                        </a:rPr>
                        <a:t>325.00</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619125">
                <a:tc>
                  <a:txBody>
                    <a:bodyPr lIns="0" tIns="0" rIns="190500" bIns="0">
                      <a:noAutofit/>
                    </a:bodyPr>
                    <a:lstStyle/>
                    <a:p>
                      <a:pPr algn="l"/>
                      <a:r>
                        <a:rPr sz="1875" b="0">
                          <a:solidFill>
                            <a:srgbClr val="101D32"/>
                          </a:solidFill>
                          <a:latin typeface="Nimbus Sans"/>
                          <a:ea typeface="Nimbus Sans"/>
                          <a:cs typeface="Nimbus Sans"/>
                        </a:rPr>
                        <a:t>Exact retries</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r"/>
                      <a:r>
                        <a:rPr sz="1875" b="0">
                          <a:solidFill>
                            <a:srgbClr val="101D32"/>
                          </a:solidFill>
                          <a:latin typeface="Nimbus Mono PS"/>
                          <a:ea typeface="Nimbus Mono PS"/>
                          <a:cs typeface="Nimbus Mono PS"/>
                        </a:rPr>
                        <a:t>875.00</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r"/>
                      <a:r>
                        <a:rPr sz="1875" b="0">
                          <a:solidFill>
                            <a:srgbClr val="101D32"/>
                          </a:solidFill>
                          <a:latin typeface="Nimbus Mono PS"/>
                          <a:ea typeface="Nimbus Mono PS"/>
                          <a:cs typeface="Nimbus Mono PS"/>
                        </a:rPr>
                        <a:t>325.00</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9" name="Typographic rule">
            <a:extLst xmlns:a="http://schemas.openxmlformats.org/drawingml/2006/main">
              <a:ext uri="{FF2B5EF4-FFF2-40B4-BE49-F238E27FC236}">
                <a16:creationId xmlns:a16="http://schemas.microsoft.com/office/drawing/2014/main" id="{65A995CF-1F53-4E29-B4DD-DF7202448B0F}"/>
              </a:ext>
            </a:extLst>
          </p:cNvPr>
          <p:cNvSpPr>
            <a:spLocks xmlns:a="http://schemas.openxmlformats.org/drawingml/2006/main" noGrp="1"/>
          </p:cNvSpPr>
          <p:nvPr/>
        </p:nvSpPr>
        <p:spPr>
          <a:xfrm xmlns:a="http://schemas.openxmlformats.org/drawingml/2006/main">
            <a:off x="685800" y="2905125"/>
            <a:ext cx="10820400" cy="0"/>
          </a:xfrm>
          <a:prstGeom xmlns:a="http://schemas.openxmlformats.org/drawingml/2006/main" prst="line">
            <a:avLst/>
          </a:prstGeom>
          <a:noFill xmlns:a="http://schemas.openxmlformats.org/drawingml/2006/main"/>
          <a:ln xmlns:a="http://schemas.openxmlformats.org/drawingml/2006/main" w="12383">
            <a:solidFill>
              <a:srgbClr val="9B814F"/>
            </a:solidFill>
          </a:ln>
        </p:spPr>
      </p:sp>
      <p:sp>
        <p:nvSpPr>
          <p:cNvPr id="10" name="Typographic rule">
            <a:extLst xmlns:a="http://schemas.openxmlformats.org/drawingml/2006/main">
              <a:ext uri="{FF2B5EF4-FFF2-40B4-BE49-F238E27FC236}">
                <a16:creationId xmlns:a16="http://schemas.microsoft.com/office/drawing/2014/main" id="{AC63CBD1-CB0C-4FDF-B63D-86C6E0B82493}"/>
              </a:ext>
            </a:extLst>
          </p:cNvPr>
          <p:cNvSpPr>
            <a:spLocks xmlns:a="http://schemas.openxmlformats.org/drawingml/2006/main" noGrp="1"/>
          </p:cNvSpPr>
          <p:nvPr/>
        </p:nvSpPr>
        <p:spPr>
          <a:xfrm xmlns:a="http://schemas.openxmlformats.org/drawingml/2006/main">
            <a:off x="685800" y="352425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1" name="Typographic rule">
            <a:extLst xmlns:a="http://schemas.openxmlformats.org/drawingml/2006/main">
              <a:ext uri="{FF2B5EF4-FFF2-40B4-BE49-F238E27FC236}">
                <a16:creationId xmlns:a16="http://schemas.microsoft.com/office/drawing/2014/main" id="{E393DCD4-7877-4431-8692-9DA9A343884D}"/>
              </a:ext>
            </a:extLst>
          </p:cNvPr>
          <p:cNvSpPr>
            <a:spLocks xmlns:a="http://schemas.openxmlformats.org/drawingml/2006/main" noGrp="1"/>
          </p:cNvSpPr>
          <p:nvPr/>
        </p:nvSpPr>
        <p:spPr>
          <a:xfrm xmlns:a="http://schemas.openxmlformats.org/drawingml/2006/main">
            <a:off x="685800" y="4143375"/>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2" name="Typographic rule">
            <a:extLst xmlns:a="http://schemas.openxmlformats.org/drawingml/2006/main">
              <a:ext uri="{FF2B5EF4-FFF2-40B4-BE49-F238E27FC236}">
                <a16:creationId xmlns:a16="http://schemas.microsoft.com/office/drawing/2014/main" id="{3029CD15-8464-4C65-89B8-B5C8CDF0300E}"/>
              </a:ext>
            </a:extLst>
          </p:cNvPr>
          <p:cNvSpPr>
            <a:spLocks xmlns:a="http://schemas.openxmlformats.org/drawingml/2006/main" noGrp="1"/>
          </p:cNvSpPr>
          <p:nvPr/>
        </p:nvSpPr>
        <p:spPr>
          <a:xfrm xmlns:a="http://schemas.openxmlformats.org/drawingml/2006/main">
            <a:off x="685800" y="4762500"/>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3" name="Typographic rule">
            <a:extLst xmlns:a="http://schemas.openxmlformats.org/drawingml/2006/main">
              <a:ext uri="{FF2B5EF4-FFF2-40B4-BE49-F238E27FC236}">
                <a16:creationId xmlns:a16="http://schemas.microsoft.com/office/drawing/2014/main" id="{5D1D4454-B9F0-49EF-A7EF-87EF38B21562}"/>
              </a:ext>
            </a:extLst>
          </p:cNvPr>
          <p:cNvSpPr>
            <a:spLocks xmlns:a="http://schemas.openxmlformats.org/drawingml/2006/main" noGrp="1"/>
          </p:cNvSpPr>
          <p:nvPr/>
        </p:nvSpPr>
        <p:spPr>
          <a:xfrm xmlns:a="http://schemas.openxmlformats.org/drawingml/2006/main">
            <a:off x="685800" y="5381625"/>
            <a:ext cx="108204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4" name="Approval issuance causes no payment. Exact retry adds n">
            <a:extLst xmlns:a="http://schemas.openxmlformats.org/drawingml/2006/main">
              <a:ext uri="{FF2B5EF4-FFF2-40B4-BE49-F238E27FC236}">
                <a16:creationId xmlns:a16="http://schemas.microsoft.com/office/drawing/2014/main" id="{E98C5C88-7E62-42F6-8482-A1BF829FE754}"/>
              </a:ext>
            </a:extLst>
          </p:cNvPr>
          <p:cNvSpPr>
            <a:spLocks xmlns:a="http://schemas.openxmlformats.org/drawingml/2006/main" noGrp="1"/>
          </p:cNvSpPr>
          <p:nvPr/>
        </p:nvSpPr>
        <p:spPr>
          <a:xfrm xmlns:a="http://schemas.openxmlformats.org/drawingml/2006/main">
            <a:off x="685800" y="566737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1">
                <a:solidFill>
                  <a:srgbClr val="101D32"/>
                </a:solidFill>
                <a:latin typeface="Nimbus Sans"/>
                <a:ea typeface="Nimbus Sans"/>
                <a:cs typeface="Nimbus Sans"/>
              </a:defRPr>
            </a:pPr>
            <a:r>
              <a:rPr sz="1950" b="1">
                <a:solidFill>
                  <a:srgbClr val="101D32"/>
                </a:solidFill>
                <a:latin typeface="Nimbus Sans"/>
                <a:ea typeface="Nimbus Sans"/>
                <a:cs typeface="Nimbus Sans"/>
              </a:rPr>
              <a:t>Approval issuance causes no payment. Exact retry adds no debit or charge.</a:t>
            </a:r>
          </a:p>
        </p:txBody>
      </p:sp>
    </p:spTree>
    <p:extLst>
      <p:ext uri="{BB962C8B-B14F-4D97-AF65-F5344CB8AC3E}">
        <p14:creationId xmlns:p14="http://schemas.microsoft.com/office/powerpoint/2010/main" val="387109927"/>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8" name="07 / ATTACK BOUNDARIES">
            <a:extLst xmlns:a="http://schemas.openxmlformats.org/drawingml/2006/main">
              <a:ext uri="{FF2B5EF4-FFF2-40B4-BE49-F238E27FC236}">
                <a16:creationId xmlns:a16="http://schemas.microsoft.com/office/drawing/2014/main" id="{B84BF4F1-6714-4F8A-A2E0-93F7A678C335}"/>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07 / ATTACK BOUNDARIES</a:t>
            </a:r>
          </a:p>
        </p:txBody>
      </p:sp>
      <p:sp>
        <p:nvSpPr>
          <p:cNvPr id="2" name="Attack and artifact boundaries">
            <a:extLst xmlns:a="http://schemas.openxmlformats.org/drawingml/2006/main">
              <a:ext uri="{FF2B5EF4-FFF2-40B4-BE49-F238E27FC236}">
                <a16:creationId xmlns:a16="http://schemas.microsoft.com/office/drawing/2014/main" id="{62F403BC-183E-41F2-8F4B-4031B43CCD72}"/>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Attack and artifact boundaries</a:t>
            </a:r>
          </a:p>
        </p:txBody>
      </p:sp>
      <p:sp>
        <p:nvSpPr>
          <p:cNvPr id="3" name="Typographic rule">
            <a:extLst xmlns:a="http://schemas.openxmlformats.org/drawingml/2006/main">
              <a:ext uri="{FF2B5EF4-FFF2-40B4-BE49-F238E27FC236}">
                <a16:creationId xmlns:a16="http://schemas.microsoft.com/office/drawing/2014/main" id="{B06BBCA1-FD45-4CF1-A357-781F61A00E36}"/>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E8AECAB7-C310-412D-B3BD-35811A69C5E5}"/>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BB5380D8-F607-474A-A867-58F788303CCC}"/>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7 / 10">
            <a:extLst xmlns:a="http://schemas.openxmlformats.org/drawingml/2006/main">
              <a:ext uri="{FF2B5EF4-FFF2-40B4-BE49-F238E27FC236}">
                <a16:creationId xmlns:a16="http://schemas.microsoft.com/office/drawing/2014/main" id="{6107EB4A-BC8F-4656-9BF2-5D217371495F}"/>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07 / 10</a:t>
            </a:r>
          </a:p>
        </p:txBody>
      </p:sp>
      <p:sp>
        <p:nvSpPr>
          <p:cNvPr id="7" name="01">
            <a:extLst xmlns:a="http://schemas.openxmlformats.org/drawingml/2006/main">
              <a:ext uri="{FF2B5EF4-FFF2-40B4-BE49-F238E27FC236}">
                <a16:creationId xmlns:a16="http://schemas.microsoft.com/office/drawing/2014/main" id="{781F5F3E-FFD7-40BC-9BE6-5ED75A71E3AE}"/>
              </a:ext>
            </a:extLst>
          </p:cNvPr>
          <p:cNvSpPr>
            <a:spLocks xmlns:a="http://schemas.openxmlformats.org/drawingml/2006/main" noGrp="1"/>
          </p:cNvSpPr>
          <p:nvPr/>
        </p:nvSpPr>
        <p:spPr>
          <a:xfrm xmlns:a="http://schemas.openxmlformats.org/drawingml/2006/main">
            <a:off x="685800" y="20859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01</a:t>
            </a:r>
          </a:p>
        </p:txBody>
      </p:sp>
      <p:sp>
        <p:nvSpPr>
          <p:cNvPr id="8" name="Indirect and encoded content">
            <a:extLst xmlns:a="http://schemas.openxmlformats.org/drawingml/2006/main">
              <a:ext uri="{FF2B5EF4-FFF2-40B4-BE49-F238E27FC236}">
                <a16:creationId xmlns:a16="http://schemas.microsoft.com/office/drawing/2014/main" id="{F2D67D59-223C-4612-B9A5-5E1BB1A0020B}"/>
              </a:ext>
            </a:extLst>
          </p:cNvPr>
          <p:cNvSpPr>
            <a:spLocks xmlns:a="http://schemas.openxmlformats.org/drawingml/2006/main" noGrp="1"/>
          </p:cNvSpPr>
          <p:nvPr/>
        </p:nvSpPr>
        <p:spPr>
          <a:xfrm xmlns:a="http://schemas.openxmlformats.org/drawingml/2006/main">
            <a:off x="1447800" y="20764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Indirect and encoded content</a:t>
            </a:r>
          </a:p>
        </p:txBody>
      </p:sp>
      <p:sp>
        <p:nvSpPr>
          <p:cNvPr id="9" name="Shared controls inspect tool results and session histor">
            <a:extLst xmlns:a="http://schemas.openxmlformats.org/drawingml/2006/main">
              <a:ext uri="{FF2B5EF4-FFF2-40B4-BE49-F238E27FC236}">
                <a16:creationId xmlns:a16="http://schemas.microsoft.com/office/drawing/2014/main" id="{157A0F86-1EE0-44E5-A891-73CD40FCBA1A}"/>
              </a:ext>
            </a:extLst>
          </p:cNvPr>
          <p:cNvSpPr>
            <a:spLocks xmlns:a="http://schemas.openxmlformats.org/drawingml/2006/main" noGrp="1"/>
          </p:cNvSpPr>
          <p:nvPr/>
        </p:nvSpPr>
        <p:spPr>
          <a:xfrm xmlns:a="http://schemas.openxmlformats.org/drawingml/2006/main">
            <a:off x="1447800" y="25336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Shared controls inspect tool results and session history.</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Encoded sensitive data is refused.</a:t>
            </a:r>
          </a:p>
        </p:txBody>
      </p:sp>
      <p:sp>
        <p:nvSpPr>
          <p:cNvPr id="10" name="Typographic rule">
            <a:extLst xmlns:a="http://schemas.openxmlformats.org/drawingml/2006/main">
              <a:ext uri="{FF2B5EF4-FFF2-40B4-BE49-F238E27FC236}">
                <a16:creationId xmlns:a16="http://schemas.microsoft.com/office/drawing/2014/main" id="{3153377A-9CAF-4CC7-966F-F0266B816D21}"/>
              </a:ext>
            </a:extLst>
          </p:cNvPr>
          <p:cNvSpPr>
            <a:spLocks xmlns:a="http://schemas.openxmlformats.org/drawingml/2006/main" noGrp="1"/>
          </p:cNvSpPr>
          <p:nvPr/>
        </p:nvSpPr>
        <p:spPr>
          <a:xfrm xmlns:a="http://schemas.openxmlformats.org/drawingml/2006/main">
            <a:off x="1447800" y="329565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1" name="02">
            <a:extLst xmlns:a="http://schemas.openxmlformats.org/drawingml/2006/main">
              <a:ext uri="{FF2B5EF4-FFF2-40B4-BE49-F238E27FC236}">
                <a16:creationId xmlns:a16="http://schemas.microsoft.com/office/drawing/2014/main" id="{178E8F75-8BA5-487D-B0A9-606748413B23}"/>
              </a:ext>
            </a:extLst>
          </p:cNvPr>
          <p:cNvSpPr>
            <a:spLocks xmlns:a="http://schemas.openxmlformats.org/drawingml/2006/main" noGrp="1"/>
          </p:cNvSpPr>
          <p:nvPr/>
        </p:nvSpPr>
        <p:spPr>
          <a:xfrm xmlns:a="http://schemas.openxmlformats.org/drawingml/2006/main">
            <a:off x="685800" y="35718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02</a:t>
            </a:r>
          </a:p>
        </p:txBody>
      </p:sp>
      <p:sp>
        <p:nvSpPr>
          <p:cNvPr id="12" name="Pinned inert artifacts">
            <a:extLst xmlns:a="http://schemas.openxmlformats.org/drawingml/2006/main">
              <a:ext uri="{FF2B5EF4-FFF2-40B4-BE49-F238E27FC236}">
                <a16:creationId xmlns:a16="http://schemas.microsoft.com/office/drawing/2014/main" id="{0B737960-594F-4132-B4D3-7701DDAA99A7}"/>
              </a:ext>
            </a:extLst>
          </p:cNvPr>
          <p:cNvSpPr>
            <a:spLocks xmlns:a="http://schemas.openxmlformats.org/drawingml/2006/main" noGrp="1"/>
          </p:cNvSpPr>
          <p:nvPr/>
        </p:nvSpPr>
        <p:spPr>
          <a:xfrm xmlns:a="http://schemas.openxmlformats.org/drawingml/2006/main">
            <a:off x="1447800" y="35623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Pinned inert artifacts</a:t>
            </a:r>
          </a:p>
        </p:txBody>
      </p:sp>
      <p:sp>
        <p:nvSpPr>
          <p:cNvPr id="13" name="Bounded byte, hash and header checks.">
            <a:extLst xmlns:a="http://schemas.openxmlformats.org/drawingml/2006/main">
              <a:ext uri="{FF2B5EF4-FFF2-40B4-BE49-F238E27FC236}">
                <a16:creationId xmlns:a16="http://schemas.microsoft.com/office/drawing/2014/main" id="{AD4295F1-6402-4F57-98CA-371772E4CC00}"/>
              </a:ext>
            </a:extLst>
          </p:cNvPr>
          <p:cNvSpPr>
            <a:spLocks xmlns:a="http://schemas.openxmlformats.org/drawingml/2006/main" noGrp="1"/>
          </p:cNvSpPr>
          <p:nvPr/>
        </p:nvSpPr>
        <p:spPr>
          <a:xfrm xmlns:a="http://schemas.openxmlformats.org/drawingml/2006/main">
            <a:off x="1447800" y="40195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Bounded byte, hash and header checks.</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Pickle and code-running formats are refused.</a:t>
            </a:r>
          </a:p>
        </p:txBody>
      </p:sp>
      <p:sp>
        <p:nvSpPr>
          <p:cNvPr id="14" name="Typographic rule">
            <a:extLst xmlns:a="http://schemas.openxmlformats.org/drawingml/2006/main">
              <a:ext uri="{FF2B5EF4-FFF2-40B4-BE49-F238E27FC236}">
                <a16:creationId xmlns:a16="http://schemas.microsoft.com/office/drawing/2014/main" id="{379EE274-5AF8-4BBF-8F09-D2DB1AF4EEF7}"/>
              </a:ext>
            </a:extLst>
          </p:cNvPr>
          <p:cNvSpPr>
            <a:spLocks xmlns:a="http://schemas.openxmlformats.org/drawingml/2006/main" noGrp="1"/>
          </p:cNvSpPr>
          <p:nvPr/>
        </p:nvSpPr>
        <p:spPr>
          <a:xfrm xmlns:a="http://schemas.openxmlformats.org/drawingml/2006/main">
            <a:off x="1447800" y="476250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5" name="03">
            <a:extLst xmlns:a="http://schemas.openxmlformats.org/drawingml/2006/main">
              <a:ext uri="{FF2B5EF4-FFF2-40B4-BE49-F238E27FC236}">
                <a16:creationId xmlns:a16="http://schemas.microsoft.com/office/drawing/2014/main" id="{908D95B0-B9EF-490E-84CA-B34AF2A24EDD}"/>
              </a:ext>
            </a:extLst>
          </p:cNvPr>
          <p:cNvSpPr>
            <a:spLocks xmlns:a="http://schemas.openxmlformats.org/drawingml/2006/main" noGrp="1"/>
          </p:cNvSpPr>
          <p:nvPr/>
        </p:nvSpPr>
        <p:spPr>
          <a:xfrm xmlns:a="http://schemas.openxmlformats.org/drawingml/2006/main">
            <a:off x="685800" y="503872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03</a:t>
            </a:r>
          </a:p>
        </p:txBody>
      </p:sp>
      <p:sp>
        <p:nvSpPr>
          <p:cNvPr id="16" name="Finite detector coverage">
            <a:extLst xmlns:a="http://schemas.openxmlformats.org/drawingml/2006/main">
              <a:ext uri="{FF2B5EF4-FFF2-40B4-BE49-F238E27FC236}">
                <a16:creationId xmlns:a16="http://schemas.microsoft.com/office/drawing/2014/main" id="{DDA37DCB-EE13-436D-92DF-1E0F42BD6A66}"/>
              </a:ext>
            </a:extLst>
          </p:cNvPr>
          <p:cNvSpPr>
            <a:spLocks xmlns:a="http://schemas.openxmlformats.org/drawingml/2006/main" noGrp="1"/>
          </p:cNvSpPr>
          <p:nvPr/>
        </p:nvSpPr>
        <p:spPr>
          <a:xfrm xmlns:a="http://schemas.openxmlformats.org/drawingml/2006/main">
            <a:off x="1447800" y="502920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Finite detector coverage</a:t>
            </a:r>
          </a:p>
        </p:txBody>
      </p:sp>
      <p:sp>
        <p:nvSpPr>
          <p:cNvPr id="17" name="Synthetic feed examples and labeled fixtures">
            <a:extLst xmlns:a="http://schemas.openxmlformats.org/drawingml/2006/main">
              <a:ext uri="{FF2B5EF4-FFF2-40B4-BE49-F238E27FC236}">
                <a16:creationId xmlns:a16="http://schemas.microsoft.com/office/drawing/2014/main" id="{046F0E28-97FC-4166-B45D-52A440F48311}"/>
              </a:ext>
            </a:extLst>
          </p:cNvPr>
          <p:cNvSpPr>
            <a:spLocks xmlns:a="http://schemas.openxmlformats.org/drawingml/2006/main" noGrp="1"/>
          </p:cNvSpPr>
          <p:nvPr/>
        </p:nvSpPr>
        <p:spPr>
          <a:xfrm xmlns:a="http://schemas.openxmlformats.org/drawingml/2006/main">
            <a:off x="1447800" y="548640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Synthetic feed examples and labeled fixtures</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demonstrate the enforcement paths.</a:t>
            </a:r>
          </a:p>
        </p:txBody>
      </p:sp>
    </p:spTree>
    <p:extLst>
      <p:ext uri="{BB962C8B-B14F-4D97-AF65-F5344CB8AC3E}">
        <p14:creationId xmlns:p14="http://schemas.microsoft.com/office/powerpoint/2010/main" val="173429795"/>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8" name="08 / VERIFICATION EVIDENCE">
            <a:extLst xmlns:a="http://schemas.openxmlformats.org/drawingml/2006/main">
              <a:ext uri="{FF2B5EF4-FFF2-40B4-BE49-F238E27FC236}">
                <a16:creationId xmlns:a16="http://schemas.microsoft.com/office/drawing/2014/main" id="{AB19EF61-E862-481E-9215-44511649A13A}"/>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08 / VERIFICATION EVIDENCE</a:t>
            </a:r>
          </a:p>
        </p:txBody>
      </p:sp>
      <p:sp>
        <p:nvSpPr>
          <p:cNvPr id="2" name="Reproducible evidence">
            <a:extLst xmlns:a="http://schemas.openxmlformats.org/drawingml/2006/main">
              <a:ext uri="{FF2B5EF4-FFF2-40B4-BE49-F238E27FC236}">
                <a16:creationId xmlns:a16="http://schemas.microsoft.com/office/drawing/2014/main" id="{910AB469-0C13-46A7-B160-D18AC7CED882}"/>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Reproducible evidence</a:t>
            </a:r>
          </a:p>
        </p:txBody>
      </p:sp>
      <p:sp>
        <p:nvSpPr>
          <p:cNvPr id="3" name="Typographic rule">
            <a:extLst xmlns:a="http://schemas.openxmlformats.org/drawingml/2006/main">
              <a:ext uri="{FF2B5EF4-FFF2-40B4-BE49-F238E27FC236}">
                <a16:creationId xmlns:a16="http://schemas.microsoft.com/office/drawing/2014/main" id="{35CDBE1D-357C-4736-AE53-09B5D4CA24C9}"/>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822D6B9E-5E65-4CBB-BF70-889465516051}"/>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1384B705-7559-47AD-90C9-A5FF3D03F33B}"/>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8 / 10">
            <a:extLst xmlns:a="http://schemas.openxmlformats.org/drawingml/2006/main">
              <a:ext uri="{FF2B5EF4-FFF2-40B4-BE49-F238E27FC236}">
                <a16:creationId xmlns:a16="http://schemas.microsoft.com/office/drawing/2014/main" id="{EBDBA29B-4517-47DA-A3B3-5701F4EFEAAC}"/>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08 / 10</a:t>
            </a:r>
          </a:p>
        </p:txBody>
      </p:sp>
      <p:sp>
        <p:nvSpPr>
          <p:cNvPr id="7" name="83">
            <a:extLst xmlns:a="http://schemas.openxmlformats.org/drawingml/2006/main">
              <a:ext uri="{FF2B5EF4-FFF2-40B4-BE49-F238E27FC236}">
                <a16:creationId xmlns:a16="http://schemas.microsoft.com/office/drawing/2014/main" id="{4D215D0A-6F4E-4D22-9E07-14F8B6DE7BC2}"/>
              </a:ext>
            </a:extLst>
          </p:cNvPr>
          <p:cNvSpPr>
            <a:spLocks xmlns:a="http://schemas.openxmlformats.org/drawingml/2006/main" noGrp="1"/>
          </p:cNvSpPr>
          <p:nvPr/>
        </p:nvSpPr>
        <p:spPr>
          <a:xfrm xmlns:a="http://schemas.openxmlformats.org/drawingml/2006/main">
            <a:off x="657225" y="2047875"/>
            <a:ext cx="333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9900" b="0">
                <a:solidFill>
                  <a:srgbClr val="101D32"/>
                </a:solidFill>
                <a:latin typeface="Nimbus Roman"/>
                <a:ea typeface="Nimbus Roman"/>
                <a:cs typeface="Nimbus Roman"/>
              </a:defRPr>
            </a:pPr>
            <a:r>
              <a:rPr sz="9900" b="0">
                <a:solidFill>
                  <a:srgbClr val="101D32"/>
                </a:solidFill>
                <a:latin typeface="Nimbus Roman"/>
                <a:ea typeface="Nimbus Roman"/>
                <a:cs typeface="Nimbus Roman"/>
              </a:rPr>
              <a:t>83</a:t>
            </a:r>
          </a:p>
        </p:txBody>
      </p:sp>
      <p:sp>
        <p:nvSpPr>
          <p:cNvPr id="8" name="PASSED">
            <a:extLst xmlns:a="http://schemas.openxmlformats.org/drawingml/2006/main">
              <a:ext uri="{FF2B5EF4-FFF2-40B4-BE49-F238E27FC236}">
                <a16:creationId xmlns:a16="http://schemas.microsoft.com/office/drawing/2014/main" id="{578CA4B9-D607-4E7B-8B2B-70B0735EF3DE}"/>
              </a:ext>
            </a:extLst>
          </p:cNvPr>
          <p:cNvSpPr>
            <a:spLocks xmlns:a="http://schemas.openxmlformats.org/drawingml/2006/main" noGrp="1"/>
          </p:cNvSpPr>
          <p:nvPr/>
        </p:nvSpPr>
        <p:spPr>
          <a:xfrm xmlns:a="http://schemas.openxmlformats.org/drawingml/2006/main">
            <a:off x="704850" y="3600450"/>
            <a:ext cx="320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806638"/>
                </a:solidFill>
                <a:latin typeface="Nimbus Mono PS"/>
                <a:ea typeface="Nimbus Mono PS"/>
                <a:cs typeface="Nimbus Mono PS"/>
              </a:defRPr>
            </a:pPr>
            <a:r>
              <a:rPr sz="1650" b="0">
                <a:solidFill>
                  <a:srgbClr val="806638"/>
                </a:solidFill>
                <a:latin typeface="Nimbus Mono PS"/>
                <a:ea typeface="Nimbus Mono PS"/>
                <a:cs typeface="Nimbus Mono PS"/>
              </a:rPr>
              <a:t>PASSED</a:t>
            </a:r>
          </a:p>
        </p:txBody>
      </p:sp>
      <p:sp>
        <p:nvSpPr>
          <p:cNvPr id="9" name="Gateway / provider / SDK /">
            <a:extLst xmlns:a="http://schemas.openxmlformats.org/drawingml/2006/main">
              <a:ext uri="{FF2B5EF4-FFF2-40B4-BE49-F238E27FC236}">
                <a16:creationId xmlns:a16="http://schemas.microsoft.com/office/drawing/2014/main" id="{9AD864F1-22AF-4190-B112-0CCAD1AF00CD}"/>
              </a:ext>
            </a:extLst>
          </p:cNvPr>
          <p:cNvSpPr>
            <a:spLocks xmlns:a="http://schemas.openxmlformats.org/drawingml/2006/main" noGrp="1"/>
          </p:cNvSpPr>
          <p:nvPr/>
        </p:nvSpPr>
        <p:spPr>
          <a:xfrm xmlns:a="http://schemas.openxmlformats.org/drawingml/2006/main">
            <a:off x="704850" y="4124325"/>
            <a:ext cx="33718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1">
                <a:solidFill>
                  <a:srgbClr val="101D32"/>
                </a:solidFill>
                <a:latin typeface="Nimbus Sans"/>
                <a:ea typeface="Nimbus Sans"/>
                <a:cs typeface="Nimbus Sans"/>
              </a:defRPr>
            </a:pPr>
            <a:r>
              <a:rPr sz="1950" b="1">
                <a:solidFill>
                  <a:srgbClr val="101D32"/>
                </a:solidFill>
                <a:latin typeface="Nimbus Sans"/>
                <a:ea typeface="Nimbus Sans"/>
                <a:cs typeface="Nimbus Sans"/>
              </a:rPr>
              <a:t>Gateway / provider / SDK /</a:t>
            </a:r>
          </a:p>
          <a:p xmlns:a="http://schemas.openxmlformats.org/drawingml/2006/main">
            <a:pPr>
              <a:defRPr sz="1950" b="1">
                <a:solidFill>
                  <a:srgbClr val="101D32"/>
                </a:solidFill>
                <a:latin typeface="Nimbus Sans"/>
                <a:ea typeface="Nimbus Sans"/>
                <a:cs typeface="Nimbus Sans"/>
              </a:defRPr>
            </a:pPr>
            <a:r>
              <a:rPr sz="1950" b="1">
                <a:solidFill>
                  <a:srgbClr val="101D32"/>
                </a:solidFill>
                <a:latin typeface="Nimbus Sans"/>
                <a:ea typeface="Nimbus Sans"/>
                <a:cs typeface="Nimbus Sans"/>
              </a:rPr>
              <a:t>evaluator suite</a:t>
            </a:r>
          </a:p>
        </p:txBody>
      </p:sp>
      <p:sp>
        <p:nvSpPr>
          <p:cNvPr id="10" name="Actual worker + fixtures">
            <a:extLst xmlns:a="http://schemas.openxmlformats.org/drawingml/2006/main">
              <a:ext uri="{FF2B5EF4-FFF2-40B4-BE49-F238E27FC236}">
                <a16:creationId xmlns:a16="http://schemas.microsoft.com/office/drawing/2014/main" id="{FD3D1B88-82FD-4AD6-810C-6C1E6BEFD08F}"/>
              </a:ext>
            </a:extLst>
          </p:cNvPr>
          <p:cNvSpPr>
            <a:spLocks xmlns:a="http://schemas.openxmlformats.org/drawingml/2006/main" noGrp="1"/>
          </p:cNvSpPr>
          <p:nvPr/>
        </p:nvSpPr>
        <p:spPr>
          <a:xfrm xmlns:a="http://schemas.openxmlformats.org/drawingml/2006/main">
            <a:off x="704850" y="5010150"/>
            <a:ext cx="3390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56172"/>
                </a:solidFill>
                <a:latin typeface="Nimbus Sans"/>
                <a:ea typeface="Nimbus Sans"/>
                <a:cs typeface="Nimbus Sans"/>
              </a:defRPr>
            </a:pPr>
            <a:r>
              <a:rPr sz="1725" b="0">
                <a:solidFill>
                  <a:srgbClr val="556172"/>
                </a:solidFill>
                <a:latin typeface="Nimbus Sans"/>
                <a:ea typeface="Nimbus Sans"/>
                <a:cs typeface="Nimbus Sans"/>
              </a:rPr>
              <a:t>Actual worker + fixtures</a:t>
            </a:r>
          </a:p>
        </p:txBody>
      </p:sp>
      <p:graphicFrame>
        <p:nvGraphicFramePr>
          <p:cNvPr id="28" name=""/>
          <p:cNvGraphicFramePr/>
          <p:nvPr/>
        </p:nvGraphicFramePr>
        <p:xfrm>
          <a:off xmlns:a="http://schemas.openxmlformats.org/drawingml/2006/main" x="4457700" y="2286000"/>
          <a:ext xmlns:a="http://schemas.openxmlformats.org/drawingml/2006/main" cx="7048500" cy="2876550"/>
        </p:xfrm>
        <a:graphic xmlns:a="http://schemas.openxmlformats.org/drawingml/2006/main">
          <a:graphicData uri="http://schemas.openxmlformats.org/drawingml/2006/table">
            <a:tbl>
              <a:tblPr/>
              <a:tblGrid>
                <a:gridCol w="2667000"/>
                <a:gridCol w="1676400"/>
                <a:gridCol w="2705100"/>
              </a:tblGrid>
              <a:tr h="719138">
                <a:tc>
                  <a:txBody>
                    <a:bodyPr lIns="0" tIns="0" rIns="190500" bIns="0">
                      <a:noAutofit/>
                    </a:bodyPr>
                    <a:lstStyle/>
                    <a:p>
                      <a:pPr algn="l"/>
                      <a:r>
                        <a:rPr sz="1500" b="1">
                          <a:solidFill>
                            <a:srgbClr val="806638"/>
                          </a:solidFill>
                          <a:latin typeface="Nimbus Sans"/>
                          <a:ea typeface="Nimbus Sans"/>
                          <a:cs typeface="Nimbus Sans"/>
                        </a:rPr>
                        <a:t>EVIDENCE</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500" b="1">
                          <a:solidFill>
                            <a:srgbClr val="806638"/>
                          </a:solidFill>
                          <a:latin typeface="Nimbus Sans"/>
                          <a:ea typeface="Nimbus Sans"/>
                          <a:cs typeface="Nimbus Sans"/>
                        </a:rPr>
                        <a:t>RESULT</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500" b="1">
                          <a:solidFill>
                            <a:srgbClr val="806638"/>
                          </a:solidFill>
                          <a:latin typeface="Nimbus Sans"/>
                          <a:ea typeface="Nimbus Sans"/>
                          <a:cs typeface="Nimbus Sans"/>
                        </a:rPr>
                        <a:t>SCOPE</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19138">
                <a:tc>
                  <a:txBody>
                    <a:bodyPr lIns="0" tIns="0" rIns="190500" bIns="0">
                      <a:noAutofit/>
                    </a:bodyPr>
                    <a:lstStyle/>
                    <a:p>
                      <a:pPr algn="l"/>
                      <a:r>
                        <a:rPr sz="1800" b="0">
                          <a:solidFill>
                            <a:srgbClr val="101D32"/>
                          </a:solidFill>
                          <a:latin typeface="Nimbus Sans"/>
                          <a:ea typeface="Nimbus Sans"/>
                          <a:cs typeface="Nimbus Sans"/>
                        </a:rPr>
                        <a:t>Fresh axiom audit</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00" b="0">
                          <a:solidFill>
                            <a:srgbClr val="101D32"/>
                          </a:solidFill>
                          <a:latin typeface="Nimbus Sans"/>
                          <a:ea typeface="Nimbus Sans"/>
                          <a:cs typeface="Nimbus Sans"/>
                        </a:rPr>
                        <a:t>156 records</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00" b="0">
                          <a:solidFill>
                            <a:srgbClr val="101D32"/>
                          </a:solidFill>
                          <a:latin typeface="Nimbus Sans"/>
                          <a:ea typeface="Nimbus Sans"/>
                          <a:cs typeface="Nimbus Sans"/>
                        </a:rPr>
                        <a:t>Pinned Lean + Mathlib</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19138">
                <a:tc>
                  <a:txBody>
                    <a:bodyPr lIns="0" tIns="0" rIns="190500" bIns="0">
                      <a:noAutofit/>
                    </a:bodyPr>
                    <a:lstStyle/>
                    <a:p>
                      <a:pPr algn="l"/>
                      <a:r>
                        <a:rPr sz="1800" b="0">
                          <a:solidFill>
                            <a:srgbClr val="101D32"/>
                          </a:solidFill>
                          <a:latin typeface="Nimbus Sans"/>
                          <a:ea typeface="Nimbus Sans"/>
                          <a:cs typeface="Nimbus Sans"/>
                        </a:rPr>
                        <a:t>Static regressions</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00" b="0">
                          <a:solidFill>
                            <a:srgbClr val="101D32"/>
                          </a:solidFill>
                          <a:latin typeface="Nimbus Sans"/>
                          <a:ea typeface="Nimbus Sans"/>
                          <a:cs typeface="Nimbus Sans"/>
                        </a:rPr>
                        <a:t>14 passed</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00" b="0">
                          <a:solidFill>
                            <a:srgbClr val="101D32"/>
                          </a:solidFill>
                          <a:latin typeface="Nimbus Sans"/>
                          <a:ea typeface="Nimbus Sans"/>
                          <a:cs typeface="Nimbus Sans"/>
                        </a:rPr>
                        <a:t>Audit / parser</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19138">
                <a:tc>
                  <a:txBody>
                    <a:bodyPr lIns="0" tIns="0" rIns="190500" bIns="0">
                      <a:noAutofit/>
                    </a:bodyPr>
                    <a:lstStyle/>
                    <a:p>
                      <a:pPr algn="l"/>
                      <a:r>
                        <a:rPr sz="1800" b="0">
                          <a:solidFill>
                            <a:srgbClr val="101D32"/>
                          </a:solidFill>
                          <a:latin typeface="Nimbus Sans"/>
                          <a:ea typeface="Nimbus Sans"/>
                          <a:cs typeface="Nimbus Sans"/>
                        </a:rPr>
                        <a:t>Public HTTP rehearsal</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90500" bIns="0">
                      <a:noAutofit/>
                    </a:bodyPr>
                    <a:lstStyle/>
                    <a:p>
                      <a:pPr algn="l"/>
                      <a:r>
                        <a:rPr sz="1800" b="0">
                          <a:solidFill>
                            <a:srgbClr val="101D32"/>
                          </a:solidFill>
                          <a:latin typeface="Nimbus Sans"/>
                          <a:ea typeface="Nimbus Sans"/>
                          <a:cs typeface="Nimbus Sans"/>
                        </a:rPr>
                        <a:t>16 passed</a:t>
                      </a:r>
                    </a:p>
                  </a:txBody>
                  <a:tcPr marL="0" marR="19050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0" bIns="0">
                      <a:noAutofit/>
                    </a:bodyPr>
                    <a:lstStyle/>
                    <a:p>
                      <a:pPr algn="l"/>
                      <a:r>
                        <a:rPr sz="1800" b="0">
                          <a:solidFill>
                            <a:srgbClr val="101D32"/>
                          </a:solidFill>
                          <a:latin typeface="Nimbus Sans"/>
                          <a:ea typeface="Nimbus Sans"/>
                          <a:cs typeface="Nimbus Sans"/>
                        </a:rPr>
                        <a:t>Policy, feed,</a:t>
                      </a:r>
                    </a:p>
                    <a:p>
                      <a:pPr algn="l"/>
                      <a:r>
                        <a:rPr sz="1800" b="0">
                          <a:solidFill>
                            <a:srgbClr val="101D32"/>
                          </a:solidFill>
                          <a:latin typeface="Nimbus Sans"/>
                          <a:ea typeface="Nimbus Sans"/>
                          <a:cs typeface="Nimbus Sans"/>
                        </a:rPr>
                        <a:t>approval, export</a:t>
                      </a:r>
                    </a:p>
                  </a:txBody>
                  <a:tcPr marL="0" marR="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12" name="Typographic rule">
            <a:extLst xmlns:a="http://schemas.openxmlformats.org/drawingml/2006/main">
              <a:ext uri="{FF2B5EF4-FFF2-40B4-BE49-F238E27FC236}">
                <a16:creationId xmlns:a16="http://schemas.microsoft.com/office/drawing/2014/main" id="{3CC744E6-0E1F-4533-BFB8-315A017BB6B5}"/>
              </a:ext>
            </a:extLst>
          </p:cNvPr>
          <p:cNvSpPr>
            <a:spLocks xmlns:a="http://schemas.openxmlformats.org/drawingml/2006/main" noGrp="1"/>
          </p:cNvSpPr>
          <p:nvPr/>
        </p:nvSpPr>
        <p:spPr>
          <a:xfrm xmlns:a="http://schemas.openxmlformats.org/drawingml/2006/main">
            <a:off x="4457700" y="3005138"/>
            <a:ext cx="7048500" cy="0"/>
          </a:xfrm>
          <a:prstGeom xmlns:a="http://schemas.openxmlformats.org/drawingml/2006/main" prst="line">
            <a:avLst/>
          </a:prstGeom>
          <a:noFill xmlns:a="http://schemas.openxmlformats.org/drawingml/2006/main"/>
          <a:ln xmlns:a="http://schemas.openxmlformats.org/drawingml/2006/main" w="12383">
            <a:solidFill>
              <a:srgbClr val="9B814F"/>
            </a:solidFill>
          </a:ln>
        </p:spPr>
      </p:sp>
      <p:sp>
        <p:nvSpPr>
          <p:cNvPr id="13" name="Typographic rule">
            <a:extLst xmlns:a="http://schemas.openxmlformats.org/drawingml/2006/main">
              <a:ext uri="{FF2B5EF4-FFF2-40B4-BE49-F238E27FC236}">
                <a16:creationId xmlns:a16="http://schemas.microsoft.com/office/drawing/2014/main" id="{54FC5770-5C75-4EBE-831E-2A31D8ADFE2D}"/>
              </a:ext>
            </a:extLst>
          </p:cNvPr>
          <p:cNvSpPr>
            <a:spLocks xmlns:a="http://schemas.openxmlformats.org/drawingml/2006/main" noGrp="1"/>
          </p:cNvSpPr>
          <p:nvPr/>
        </p:nvSpPr>
        <p:spPr>
          <a:xfrm xmlns:a="http://schemas.openxmlformats.org/drawingml/2006/main">
            <a:off x="4457700" y="3724275"/>
            <a:ext cx="70485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4" name="Typographic rule">
            <a:extLst xmlns:a="http://schemas.openxmlformats.org/drawingml/2006/main">
              <a:ext uri="{FF2B5EF4-FFF2-40B4-BE49-F238E27FC236}">
                <a16:creationId xmlns:a16="http://schemas.microsoft.com/office/drawing/2014/main" id="{FD87B712-4A86-4A82-97B8-15706B1B64CF}"/>
              </a:ext>
            </a:extLst>
          </p:cNvPr>
          <p:cNvSpPr>
            <a:spLocks xmlns:a="http://schemas.openxmlformats.org/drawingml/2006/main" noGrp="1"/>
          </p:cNvSpPr>
          <p:nvPr/>
        </p:nvSpPr>
        <p:spPr>
          <a:xfrm xmlns:a="http://schemas.openxmlformats.org/drawingml/2006/main">
            <a:off x="4457700" y="4443413"/>
            <a:ext cx="70485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5" name="Typographic rule">
            <a:extLst xmlns:a="http://schemas.openxmlformats.org/drawingml/2006/main">
              <a:ext uri="{FF2B5EF4-FFF2-40B4-BE49-F238E27FC236}">
                <a16:creationId xmlns:a16="http://schemas.microsoft.com/office/drawing/2014/main" id="{9F57E58F-E21A-4A25-BF51-6844385E0AE2}"/>
              </a:ext>
            </a:extLst>
          </p:cNvPr>
          <p:cNvSpPr>
            <a:spLocks xmlns:a="http://schemas.openxmlformats.org/drawingml/2006/main" noGrp="1"/>
          </p:cNvSpPr>
          <p:nvPr/>
        </p:nvSpPr>
        <p:spPr>
          <a:xfrm xmlns:a="http://schemas.openxmlformats.org/drawingml/2006/main">
            <a:off x="4457700" y="5162550"/>
            <a:ext cx="7048500" cy="0"/>
          </a:xfrm>
          <a:prstGeom xmlns:a="http://schemas.openxmlformats.org/drawingml/2006/main" prst="line">
            <a:avLst/>
          </a:prstGeom>
          <a:noFill xmlns:a="http://schemas.openxmlformats.org/drawingml/2006/main"/>
          <a:ln xmlns:a="http://schemas.openxmlformats.org/drawingml/2006/main" w="7620">
            <a:solidFill>
              <a:srgbClr val="D4D9DF"/>
            </a:solidFill>
          </a:ln>
        </p:spPr>
      </p:sp>
      <p:sp>
        <p:nvSpPr>
          <p:cNvPr id="16" name="Live-model accuracy and independent unseen evaluation r">
            <a:extLst xmlns:a="http://schemas.openxmlformats.org/drawingml/2006/main">
              <a:ext uri="{FF2B5EF4-FFF2-40B4-BE49-F238E27FC236}">
                <a16:creationId xmlns:a16="http://schemas.microsoft.com/office/drawing/2014/main" id="{BED498FF-ED31-4480-8682-149180416B77}"/>
              </a:ext>
            </a:extLst>
          </p:cNvPr>
          <p:cNvSpPr>
            <a:spLocks xmlns:a="http://schemas.openxmlformats.org/drawingml/2006/main" noGrp="1"/>
          </p:cNvSpPr>
          <p:nvPr/>
        </p:nvSpPr>
        <p:spPr>
          <a:xfrm xmlns:a="http://schemas.openxmlformats.org/drawingml/2006/main">
            <a:off x="685800" y="544830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1">
                <a:solidFill>
                  <a:srgbClr val="101D32"/>
                </a:solidFill>
                <a:latin typeface="Nimbus Sans"/>
                <a:ea typeface="Nimbus Sans"/>
                <a:cs typeface="Nimbus Sans"/>
              </a:defRPr>
            </a:pPr>
            <a:r>
              <a:rPr sz="1875" b="1">
                <a:solidFill>
                  <a:srgbClr val="101D32"/>
                </a:solidFill>
                <a:latin typeface="Nimbus Sans"/>
                <a:ea typeface="Nimbus Sans"/>
                <a:cs typeface="Nimbus Sans"/>
              </a:rPr>
              <a:t>Live-model accuracy and independent unseen evaluation remain pending.</a:t>
            </a:r>
          </a:p>
        </p:txBody>
      </p:sp>
      <p:sp>
        <p:nvSpPr>
          <p:cNvPr id="17" name="156 is the audit catalog size. It does not count distin">
            <a:extLst xmlns:a="http://schemas.openxmlformats.org/drawingml/2006/main">
              <a:ext uri="{FF2B5EF4-FFF2-40B4-BE49-F238E27FC236}">
                <a16:creationId xmlns:a16="http://schemas.microsoft.com/office/drawing/2014/main" id="{5D4C2F48-36F1-4AD4-B1C3-20F5DB95A16D}"/>
              </a:ext>
            </a:extLst>
          </p:cNvPr>
          <p:cNvSpPr>
            <a:spLocks xmlns:a="http://schemas.openxmlformats.org/drawingml/2006/main" noGrp="1"/>
          </p:cNvSpPr>
          <p:nvPr/>
        </p:nvSpPr>
        <p:spPr>
          <a:xfrm xmlns:a="http://schemas.openxmlformats.org/drawingml/2006/main">
            <a:off x="685800" y="58102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56172"/>
                </a:solidFill>
                <a:latin typeface="Nimbus Sans"/>
                <a:ea typeface="Nimbus Sans"/>
                <a:cs typeface="Nimbus Sans"/>
              </a:defRPr>
            </a:pPr>
            <a:r>
              <a:rPr sz="1575" b="0">
                <a:solidFill>
                  <a:srgbClr val="556172"/>
                </a:solidFill>
                <a:latin typeface="Nimbus Sans"/>
                <a:ea typeface="Nimbus Sans"/>
                <a:cs typeface="Nimbus Sans"/>
              </a:rPr>
              <a:t>156 is the audit catalog size. It does not count distinct security requirements.</a:t>
            </a:r>
          </a:p>
        </p:txBody>
      </p:sp>
    </p:spTree>
    <p:extLst>
      <p:ext uri="{BB962C8B-B14F-4D97-AF65-F5344CB8AC3E}">
        <p14:creationId xmlns:p14="http://schemas.microsoft.com/office/powerpoint/2010/main" val="2021352137"/>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8" name="09 / OPERATOR REPORTING">
            <a:extLst xmlns:a="http://schemas.openxmlformats.org/drawingml/2006/main">
              <a:ext uri="{FF2B5EF4-FFF2-40B4-BE49-F238E27FC236}">
                <a16:creationId xmlns:a16="http://schemas.microsoft.com/office/drawing/2014/main" id="{6A760596-EDEB-4C7C-B612-38CD11A9AE17}"/>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806638"/>
                </a:solidFill>
                <a:latin typeface="Nimbus Mono PS"/>
                <a:ea typeface="Nimbus Mono PS"/>
                <a:cs typeface="Nimbus Mono PS"/>
              </a:defRPr>
            </a:pPr>
            <a:r>
              <a:rPr sz="1275" b="0">
                <a:solidFill>
                  <a:srgbClr val="806638"/>
                </a:solidFill>
                <a:latin typeface="Nimbus Mono PS"/>
                <a:ea typeface="Nimbus Mono PS"/>
                <a:cs typeface="Nimbus Mono PS"/>
              </a:rPr>
              <a:t>09 / OPERATOR REPORTING</a:t>
            </a:r>
          </a:p>
        </p:txBody>
      </p:sp>
      <p:sp>
        <p:nvSpPr>
          <p:cNvPr id="2" name="Reporting for operators and judges">
            <a:extLst xmlns:a="http://schemas.openxmlformats.org/drawingml/2006/main">
              <a:ext uri="{FF2B5EF4-FFF2-40B4-BE49-F238E27FC236}">
                <a16:creationId xmlns:a16="http://schemas.microsoft.com/office/drawing/2014/main" id="{89BBEC96-8674-44AB-B9A5-81A58C190908}"/>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101D32"/>
                </a:solidFill>
                <a:latin typeface="Nimbus Roman"/>
                <a:ea typeface="Nimbus Roman"/>
                <a:cs typeface="Nimbus Roman"/>
              </a:defRPr>
            </a:pPr>
            <a:r>
              <a:rPr sz="3675" b="0">
                <a:solidFill>
                  <a:srgbClr val="101D32"/>
                </a:solidFill>
                <a:latin typeface="Nimbus Roman"/>
                <a:ea typeface="Nimbus Roman"/>
                <a:cs typeface="Nimbus Roman"/>
              </a:rPr>
              <a:t>Reporting for operators and judges</a:t>
            </a:r>
          </a:p>
        </p:txBody>
      </p:sp>
      <p:sp>
        <p:nvSpPr>
          <p:cNvPr id="3" name="Typographic rule">
            <a:extLst xmlns:a="http://schemas.openxmlformats.org/drawingml/2006/main">
              <a:ext uri="{FF2B5EF4-FFF2-40B4-BE49-F238E27FC236}">
                <a16:creationId xmlns:a16="http://schemas.microsoft.com/office/drawing/2014/main" id="{D6FCF446-6DB7-4CAC-B3AA-441A2C269810}"/>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CED0CC"/>
            </a:solidFill>
          </a:ln>
        </p:spPr>
      </p:sp>
      <p:sp>
        <p:nvSpPr>
          <p:cNvPr id="4" name="MATHGUARD">
            <a:extLst xmlns:a="http://schemas.openxmlformats.org/drawingml/2006/main">
              <a:ext uri="{FF2B5EF4-FFF2-40B4-BE49-F238E27FC236}">
                <a16:creationId xmlns:a16="http://schemas.microsoft.com/office/drawing/2014/main" id="{51741346-1E03-4CD3-AD5B-1BE9D403194B}"/>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101D32"/>
                </a:solidFill>
                <a:latin typeface="Nimbus Sans"/>
                <a:ea typeface="Nimbus Sans"/>
                <a:cs typeface="Nimbus Sans"/>
              </a:defRPr>
            </a:pPr>
            <a:r>
              <a:rPr sz="1275" b="1">
                <a:solidFill>
                  <a:srgbClr val="101D32"/>
                </a:solidFill>
                <a:latin typeface="Nimbus Sans"/>
                <a:ea typeface="Nimbus Sans"/>
                <a:cs typeface="Nimbus Sans"/>
              </a:rPr>
              <a:t>MATHGUARD</a:t>
            </a:r>
          </a:p>
        </p:txBody>
      </p:sp>
      <p:sp>
        <p:nvSpPr>
          <p:cNvPr id="5" name="GOLDMAN SACHS AI CONTROL LAYER">
            <a:extLst xmlns:a="http://schemas.openxmlformats.org/drawingml/2006/main">
              <a:ext uri="{FF2B5EF4-FFF2-40B4-BE49-F238E27FC236}">
                <a16:creationId xmlns:a16="http://schemas.microsoft.com/office/drawing/2014/main" id="{BAD7CB82-ADB0-4DFD-9D66-599A06661193}"/>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556172"/>
                </a:solidFill>
                <a:latin typeface="Nimbus Sans"/>
                <a:ea typeface="Nimbus Sans"/>
                <a:cs typeface="Nimbus Sans"/>
              </a:defRPr>
            </a:pPr>
            <a:r>
              <a:rPr sz="1125" b="0">
                <a:solidFill>
                  <a:srgbClr val="556172"/>
                </a:solidFill>
                <a:latin typeface="Nimbus Sans"/>
                <a:ea typeface="Nimbus Sans"/>
                <a:cs typeface="Nimbus Sans"/>
              </a:rPr>
              <a:t>GOLDMAN SACHS AI CONTROL LAYER</a:t>
            </a:r>
          </a:p>
        </p:txBody>
      </p:sp>
      <p:sp>
        <p:nvSpPr>
          <p:cNvPr id="6" name="09 / 10">
            <a:extLst xmlns:a="http://schemas.openxmlformats.org/drawingml/2006/main">
              <a:ext uri="{FF2B5EF4-FFF2-40B4-BE49-F238E27FC236}">
                <a16:creationId xmlns:a16="http://schemas.microsoft.com/office/drawing/2014/main" id="{48A87684-E798-4D75-BC21-BE5A923C273B}"/>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556172"/>
                </a:solidFill>
                <a:latin typeface="Nimbus Mono PS"/>
                <a:ea typeface="Nimbus Mono PS"/>
                <a:cs typeface="Nimbus Mono PS"/>
              </a:defRPr>
            </a:pPr>
            <a:r>
              <a:rPr sz="1200" b="0">
                <a:solidFill>
                  <a:srgbClr val="556172"/>
                </a:solidFill>
                <a:latin typeface="Nimbus Mono PS"/>
                <a:ea typeface="Nimbus Mono PS"/>
                <a:cs typeface="Nimbus Mono PS"/>
              </a:rPr>
              <a:t>09 / 10</a:t>
            </a:r>
          </a:p>
        </p:txBody>
      </p:sp>
      <p:sp>
        <p:nvSpPr>
          <p:cNvPr id="7" name="01">
            <a:extLst xmlns:a="http://schemas.openxmlformats.org/drawingml/2006/main">
              <a:ext uri="{FF2B5EF4-FFF2-40B4-BE49-F238E27FC236}">
                <a16:creationId xmlns:a16="http://schemas.microsoft.com/office/drawing/2014/main" id="{29018850-8A31-4C7D-8A84-AA8D95BF2D56}"/>
              </a:ext>
            </a:extLst>
          </p:cNvPr>
          <p:cNvSpPr>
            <a:spLocks xmlns:a="http://schemas.openxmlformats.org/drawingml/2006/main" noGrp="1"/>
          </p:cNvSpPr>
          <p:nvPr/>
        </p:nvSpPr>
        <p:spPr>
          <a:xfrm xmlns:a="http://schemas.openxmlformats.org/drawingml/2006/main">
            <a:off x="685800" y="20859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01</a:t>
            </a:r>
          </a:p>
        </p:txBody>
      </p:sp>
      <p:sp>
        <p:nvSpPr>
          <p:cNvPr id="8" name="Decision and resource visibility">
            <a:extLst xmlns:a="http://schemas.openxmlformats.org/drawingml/2006/main">
              <a:ext uri="{FF2B5EF4-FFF2-40B4-BE49-F238E27FC236}">
                <a16:creationId xmlns:a16="http://schemas.microsoft.com/office/drawing/2014/main" id="{1B79C588-8786-4097-B0A2-200AC8BD95FF}"/>
              </a:ext>
            </a:extLst>
          </p:cNvPr>
          <p:cNvSpPr>
            <a:spLocks xmlns:a="http://schemas.openxmlformats.org/drawingml/2006/main" noGrp="1"/>
          </p:cNvSpPr>
          <p:nvPr/>
        </p:nvSpPr>
        <p:spPr>
          <a:xfrm xmlns:a="http://schemas.openxmlformats.org/drawingml/2006/main">
            <a:off x="1447800" y="20764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Decision and resource visibility</a:t>
            </a:r>
          </a:p>
        </p:txBody>
      </p:sp>
      <p:sp>
        <p:nvSpPr>
          <p:cNvPr id="9" name="Dashboard: allow, block, review and redaction.">
            <a:extLst xmlns:a="http://schemas.openxmlformats.org/drawingml/2006/main">
              <a:ext uri="{FF2B5EF4-FFF2-40B4-BE49-F238E27FC236}">
                <a16:creationId xmlns:a16="http://schemas.microsoft.com/office/drawing/2014/main" id="{9245D946-4616-47B9-9DA8-3B1805D730C5}"/>
              </a:ext>
            </a:extLst>
          </p:cNvPr>
          <p:cNvSpPr>
            <a:spLocks xmlns:a="http://schemas.openxmlformats.org/drawingml/2006/main" noGrp="1"/>
          </p:cNvSpPr>
          <p:nvPr/>
        </p:nvSpPr>
        <p:spPr>
          <a:xfrm xmlns:a="http://schemas.openxmlformats.org/drawingml/2006/main">
            <a:off x="1447800" y="25336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Dashboard: allow, block, review and redaction.</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Policy/feed versions, p50/p95 and remaining bounds.</a:t>
            </a:r>
          </a:p>
        </p:txBody>
      </p:sp>
      <p:sp>
        <p:nvSpPr>
          <p:cNvPr id="10" name="Typographic rule">
            <a:extLst xmlns:a="http://schemas.openxmlformats.org/drawingml/2006/main">
              <a:ext uri="{FF2B5EF4-FFF2-40B4-BE49-F238E27FC236}">
                <a16:creationId xmlns:a16="http://schemas.microsoft.com/office/drawing/2014/main" id="{199C38E4-2F67-4760-A37F-D8F96DA1ACCC}"/>
              </a:ext>
            </a:extLst>
          </p:cNvPr>
          <p:cNvSpPr>
            <a:spLocks xmlns:a="http://schemas.openxmlformats.org/drawingml/2006/main" noGrp="1"/>
          </p:cNvSpPr>
          <p:nvPr/>
        </p:nvSpPr>
        <p:spPr>
          <a:xfrm xmlns:a="http://schemas.openxmlformats.org/drawingml/2006/main">
            <a:off x="1447800" y="329565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1" name="02">
            <a:extLst xmlns:a="http://schemas.openxmlformats.org/drawingml/2006/main">
              <a:ext uri="{FF2B5EF4-FFF2-40B4-BE49-F238E27FC236}">
                <a16:creationId xmlns:a16="http://schemas.microsoft.com/office/drawing/2014/main" id="{21BD65CC-6E92-4C13-B4DF-BF92110F3BDD}"/>
              </a:ext>
            </a:extLst>
          </p:cNvPr>
          <p:cNvSpPr>
            <a:spLocks xmlns:a="http://schemas.openxmlformats.org/drawingml/2006/main" noGrp="1"/>
          </p:cNvSpPr>
          <p:nvPr/>
        </p:nvSpPr>
        <p:spPr>
          <a:xfrm xmlns:a="http://schemas.openxmlformats.org/drawingml/2006/main">
            <a:off x="685800" y="357187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02</a:t>
            </a:r>
          </a:p>
        </p:txBody>
      </p:sp>
      <p:sp>
        <p:nvSpPr>
          <p:cNvPr id="12" name="Sanitized management export">
            <a:extLst xmlns:a="http://schemas.openxmlformats.org/drawingml/2006/main">
              <a:ext uri="{FF2B5EF4-FFF2-40B4-BE49-F238E27FC236}">
                <a16:creationId xmlns:a16="http://schemas.microsoft.com/office/drawing/2014/main" id="{5249CF4A-8BF1-4037-BC82-9CE24FBCF35B}"/>
              </a:ext>
            </a:extLst>
          </p:cNvPr>
          <p:cNvSpPr>
            <a:spLocks xmlns:a="http://schemas.openxmlformats.org/drawingml/2006/main" noGrp="1"/>
          </p:cNvSpPr>
          <p:nvPr/>
        </p:nvSpPr>
        <p:spPr>
          <a:xfrm xmlns:a="http://schemas.openxmlformats.org/drawingml/2006/main">
            <a:off x="1447800" y="356235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Sanitized management export</a:t>
            </a:r>
          </a:p>
        </p:txBody>
      </p:sp>
      <p:sp>
        <p:nvSpPr>
          <p:cNvPr id="13" name="The HTTP rehearsal verified that example PII">
            <a:extLst xmlns:a="http://schemas.openxmlformats.org/drawingml/2006/main">
              <a:ext uri="{FF2B5EF4-FFF2-40B4-BE49-F238E27FC236}">
                <a16:creationId xmlns:a16="http://schemas.microsoft.com/office/drawing/2014/main" id="{198D1892-8D9D-4280-8E61-53A9D9F44608}"/>
              </a:ext>
            </a:extLst>
          </p:cNvPr>
          <p:cNvSpPr>
            <a:spLocks xmlns:a="http://schemas.openxmlformats.org/drawingml/2006/main" noGrp="1"/>
          </p:cNvSpPr>
          <p:nvPr/>
        </p:nvSpPr>
        <p:spPr>
          <a:xfrm xmlns:a="http://schemas.openxmlformats.org/drawingml/2006/main">
            <a:off x="1447800" y="401955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The HTTP rehearsal verified that example PII</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and credentials are absent from exported metadata.</a:t>
            </a:r>
          </a:p>
        </p:txBody>
      </p:sp>
      <p:sp>
        <p:nvSpPr>
          <p:cNvPr id="14" name="Typographic rule">
            <a:extLst xmlns:a="http://schemas.openxmlformats.org/drawingml/2006/main">
              <a:ext uri="{FF2B5EF4-FFF2-40B4-BE49-F238E27FC236}">
                <a16:creationId xmlns:a16="http://schemas.microsoft.com/office/drawing/2014/main" id="{81CB43F4-68A8-439F-A388-403166F6BE6E}"/>
              </a:ext>
            </a:extLst>
          </p:cNvPr>
          <p:cNvSpPr>
            <a:spLocks xmlns:a="http://schemas.openxmlformats.org/drawingml/2006/main" noGrp="1"/>
          </p:cNvSpPr>
          <p:nvPr/>
        </p:nvSpPr>
        <p:spPr>
          <a:xfrm xmlns:a="http://schemas.openxmlformats.org/drawingml/2006/main">
            <a:off x="1447800" y="4762500"/>
            <a:ext cx="10058400" cy="0"/>
          </a:xfrm>
          <a:prstGeom xmlns:a="http://schemas.openxmlformats.org/drawingml/2006/main" prst="line">
            <a:avLst/>
          </a:prstGeom>
          <a:noFill xmlns:a="http://schemas.openxmlformats.org/drawingml/2006/main"/>
          <a:ln xmlns:a="http://schemas.openxmlformats.org/drawingml/2006/main" w="9525">
            <a:solidFill>
              <a:srgbClr val="D4D9DF"/>
            </a:solidFill>
          </a:ln>
        </p:spPr>
      </p:sp>
      <p:sp>
        <p:nvSpPr>
          <p:cNvPr id="15" name="03">
            <a:extLst xmlns:a="http://schemas.openxmlformats.org/drawingml/2006/main">
              <a:ext uri="{FF2B5EF4-FFF2-40B4-BE49-F238E27FC236}">
                <a16:creationId xmlns:a16="http://schemas.microsoft.com/office/drawing/2014/main" id="{5F1D51F9-F4B1-404B-AE79-ACCF7BA3B5BB}"/>
              </a:ext>
            </a:extLst>
          </p:cNvPr>
          <p:cNvSpPr>
            <a:spLocks xmlns:a="http://schemas.openxmlformats.org/drawingml/2006/main" noGrp="1"/>
          </p:cNvSpPr>
          <p:nvPr/>
        </p:nvSpPr>
        <p:spPr>
          <a:xfrm xmlns:a="http://schemas.openxmlformats.org/drawingml/2006/main">
            <a:off x="685800" y="5038725"/>
            <a:ext cx="53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806638"/>
                </a:solidFill>
                <a:latin typeface="Nimbus Mono PS"/>
                <a:ea typeface="Nimbus Mono PS"/>
                <a:cs typeface="Nimbus Mono PS"/>
              </a:defRPr>
            </a:pPr>
            <a:r>
              <a:rPr sz="1500" b="0">
                <a:solidFill>
                  <a:srgbClr val="806638"/>
                </a:solidFill>
                <a:latin typeface="Nimbus Mono PS"/>
                <a:ea typeface="Nimbus Mono PS"/>
                <a:cs typeface="Nimbus Mono PS"/>
              </a:rPr>
              <a:t>03</a:t>
            </a:r>
          </a:p>
        </p:txBody>
      </p:sp>
      <p:sp>
        <p:nvSpPr>
          <p:cNvPr id="16" name="Explicit assurance and current limits">
            <a:extLst xmlns:a="http://schemas.openxmlformats.org/drawingml/2006/main">
              <a:ext uri="{FF2B5EF4-FFF2-40B4-BE49-F238E27FC236}">
                <a16:creationId xmlns:a16="http://schemas.microsoft.com/office/drawing/2014/main" id="{5265F6D8-C273-429F-8B04-978FEF789FE0}"/>
              </a:ext>
            </a:extLst>
          </p:cNvPr>
          <p:cNvSpPr>
            <a:spLocks xmlns:a="http://schemas.openxmlformats.org/drawingml/2006/main" noGrp="1"/>
          </p:cNvSpPr>
          <p:nvPr/>
        </p:nvSpPr>
        <p:spPr>
          <a:xfrm xmlns:a="http://schemas.openxmlformats.org/drawingml/2006/main">
            <a:off x="1447800" y="5029200"/>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101D32"/>
                </a:solidFill>
                <a:latin typeface="Nimbus Sans"/>
                <a:ea typeface="Nimbus Sans"/>
                <a:cs typeface="Nimbus Sans"/>
              </a:defRPr>
            </a:pPr>
            <a:r>
              <a:rPr sz="2175" b="1">
                <a:solidFill>
                  <a:srgbClr val="101D32"/>
                </a:solidFill>
                <a:latin typeface="Nimbus Sans"/>
                <a:ea typeface="Nimbus Sans"/>
                <a:cs typeface="Nimbus Sans"/>
              </a:rPr>
              <a:t>Explicit assurance and current limits</a:t>
            </a:r>
          </a:p>
        </p:txBody>
      </p:sp>
      <p:sp>
        <p:nvSpPr>
          <p:cNvPr id="17" name="Fixture/live mode, quarantine and invalid reloads.">
            <a:extLst xmlns:a="http://schemas.openxmlformats.org/drawingml/2006/main">
              <a:ext uri="{FF2B5EF4-FFF2-40B4-BE49-F238E27FC236}">
                <a16:creationId xmlns:a16="http://schemas.microsoft.com/office/drawing/2014/main" id="{256E7C17-0BA8-42FC-BEEF-D8AEC6F19707}"/>
              </a:ext>
            </a:extLst>
          </p:cNvPr>
          <p:cNvSpPr>
            <a:spLocks xmlns:a="http://schemas.openxmlformats.org/drawingml/2006/main" noGrp="1"/>
          </p:cNvSpPr>
          <p:nvPr/>
        </p:nvSpPr>
        <p:spPr>
          <a:xfrm xmlns:a="http://schemas.openxmlformats.org/drawingml/2006/main">
            <a:off x="1447800" y="5486400"/>
            <a:ext cx="10058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Fixture/live mode, quarantine and invalid reloads.</a:t>
            </a:r>
          </a:p>
          <a:p xmlns:a="http://schemas.openxmlformats.org/drawingml/2006/main">
            <a:pPr>
              <a:defRPr sz="1950" b="0">
                <a:solidFill>
                  <a:srgbClr val="556172"/>
                </a:solidFill>
                <a:latin typeface="Nimbus Sans"/>
                <a:ea typeface="Nimbus Sans"/>
                <a:cs typeface="Nimbus Sans"/>
              </a:defRPr>
            </a:pPr>
            <a:r>
              <a:rPr sz="1950" b="0">
                <a:solidFill>
                  <a:srgbClr val="556172"/>
                </a:solidFill>
                <a:latin typeface="Nimbus Sans"/>
                <a:ea typeface="Nimbus Sans"/>
                <a:cs typeface="Nimbus Sans"/>
              </a:rPr>
              <a:t>The volatile audit window remains visible.</a:t>
            </a:r>
          </a:p>
        </p:txBody>
      </p:sp>
    </p:spTree>
    <p:extLst>
      <p:ext uri="{BB962C8B-B14F-4D97-AF65-F5344CB8AC3E}">
        <p14:creationId xmlns:p14="http://schemas.microsoft.com/office/powerpoint/2010/main" val="1265141361"/>
      </p:ext>
    </p:extLst>
  </p:cSld>
</p:sld>
</file>

<file path=ppt/slides/slide10.xml><?xml version="1.0" encoding="utf-8"?>
<p:sld xmlns:p="http://schemas.openxmlformats.org/presentationml/2006/main">
  <p:cSld>
    <p:bg>
      <p:bgPr>
        <a:solidFill xmlns:a="http://schemas.openxmlformats.org/drawingml/2006/main">
          <a:srgbClr val="101D32"/>
        </a:solidFill>
      </p:bgPr>
    </p:bg>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65629caa3ce64a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10 / SUBMISSION">
            <a:extLst xmlns:a="http://schemas.openxmlformats.org/drawingml/2006/main">
              <a:ext uri="{FF2B5EF4-FFF2-40B4-BE49-F238E27FC236}">
                <a16:creationId xmlns:a16="http://schemas.microsoft.com/office/drawing/2014/main" id="{C6AAF628-3E98-4832-B25F-DEC11481EB0C}"/>
              </a:ext>
            </a:extLst>
          </p:cNvPr>
          <p:cNvSpPr>
            <a:spLocks xmlns:a="http://schemas.openxmlformats.org/drawingml/2006/main" noGrp="1"/>
          </p:cNvSpPr>
          <p:nvPr/>
        </p:nvSpPr>
        <p:spPr>
          <a:xfrm xmlns:a="http://schemas.openxmlformats.org/drawingml/2006/main">
            <a:off x="685800" y="42862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0">
                <a:solidFill>
                  <a:srgbClr val="CEB580"/>
                </a:solidFill>
                <a:latin typeface="Nimbus Mono PS"/>
                <a:ea typeface="Nimbus Mono PS"/>
                <a:cs typeface="Nimbus Mono PS"/>
              </a:defRPr>
            </a:pPr>
            <a:r>
              <a:rPr sz="1275" b="0">
                <a:solidFill>
                  <a:srgbClr val="CEB580"/>
                </a:solidFill>
                <a:latin typeface="Nimbus Mono PS"/>
                <a:ea typeface="Nimbus Mono PS"/>
                <a:cs typeface="Nimbus Mono PS"/>
              </a:rPr>
              <a:t>10 / SUBMISSION</a:t>
            </a:r>
          </a:p>
        </p:txBody>
      </p:sp>
      <p:sp>
        <p:nvSpPr>
          <p:cNvPr id="3" name="Demonstration and submission">
            <a:extLst xmlns:a="http://schemas.openxmlformats.org/drawingml/2006/main">
              <a:ext uri="{FF2B5EF4-FFF2-40B4-BE49-F238E27FC236}">
                <a16:creationId xmlns:a16="http://schemas.microsoft.com/office/drawing/2014/main" id="{E5D06C23-CBDA-4B17-982F-4AFF20099601}"/>
              </a:ext>
            </a:extLst>
          </p:cNvPr>
          <p:cNvSpPr>
            <a:spLocks xmlns:a="http://schemas.openxmlformats.org/drawingml/2006/main" noGrp="1"/>
          </p:cNvSpPr>
          <p:nvPr/>
        </p:nvSpPr>
        <p:spPr>
          <a:xfrm xmlns:a="http://schemas.openxmlformats.org/drawingml/2006/main">
            <a:off x="685800" y="8953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675" b="0">
                <a:solidFill>
                  <a:srgbClr val="F6F4ED"/>
                </a:solidFill>
                <a:latin typeface="Nimbus Roman"/>
                <a:ea typeface="Nimbus Roman"/>
                <a:cs typeface="Nimbus Roman"/>
              </a:defRPr>
            </a:pPr>
            <a:r>
              <a:rPr sz="3675" b="0">
                <a:solidFill>
                  <a:srgbClr val="F6F4ED"/>
                </a:solidFill>
                <a:latin typeface="Nimbus Roman"/>
                <a:ea typeface="Nimbus Roman"/>
                <a:cs typeface="Nimbus Roman"/>
              </a:rPr>
              <a:t>Demonstration and submission</a:t>
            </a:r>
          </a:p>
        </p:txBody>
      </p:sp>
      <p:sp>
        <p:nvSpPr>
          <p:cNvPr id="4" name="Typographic rule">
            <a:extLst xmlns:a="http://schemas.openxmlformats.org/drawingml/2006/main">
              <a:ext uri="{FF2B5EF4-FFF2-40B4-BE49-F238E27FC236}">
                <a16:creationId xmlns:a16="http://schemas.microsoft.com/office/drawing/2014/main" id="{331CE2D8-3AC6-476F-BE43-FF7ACF66E29D}"/>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46516A"/>
            </a:solidFill>
          </a:ln>
        </p:spPr>
      </p:sp>
      <p:sp>
        <p:nvSpPr>
          <p:cNvPr id="5" name="MATHGUARD">
            <a:extLst xmlns:a="http://schemas.openxmlformats.org/drawingml/2006/main">
              <a:ext uri="{FF2B5EF4-FFF2-40B4-BE49-F238E27FC236}">
                <a16:creationId xmlns:a16="http://schemas.microsoft.com/office/drawing/2014/main" id="{BFD4AFC0-C1AF-458D-A79C-4E9EC89AAFAB}"/>
              </a:ext>
            </a:extLst>
          </p:cNvPr>
          <p:cNvSpPr>
            <a:spLocks xmlns:a="http://schemas.openxmlformats.org/drawingml/2006/main" noGrp="1"/>
          </p:cNvSpPr>
          <p:nvPr/>
        </p:nvSpPr>
        <p:spPr>
          <a:xfrm xmlns:a="http://schemas.openxmlformats.org/drawingml/2006/main">
            <a:off x="685800" y="638175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75" b="1">
                <a:solidFill>
                  <a:srgbClr val="F6F4ED"/>
                </a:solidFill>
                <a:latin typeface="Nimbus Sans"/>
                <a:ea typeface="Nimbus Sans"/>
                <a:cs typeface="Nimbus Sans"/>
              </a:defRPr>
            </a:pPr>
            <a:r>
              <a:rPr sz="1275" b="1">
                <a:solidFill>
                  <a:srgbClr val="F6F4ED"/>
                </a:solidFill>
                <a:latin typeface="Nimbus Sans"/>
                <a:ea typeface="Nimbus Sans"/>
                <a:cs typeface="Nimbus Sans"/>
              </a:rPr>
              <a:t>MATHGUARD</a:t>
            </a:r>
          </a:p>
        </p:txBody>
      </p:sp>
      <p:sp>
        <p:nvSpPr>
          <p:cNvPr id="6" name="GOLDMAN SACHS AI CONTROL LAYER">
            <a:extLst xmlns:a="http://schemas.openxmlformats.org/drawingml/2006/main">
              <a:ext uri="{FF2B5EF4-FFF2-40B4-BE49-F238E27FC236}">
                <a16:creationId xmlns:a16="http://schemas.microsoft.com/office/drawing/2014/main" id="{6540E8FD-C203-44C7-A2AA-4607BBB9305C}"/>
              </a:ext>
            </a:extLst>
          </p:cNvPr>
          <p:cNvSpPr>
            <a:spLocks xmlns:a="http://schemas.openxmlformats.org/drawingml/2006/main" noGrp="1"/>
          </p:cNvSpPr>
          <p:nvPr/>
        </p:nvSpPr>
        <p:spPr>
          <a:xfrm xmlns:a="http://schemas.openxmlformats.org/drawingml/2006/main">
            <a:off x="3048000" y="6400800"/>
            <a:ext cx="752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125" b="0">
                <a:solidFill>
                  <a:srgbClr val="BCC8D7"/>
                </a:solidFill>
                <a:latin typeface="Nimbus Sans"/>
                <a:ea typeface="Nimbus Sans"/>
                <a:cs typeface="Nimbus Sans"/>
              </a:defRPr>
            </a:pPr>
            <a:r>
              <a:rPr sz="1125" b="0">
                <a:solidFill>
                  <a:srgbClr val="BCC8D7"/>
                </a:solidFill>
                <a:latin typeface="Nimbus Sans"/>
                <a:ea typeface="Nimbus Sans"/>
                <a:cs typeface="Nimbus Sans"/>
              </a:rPr>
              <a:t>GOLDMAN SACHS AI CONTROL LAYER</a:t>
            </a:r>
          </a:p>
        </p:txBody>
      </p:sp>
      <p:sp>
        <p:nvSpPr>
          <p:cNvPr id="7" name="10 / 10">
            <a:extLst xmlns:a="http://schemas.openxmlformats.org/drawingml/2006/main">
              <a:ext uri="{FF2B5EF4-FFF2-40B4-BE49-F238E27FC236}">
                <a16:creationId xmlns:a16="http://schemas.microsoft.com/office/drawing/2014/main" id="{BDF993AB-82F6-40DA-83C8-87F03061B6DE}"/>
              </a:ext>
            </a:extLst>
          </p:cNvPr>
          <p:cNvSpPr>
            <a:spLocks xmlns:a="http://schemas.openxmlformats.org/drawingml/2006/main" noGrp="1"/>
          </p:cNvSpPr>
          <p:nvPr/>
        </p:nvSpPr>
        <p:spPr>
          <a:xfrm xmlns:a="http://schemas.openxmlformats.org/drawingml/2006/main">
            <a:off x="10706100" y="6381750"/>
            <a:ext cx="800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00" b="0">
                <a:solidFill>
                  <a:srgbClr val="BCC8D7"/>
                </a:solidFill>
                <a:latin typeface="Nimbus Mono PS"/>
                <a:ea typeface="Nimbus Mono PS"/>
                <a:cs typeface="Nimbus Mono PS"/>
              </a:defRPr>
            </a:pPr>
            <a:r>
              <a:rPr sz="1200" b="0">
                <a:solidFill>
                  <a:srgbClr val="BCC8D7"/>
                </a:solidFill>
                <a:latin typeface="Nimbus Mono PS"/>
                <a:ea typeface="Nimbus Mono PS"/>
                <a:cs typeface="Nimbus Mono PS"/>
              </a:rPr>
              <a:t>10 / 10</a:t>
            </a:r>
          </a:p>
        </p:txBody>
      </p:sp>
      <p:sp>
        <p:nvSpPr>
          <p:cNvPr id="8" name="make test">
            <a:extLst xmlns:a="http://schemas.openxmlformats.org/drawingml/2006/main">
              <a:ext uri="{FF2B5EF4-FFF2-40B4-BE49-F238E27FC236}">
                <a16:creationId xmlns:a16="http://schemas.microsoft.com/office/drawing/2014/main" id="{20786D95-2BD3-4A40-AC83-0BD0072F6FED}"/>
              </a:ext>
            </a:extLst>
          </p:cNvPr>
          <p:cNvSpPr>
            <a:spLocks xmlns:a="http://schemas.openxmlformats.org/drawingml/2006/main" noGrp="1"/>
          </p:cNvSpPr>
          <p:nvPr/>
        </p:nvSpPr>
        <p:spPr>
          <a:xfrm xmlns:a="http://schemas.openxmlformats.org/drawingml/2006/main">
            <a:off x="685800" y="19526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0">
                <a:solidFill>
                  <a:srgbClr val="F6F4ED"/>
                </a:solidFill>
                <a:latin typeface="Nimbus Mono PS"/>
                <a:ea typeface="Nimbus Mono PS"/>
                <a:cs typeface="Nimbus Mono PS"/>
              </a:defRPr>
            </a:pPr>
            <a:r>
              <a:rPr sz="3150" b="0">
                <a:solidFill>
                  <a:srgbClr val="F6F4ED"/>
                </a:solidFill>
                <a:latin typeface="Nimbus Mono PS"/>
                <a:ea typeface="Nimbus Mono PS"/>
                <a:cs typeface="Nimbus Mono PS"/>
              </a:rPr>
              <a:t>make test</a:t>
            </a:r>
          </a:p>
        </p:txBody>
      </p:sp>
      <p:sp>
        <p:nvSpPr>
          <p:cNvPr id="9" name="make run">
            <a:extLst xmlns:a="http://schemas.openxmlformats.org/drawingml/2006/main">
              <a:ext uri="{FF2B5EF4-FFF2-40B4-BE49-F238E27FC236}">
                <a16:creationId xmlns:a16="http://schemas.microsoft.com/office/drawing/2014/main" id="{64E0E15A-C094-4A4D-BF0A-9485EFA6625D}"/>
              </a:ext>
            </a:extLst>
          </p:cNvPr>
          <p:cNvSpPr>
            <a:spLocks xmlns:a="http://schemas.openxmlformats.org/drawingml/2006/main" noGrp="1"/>
          </p:cNvSpPr>
          <p:nvPr/>
        </p:nvSpPr>
        <p:spPr>
          <a:xfrm xmlns:a="http://schemas.openxmlformats.org/drawingml/2006/main">
            <a:off x="685800" y="26479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0">
                <a:solidFill>
                  <a:srgbClr val="F6F4ED"/>
                </a:solidFill>
                <a:latin typeface="Nimbus Mono PS"/>
                <a:ea typeface="Nimbus Mono PS"/>
                <a:cs typeface="Nimbus Mono PS"/>
              </a:defRPr>
            </a:pPr>
            <a:r>
              <a:rPr sz="3150" b="0">
                <a:solidFill>
                  <a:srgbClr val="F6F4ED"/>
                </a:solidFill>
                <a:latin typeface="Nimbus Mono PS"/>
                <a:ea typeface="Nimbus Mono PS"/>
                <a:cs typeface="Nimbus Mono PS"/>
              </a:rPr>
              <a:t>make run</a:t>
            </a:r>
          </a:p>
        </p:txBody>
      </p:sp>
      <p:sp>
        <p:nvSpPr>
          <p:cNvPr id="10" name="Typographic rule">
            <a:extLst xmlns:a="http://schemas.openxmlformats.org/drawingml/2006/main">
              <a:ext uri="{FF2B5EF4-FFF2-40B4-BE49-F238E27FC236}">
                <a16:creationId xmlns:a16="http://schemas.microsoft.com/office/drawing/2014/main" id="{C6B3B400-0810-4E63-AE37-9396653A91F4}"/>
              </a:ext>
            </a:extLst>
          </p:cNvPr>
          <p:cNvSpPr>
            <a:spLocks xmlns:a="http://schemas.openxmlformats.org/drawingml/2006/main" noGrp="1"/>
          </p:cNvSpPr>
          <p:nvPr/>
        </p:nvSpPr>
        <p:spPr>
          <a:xfrm xmlns:a="http://schemas.openxmlformats.org/drawingml/2006/main">
            <a:off x="685800" y="3571875"/>
            <a:ext cx="5772150" cy="0"/>
          </a:xfrm>
          <a:prstGeom xmlns:a="http://schemas.openxmlformats.org/drawingml/2006/main" prst="line">
            <a:avLst/>
          </a:prstGeom>
          <a:noFill xmlns:a="http://schemas.openxmlformats.org/drawingml/2006/main"/>
          <a:ln xmlns:a="http://schemas.openxmlformats.org/drawingml/2006/main" w="7620">
            <a:solidFill>
              <a:srgbClr val="627087"/>
            </a:solidFill>
          </a:ln>
        </p:spPr>
      </p:sp>
      <p:sp>
        <p:nvSpPr>
          <p:cNvPr id="11" name="LOCAL MODEL RECORD">
            <a:extLst xmlns:a="http://schemas.openxmlformats.org/drawingml/2006/main">
              <a:ext uri="{FF2B5EF4-FFF2-40B4-BE49-F238E27FC236}">
                <a16:creationId xmlns:a16="http://schemas.microsoft.com/office/drawing/2014/main" id="{AE633214-209E-4F79-84B7-C8F0FBE19432}"/>
              </a:ext>
            </a:extLst>
          </p:cNvPr>
          <p:cNvSpPr>
            <a:spLocks xmlns:a="http://schemas.openxmlformats.org/drawingml/2006/main" noGrp="1"/>
          </p:cNvSpPr>
          <p:nvPr/>
        </p:nvSpPr>
        <p:spPr>
          <a:xfrm xmlns:a="http://schemas.openxmlformats.org/drawingml/2006/main">
            <a:off x="685800" y="3876675"/>
            <a:ext cx="6286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350" b="0">
                <a:solidFill>
                  <a:srgbClr val="CEB580"/>
                </a:solidFill>
                <a:latin typeface="Nimbus Mono PS"/>
                <a:ea typeface="Nimbus Mono PS"/>
                <a:cs typeface="Nimbus Mono PS"/>
              </a:defRPr>
            </a:pPr>
            <a:r>
              <a:rPr sz="1350" b="0">
                <a:solidFill>
                  <a:srgbClr val="CEB580"/>
                </a:solidFill>
                <a:latin typeface="Nimbus Mono PS"/>
                <a:ea typeface="Nimbus Mono PS"/>
                <a:cs typeface="Nimbus Mono PS"/>
              </a:rPr>
              <a:t>LOCAL MODEL RECORD</a:t>
            </a:r>
          </a:p>
        </p:txBody>
      </p:sp>
      <p:sp>
        <p:nvSpPr>
          <p:cNvPr id="12" name="Exact installed model ID and endpoint">
            <a:extLst xmlns:a="http://schemas.openxmlformats.org/drawingml/2006/main">
              <a:ext uri="{FF2B5EF4-FFF2-40B4-BE49-F238E27FC236}">
                <a16:creationId xmlns:a16="http://schemas.microsoft.com/office/drawing/2014/main" id="{861C97D4-D1E2-4831-B7DF-26965086DDCC}"/>
              </a:ext>
            </a:extLst>
          </p:cNvPr>
          <p:cNvSpPr>
            <a:spLocks xmlns:a="http://schemas.openxmlformats.org/drawingml/2006/main" noGrp="1"/>
          </p:cNvSpPr>
          <p:nvPr/>
        </p:nvSpPr>
        <p:spPr>
          <a:xfrm xmlns:a="http://schemas.openxmlformats.org/drawingml/2006/main">
            <a:off x="685800" y="4333875"/>
            <a:ext cx="6191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DDE3EC"/>
                </a:solidFill>
                <a:latin typeface="Nimbus Sans"/>
                <a:ea typeface="Nimbus Sans"/>
                <a:cs typeface="Nimbus Sans"/>
              </a:defRPr>
            </a:pPr>
            <a:r>
              <a:rPr sz="2025" b="0">
                <a:solidFill>
                  <a:srgbClr val="DDE3EC"/>
                </a:solidFill>
                <a:latin typeface="Nimbus Sans"/>
                <a:ea typeface="Nimbus Sans"/>
                <a:cs typeface="Nimbus Sans"/>
              </a:rPr>
              <a:t>Exact installed model ID and endpoint</a:t>
            </a:r>
          </a:p>
          <a:p xmlns:a="http://schemas.openxmlformats.org/drawingml/2006/main">
            <a:pPr>
              <a:defRPr sz="2025" b="0">
                <a:solidFill>
                  <a:srgbClr val="DDE3EC"/>
                </a:solidFill>
                <a:latin typeface="Nimbus Sans"/>
                <a:ea typeface="Nimbus Sans"/>
                <a:cs typeface="Nimbus Sans"/>
              </a:defRPr>
            </a:pPr>
            <a:r>
              <a:rPr sz="2025" b="0">
                <a:solidFill>
                  <a:srgbClr val="DDE3EC"/>
                </a:solidFill>
                <a:latin typeface="Nimbus Sans"/>
                <a:ea typeface="Nimbus Sans"/>
                <a:cs typeface="Nimbus Sans"/>
              </a:rPr>
              <a:t>Server / weights version and license</a:t>
            </a:r>
          </a:p>
          <a:p xmlns:a="http://schemas.openxmlformats.org/drawingml/2006/main">
            <a:pPr>
              <a:defRPr sz="2025" b="0">
                <a:solidFill>
                  <a:srgbClr val="DDE3EC"/>
                </a:solidFill>
                <a:latin typeface="Nimbus Sans"/>
                <a:ea typeface="Nimbus Sans"/>
                <a:cs typeface="Nimbus Sans"/>
              </a:defRPr>
            </a:pPr>
            <a:r>
              <a:rPr sz="2025" b="0">
                <a:solidFill>
                  <a:srgbClr val="DDE3EC"/>
                </a:solidFill>
                <a:latin typeface="Nimbus Sans"/>
                <a:ea typeface="Nimbus Sans"/>
                <a:cs typeface="Nimbus Sans"/>
              </a:rPr>
              <a:t>Live evaluator results</a:t>
            </a:r>
          </a:p>
        </p:txBody>
      </p:sp>
      <p:sp>
        <p:nvSpPr>
          <p:cNvPr id="13" name="REMAINING EVIDENCE">
            <a:extLst xmlns:a="http://schemas.openxmlformats.org/drawingml/2006/main">
              <a:ext uri="{FF2B5EF4-FFF2-40B4-BE49-F238E27FC236}">
                <a16:creationId xmlns:a16="http://schemas.microsoft.com/office/drawing/2014/main" id="{812CFC58-2810-4D47-ABEA-EEC5780CBA36}"/>
              </a:ext>
            </a:extLst>
          </p:cNvPr>
          <p:cNvSpPr>
            <a:spLocks xmlns:a="http://schemas.openxmlformats.org/drawingml/2006/main" noGrp="1"/>
          </p:cNvSpPr>
          <p:nvPr/>
        </p:nvSpPr>
        <p:spPr>
          <a:xfrm xmlns:a="http://schemas.openxmlformats.org/drawingml/2006/main">
            <a:off x="7486650" y="1952625"/>
            <a:ext cx="4019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350" b="0">
                <a:solidFill>
                  <a:srgbClr val="CEB580"/>
                </a:solidFill>
                <a:latin typeface="Nimbus Mono PS"/>
                <a:ea typeface="Nimbus Mono PS"/>
                <a:cs typeface="Nimbus Mono PS"/>
              </a:defRPr>
            </a:pPr>
            <a:r>
              <a:rPr sz="1350" b="0">
                <a:solidFill>
                  <a:srgbClr val="CEB580"/>
                </a:solidFill>
                <a:latin typeface="Nimbus Mono PS"/>
                <a:ea typeface="Nimbus Mono PS"/>
                <a:cs typeface="Nimbus Mono PS"/>
              </a:rPr>
              <a:t>REMAINING EVIDENCE</a:t>
            </a:r>
          </a:p>
        </p:txBody>
      </p:sp>
      <p:sp>
        <p:nvSpPr>
          <p:cNvPr id="14" name="Independent human-authored">
            <a:extLst xmlns:a="http://schemas.openxmlformats.org/drawingml/2006/main">
              <a:ext uri="{FF2B5EF4-FFF2-40B4-BE49-F238E27FC236}">
                <a16:creationId xmlns:a16="http://schemas.microsoft.com/office/drawing/2014/main" id="{AFDF630B-4BEA-4E1A-A28C-18F79B88B429}"/>
              </a:ext>
            </a:extLst>
          </p:cNvPr>
          <p:cNvSpPr>
            <a:spLocks xmlns:a="http://schemas.openxmlformats.org/drawingml/2006/main" noGrp="1"/>
          </p:cNvSpPr>
          <p:nvPr/>
        </p:nvSpPr>
        <p:spPr>
          <a:xfrm xmlns:a="http://schemas.openxmlformats.org/drawingml/2006/main">
            <a:off x="7486650" y="2419350"/>
            <a:ext cx="40195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F6F4ED"/>
                </a:solidFill>
                <a:latin typeface="Nimbus Sans"/>
                <a:ea typeface="Nimbus Sans"/>
                <a:cs typeface="Nimbus Sans"/>
              </a:defRPr>
            </a:pPr>
            <a:r>
              <a:rPr sz="1950" b="0">
                <a:solidFill>
                  <a:srgbClr val="F6F4ED"/>
                </a:solidFill>
                <a:latin typeface="Nimbus Sans"/>
                <a:ea typeface="Nimbus Sans"/>
                <a:cs typeface="Nimbus Sans"/>
              </a:rPr>
              <a:t>Independent human-authored</a:t>
            </a:r>
          </a:p>
          <a:p xmlns:a="http://schemas.openxmlformats.org/drawingml/2006/main">
            <a:pPr>
              <a:defRPr sz="1950" b="0">
                <a:solidFill>
                  <a:srgbClr val="F6F4ED"/>
                </a:solidFill>
                <a:latin typeface="Nimbus Sans"/>
                <a:ea typeface="Nimbus Sans"/>
                <a:cs typeface="Nimbus Sans"/>
              </a:defRPr>
            </a:pPr>
            <a:r>
              <a:rPr sz="1950" b="0">
                <a:solidFill>
                  <a:srgbClr val="F6F4ED"/>
                </a:solidFill>
                <a:latin typeface="Nimbus Sans"/>
                <a:ea typeface="Nimbus Sans"/>
                <a:cs typeface="Nimbus Sans"/>
              </a:rPr>
              <a:t>prompt set</a:t>
            </a:r>
          </a:p>
          <a:p xmlns:a="http://schemas.openxmlformats.org/drawingml/2006/main">
            <a:r>
              <a:t/>
            </a:r>
          </a:p>
          <a:p xmlns:a="http://schemas.openxmlformats.org/drawingml/2006/main">
            <a:pPr>
              <a:defRPr sz="1950" b="0">
                <a:solidFill>
                  <a:srgbClr val="F6F4ED"/>
                </a:solidFill>
                <a:latin typeface="Nimbus Sans"/>
                <a:ea typeface="Nimbus Sans"/>
                <a:cs typeface="Nimbus Sans"/>
              </a:defRPr>
            </a:pPr>
            <a:r>
              <a:rPr sz="1950" b="0">
                <a:solidFill>
                  <a:srgbClr val="F6F4ED"/>
                </a:solidFill>
                <a:latin typeface="Nimbus Sans"/>
                <a:ea typeface="Nimbus Sans"/>
                <a:cs typeface="Nimbus Sans"/>
              </a:rPr>
              <a:t>Browser / operator rehearsal</a:t>
            </a:r>
          </a:p>
          <a:p xmlns:a="http://schemas.openxmlformats.org/drawingml/2006/main">
            <a:pPr>
              <a:defRPr sz="1950" b="0">
                <a:solidFill>
                  <a:srgbClr val="F6F4ED"/>
                </a:solidFill>
                <a:latin typeface="Nimbus Sans"/>
                <a:ea typeface="Nimbus Sans"/>
                <a:cs typeface="Nimbus Sans"/>
              </a:defRPr>
            </a:pPr>
            <a:r>
              <a:rPr sz="1950" b="0">
                <a:solidFill>
                  <a:srgbClr val="F6F4ED"/>
                </a:solidFill>
                <a:latin typeface="Nimbus Sans"/>
                <a:ea typeface="Nimbus Sans"/>
                <a:cs typeface="Nimbus Sans"/>
              </a:rPr>
              <a:t>Registered member list</a:t>
            </a:r>
          </a:p>
          <a:p xmlns:a="http://schemas.openxmlformats.org/drawingml/2006/main">
            <a:pPr>
              <a:defRPr sz="1950" b="0">
                <a:solidFill>
                  <a:srgbClr val="F6F4ED"/>
                </a:solidFill>
                <a:latin typeface="Nimbus Sans"/>
                <a:ea typeface="Nimbus Sans"/>
                <a:cs typeface="Nimbus Sans"/>
              </a:defRPr>
            </a:pPr>
            <a:r>
              <a:rPr sz="1950" b="0">
                <a:solidFill>
                  <a:srgbClr val="F6F4ED"/>
                </a:solidFill>
                <a:latin typeface="Nimbus Sans"/>
                <a:ea typeface="Nimbus Sans"/>
                <a:cs typeface="Nimbus Sans"/>
              </a:rPr>
              <a:t>HackTribe entry</a:t>
            </a:r>
          </a:p>
        </p:txBody>
      </p:sp>
      <p:sp>
        <p:nvSpPr>
          <p:cNvPr id="15" name="github.com/ljaniec/Mathguard/pull/5">
            <a:extLst xmlns:a="http://schemas.openxmlformats.org/drawingml/2006/main">
              <a:ext uri="{FF2B5EF4-FFF2-40B4-BE49-F238E27FC236}">
                <a16:creationId xmlns:a16="http://schemas.microsoft.com/office/drawing/2014/main" id="{7204550D-DFF1-4972-AA97-75BF3C2BFBB8}"/>
              </a:ext>
            </a:extLst>
          </p:cNvPr>
          <p:cNvSpPr>
            <a:spLocks xmlns:a="http://schemas.openxmlformats.org/drawingml/2006/main" noGrp="1"/>
          </p:cNvSpPr>
          <p:nvPr/>
        </p:nvSpPr>
        <p:spPr>
          <a:xfrm xmlns:a="http://schemas.openxmlformats.org/drawingml/2006/main">
            <a:off x="685800" y="571500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D7BD84"/>
                </a:solidFill>
                <a:latin typeface="Nimbus Sans"/>
                <a:ea typeface="Nimbus Sans"/>
                <a:cs typeface="Nimbus Sans"/>
              </a:defRPr>
            </a:pPr>
            <a:r>
              <a:rPr sz="1875">
                <a:solidFill>
                  <a:srgbClr val="D7BD84"/>
                </a:solidFill>
                <a:latin typeface="Nimbus Sans"/>
                <a:ea typeface="Nimbus Sans"/>
                <a:cs typeface="Nimbus Sans"/>
                <a:hlinkClick xmlns:r="http://schemas.openxmlformats.org/officeDocument/2006/relationships" r:id="Rd8266c33bf9a4bc3"/>
              </a:rPr>
              <a:t>github.com/ljaniec/Mathguard/pull/5</a:t>
            </a:r>
          </a:p>
        </p:txBody>
      </p:sp>
    </p:spTree>
    <p:extLst>
      <p:ext uri="{BB962C8B-B14F-4D97-AF65-F5344CB8AC3E}">
        <p14:creationId xmlns:p14="http://schemas.microsoft.com/office/powerpoint/2010/main" val="1091035363"/>
      </p:ext>
    </p:extLst>
  </p:cSld>
</p:sld>
</file>

<file path=ppt/theme/theme1.xml><?xml version="1.0" encoding="utf-8"?>
<a:theme xmlns:a="http://schemas.openxmlformats.org/drawingml/2006/main" name="ChatGPT">
  <a:themeElements>
    <a:clrScheme name="Mathguard / Proof Gate">
      <a:dk1>
        <a:srgbClr val="101D32"/>
      </a:dk1>
      <a:lt1>
        <a:srgbClr val="F6F4ED"/>
      </a:lt1>
      <a:dk2>
        <a:srgbClr val="556172"/>
      </a:dk2>
      <a:lt2>
        <a:srgbClr val="DDE3EC"/>
      </a:lt2>
      <a:accent1>
        <a:srgbClr val="9B814F"/>
      </a:accent1>
      <a:accent2>
        <a:srgbClr val="2B5279"/>
      </a:accent2>
      <a:accent3>
        <a:srgbClr val="556172"/>
      </a:accent3>
      <a:accent4>
        <a:srgbClr val="7A4441"/>
      </a:accent4>
      <a:accent5>
        <a:srgbClr val="547568"/>
      </a:accent5>
      <a:accent6>
        <a:srgbClr val="D4D9DF"/>
      </a:accent6>
      <a:hlink>
        <a:srgbClr val="D7BD84"/>
      </a:hlink>
      <a:folHlink>
        <a:srgbClr val="D7BD84"/>
      </a:folHlink>
    </a:clrScheme>
    <a:fontScheme name="">
      <a:majorFont>
        <a:latin typeface="Aptos"/>
        <a:ea typeface=""/>
        <a:cs typeface=""/>
      </a:majorFont>
      <a:minorFont>
        <a:latin typeface="Aptos"/>
        <a:ea typeface=""/>
        <a:cs typeface=""/>
      </a:minorFont>
    </a:fontScheme>
    <a:fmtScheme name="Mathguard / Proof Gat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2026-10-04T00:41:39.1150000Z</dcterms:created>
  <dcterms:modified xsi:type="dcterms:W3CDTF">2026-10-04T00:41:39.1150000Z</dcterms:modified>
</coreProperties>
</file>