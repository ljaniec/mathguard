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4b56c7d8d34588" /><Relationship Type="http://schemas.openxmlformats.org/officeDocument/2006/relationships/extended-properties" Target="/docProps/app.xml" Id="R9f884696d1344fc5" /><Relationship Type="http://schemas.openxmlformats.org/officeDocument/2006/relationships/officeDocument" Target="/ppt/presentation.xml" Id="R941143a319774f13" /></Relationships>
</file>

<file path=ppt/presentation.xml><?xml version="1.0" encoding="utf-8"?>
<p:presentation xmlns:p="http://schemas.openxmlformats.org/presentationml/2006/main">
  <p:sldMasterIdLst>
    <p:sldMasterId xmlns:r="http://schemas.openxmlformats.org/officeDocument/2006/relationships" id="2147483648" r:id="Rb0fcd49edd46497c"/>
  </p:sldMasterIdLst>
  <p:notesMasterIdLst>
    <p:notesMasterId xmlns:r="http://schemas.openxmlformats.org/officeDocument/2006/relationships" r:id="R61c9977cd06843bc"/>
  </p:notesMasterIdLst>
  <p:sldIdLst>
    <p:sldId xmlns:r="http://schemas.openxmlformats.org/officeDocument/2006/relationships" id="256" r:id="Rbebdcf39ede14419"/>
    <p:sldId xmlns:r="http://schemas.openxmlformats.org/officeDocument/2006/relationships" id="257" r:id="Rcb934ecf5e4f42b0"/>
    <p:sldId xmlns:r="http://schemas.openxmlformats.org/officeDocument/2006/relationships" id="258" r:id="R9617e02a21904045"/>
    <p:sldId xmlns:r="http://schemas.openxmlformats.org/officeDocument/2006/relationships" id="259" r:id="R6709b6a04a4a46e1"/>
    <p:sldId xmlns:r="http://schemas.openxmlformats.org/officeDocument/2006/relationships" id="260" r:id="R20579f8f13094d5b"/>
    <p:sldId xmlns:r="http://schemas.openxmlformats.org/officeDocument/2006/relationships" id="261" r:id="Rf1bdec36d9154789"/>
    <p:sldId xmlns:r="http://schemas.openxmlformats.org/officeDocument/2006/relationships" id="262" r:id="R6588b0ad64954fa8"/>
    <p:sldId xmlns:r="http://schemas.openxmlformats.org/officeDocument/2006/relationships" id="263" r:id="Rc24ffd29e7b3485d"/>
    <p:sldId xmlns:r="http://schemas.openxmlformats.org/officeDocument/2006/relationships" id="264" r:id="R3b09ba292aa2432a"/>
    <p:sldId xmlns:r="http://schemas.openxmlformats.org/officeDocument/2006/relationships" id="265" r:id="R28f9fd0e9bfc4f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d74fd12b13419d" /><Relationship Type="http://schemas.openxmlformats.org/officeDocument/2006/relationships/slideMaster" Target="/ppt/slideMasters/slideMaster1.xml" Id="Rb0fcd49edd46497c" /><Relationship Type="http://schemas.openxmlformats.org/officeDocument/2006/relationships/notesMaster" Target="/ppt/notesMasters/notesMaster1.xml" Id="R61c9977cd06843bc" /><Relationship Type="http://schemas.openxmlformats.org/officeDocument/2006/relationships/presProps" Target="/ppt/presProps.xml" Id="Rf29908811c084349" /><Relationship Type="http://schemas.openxmlformats.org/officeDocument/2006/relationships/tableStyles" Target="/ppt/tableStyles.xml" Id="Rdcf3501b85df4587" /><Relationship Type="http://schemas.openxmlformats.org/officeDocument/2006/relationships/slide" Target="/ppt/slides/slide1.xml" Id="Rbebdcf39ede14419" /><Relationship Type="http://schemas.openxmlformats.org/officeDocument/2006/relationships/slide" Target="/ppt/slides/slide2.xml" Id="Rcb934ecf5e4f42b0" /><Relationship Type="http://schemas.openxmlformats.org/officeDocument/2006/relationships/slide" Target="/ppt/slides/slide3.xml" Id="R9617e02a21904045" /><Relationship Type="http://schemas.openxmlformats.org/officeDocument/2006/relationships/slide" Target="/ppt/slides/slide4.xml" Id="R6709b6a04a4a46e1" /><Relationship Type="http://schemas.openxmlformats.org/officeDocument/2006/relationships/slide" Target="/ppt/slides/slide5.xml" Id="R20579f8f13094d5b" /><Relationship Type="http://schemas.openxmlformats.org/officeDocument/2006/relationships/slide" Target="/ppt/slides/slide6.xml" Id="Rf1bdec36d9154789" /><Relationship Type="http://schemas.openxmlformats.org/officeDocument/2006/relationships/slide" Target="/ppt/slides/slide7.xml" Id="R6588b0ad64954fa8" /><Relationship Type="http://schemas.openxmlformats.org/officeDocument/2006/relationships/slide" Target="/ppt/slides/slide8.xml" Id="Rc24ffd29e7b3485d" /><Relationship Type="http://schemas.openxmlformats.org/officeDocument/2006/relationships/slide" Target="/ppt/slides/slide9.xml" Id="R3b09ba292aa2432a" /><Relationship Type="http://schemas.openxmlformats.org/officeDocument/2006/relationships/slide" Target="/ppt/slides/slide10.xml" Id="R28f9fd0e9bfc4f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37a3a1ecb043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9635220c1649a9" /><Relationship Type="http://schemas.openxmlformats.org/officeDocument/2006/relationships/notesMaster" Target="/ppt/notesMasters/notesMaster1.xml" Id="Ra23e5961a79146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60d5e4d3384cbc" /><Relationship Type="http://schemas.openxmlformats.org/officeDocument/2006/relationships/notesMaster" Target="/ppt/notesMasters/notesMaster1.xml" Id="R2989554cbc454b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0be8abba1c4451" /><Relationship Type="http://schemas.openxmlformats.org/officeDocument/2006/relationships/notesMaster" Target="/ppt/notesMasters/notesMaster1.xml" Id="Rdf928f4596c541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8d8db16c2940db" /><Relationship Type="http://schemas.openxmlformats.org/officeDocument/2006/relationships/notesMaster" Target="/ppt/notesMasters/notesMaster1.xml" Id="Ra43196694f9d47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ee5e21de5b45b3" /><Relationship Type="http://schemas.openxmlformats.org/officeDocument/2006/relationships/notesMaster" Target="/ppt/notesMasters/notesMaster1.xml" Id="R634c5854b13f40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19bd29d4a54204" /><Relationship Type="http://schemas.openxmlformats.org/officeDocument/2006/relationships/notesMaster" Target="/ppt/notesMasters/notesMaster1.xml" Id="R12f142b1f9a94f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d2f91d1d62484c" /><Relationship Type="http://schemas.openxmlformats.org/officeDocument/2006/relationships/notesMaster" Target="/ppt/notesMasters/notesMaster1.xml" Id="R18cc03ff5e9c4c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02d4b3ddfd427a" /><Relationship Type="http://schemas.openxmlformats.org/officeDocument/2006/relationships/notesMaster" Target="/ppt/notesMasters/notesMaster1.xml" Id="Re8726bb254ff47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b979ca785a435b" /><Relationship Type="http://schemas.openxmlformats.org/officeDocument/2006/relationships/notesMaster" Target="/ppt/notesMasters/notesMaster1.xml" Id="R0a3f58ee27814d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fb216df372493b" /><Relationship Type="http://schemas.openxmlformats.org/officeDocument/2006/relationships/notesMaster" Target="/ppt/notesMasters/notesMaster1.xml" Id="Rcdc36b0d6ec34d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identity; registered member list must be confirmed in HackTribe. This deck records implementation evidence; live model evaluation remains pending.</a:t>
            </a:r>
          </a:p>
          <a:p xmlns:a="http://schemas.openxmlformats.org/drawingml/2006/main">
            <a:r>
              <a:t>Sources:</a:t>
            </a:r>
          </a:p>
          <a:p xmlns:a="http://schemas.openxmlformats.org/drawingml/2006/main">
            <a:r>
              <a:t>https://github.com/ljaniec/Mathguard/blob/integration/aristotle-general-control/README.md</a:t>
            </a:r>
          </a:p>
          <a:p xmlns:a="http://schemas.openxmlformats.org/drawingml/2006/main">
            <a:r>
              <a:t>https://github.com/ljaniec/Mathguard/blob/integration/aristotle-general-control/docs/13-GENERAL-CONTROL-LAYER.md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architecture. SDK callbacks are trusted integrations. Every relevant application boundary must be routed through the layer. Not a full MCP transport/OAuth implementation.</a:t>
            </a:r>
          </a:p>
          <a:p xmlns:a="http://schemas.openxmlformats.org/drawingml/2006/main">
            <a:r>
              <a:t>Sources:</a:t>
            </a:r>
          </a:p>
          <a:p xmlns:a="http://schemas.openxmlformats.org/drawingml/2006/main">
            <a:r>
              <a:t>https://github.com/ljaniec/Mathguard/blob/integration/aristotle-general-control/docs/13-GENERAL-CONTROL-LAYER.md</a:t>
            </a:r>
          </a:p>
          <a:p xmlns:a="http://schemas.openxmlformats.org/drawingml/2006/main">
            <a:r>
              <a:t>https://github.com/ljaniec/Mathguard/blob/integration/aristotle-general-control/gateway/engine.py</a:t>
            </a:r>
          </a:p>
          <a:p xmlns:a="http://schemas.openxmlformats.org/drawingml/2006/main">
            <a:r>
              <a:t>https://github.com/ljaniec/Mathguard/blob/integration/aristotle-general-control/gateway/sdk.py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gate_executes_imp_hard, Decision.combine_executes and gate_mono concern exact pure Lean functions. JSON/auth/provider integration is tested. Balanced unavailable fallback asks for review.</a:t>
            </a:r>
          </a:p>
          <a:p xmlns:a="http://schemas.openxmlformats.org/drawingml/2006/main">
            <a:r>
              <a:t>Sources:</a:t>
            </a:r>
          </a:p>
          <a:p xmlns:a="http://schemas.openxmlformats.org/drawingml/2006/main">
            <a:r>
              <a:t>https://github.com/ljaniec/Mathguard/blob/integration/aristotle-general-control/Mathguard/Control.lean</a:t>
            </a:r>
          </a:p>
          <a:p xmlns:a="http://schemas.openxmlformats.org/drawingml/2006/main">
            <a:r>
              <a:t>https://github.com/ljaniec/Mathguard/blob/integration/aristotle-general-control/docs/verification/GENERAL-CONTROL-INTEGRATION.md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with actual worker/public HTTP and labeled fixture verdicts. Policies activate on next authenticated POST, not background watch. No valid initial configuration fails closed.</a:t>
            </a:r>
          </a:p>
          <a:p xmlns:a="http://schemas.openxmlformats.org/drawingml/2006/main">
            <a:r>
              <a:t>Sources:</a:t>
            </a:r>
          </a:p>
          <a:p xmlns:a="http://schemas.openxmlformats.org/drawingml/2006/main">
            <a:r>
              <a:t>https://github.com/ljaniec/Mathguard/blob/integration/aristotle-general-control/evidence/rehearsal.json</a:t>
            </a:r>
          </a:p>
          <a:p xmlns:a="http://schemas.openxmlformats.org/drawingml/2006/main">
            <a:r>
              <a:t>https://github.com/ljaniec/Mathguard/blob/integration/aristotle-general-control/scripts/rehearse-demo.py</a:t>
            </a:r>
          </a:p>
          <a:p xmlns:a="http://schemas.openxmlformats.org/drawingml/2006/main">
            <a:r>
              <a:t>https://github.com/ljaniec/Mathguard/blob/integration/aristotle-general-control/gateway/engine.py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rehearsal exhausted budget and observed BUDGET_EXHAUSTED. Runtime tokens/time are configured upper bounds, not measured bills. Provider adapter termination does not prove remote GPU cancellation. G1 step-limit theorem is pure-model evidence; runtime limits are integration-tested.</a:t>
            </a:r>
          </a:p>
          <a:p xmlns:a="http://schemas.openxmlformats.org/drawingml/2006/main">
            <a:r>
              <a:t>Sources:</a:t>
            </a:r>
          </a:p>
          <a:p xmlns:a="http://schemas.openxmlformats.org/drawingml/2006/main">
            <a:r>
              <a:t>https://github.com/ljaniec/Mathguard/blob/integration/aristotle-general-control/Mathguard/Budget.lean</a:t>
            </a:r>
          </a:p>
          <a:p xmlns:a="http://schemas.openxmlformats.org/drawingml/2006/main">
            <a:r>
              <a:t>https://github.com/ljaniec/Mathguard/blob/integration/aristotle-general-control/gateway/engine.py</a:t>
            </a:r>
          </a:p>
          <a:p xmlns:a="http://schemas.openxmlformats.org/drawingml/2006/main">
            <a:r>
              <a:t>https://github.com/ljaniec/Mathguard/blob/integration/aristotle-general-control/evidence/rehearsal.json</a:t>
            </a:r>
          </a:p>
          <a:p xmlns:a="http://schemas.openxmlformats.org/drawingml/2006/main">
            <a:r>
              <a:t>https://github.com/ljaniec/Mathguard/blob/integration/aristotle-general-control/tests/test_gateway.py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synthetic demonstrator accounts. 25.00 PLN transfer then100.00 PLN high-value transfer requiring owner approval. Volatile serialized owner; no durable crash recovery claim.</a:t>
            </a:r>
          </a:p>
          <a:p xmlns:a="http://schemas.openxmlformats.org/drawingml/2006/main">
            <a:r>
              <a:t>Sources:</a:t>
            </a:r>
          </a:p>
          <a:p xmlns:a="http://schemas.openxmlformats.org/drawingml/2006/main">
            <a:r>
              <a:t>https://github.com/ljaniec/Mathguard/blob/integration/aristotle-general-control/evidence/rehearsal.json</a:t>
            </a:r>
          </a:p>
          <a:p xmlns:a="http://schemas.openxmlformats.org/drawingml/2006/main">
            <a:r>
              <a:t>https://github.com/ljaniec/Mathguard/blob/integration/aristotle-general-control/Mathguard/Ledger.lean</a:t>
            </a:r>
          </a:p>
          <a:p xmlns:a="http://schemas.openxmlformats.org/drawingml/2006/main">
            <a:r>
              <a:t>https://github.com/ljaniec/Mathguard/blob/integration/aristotle-general-control/gateway/engine.py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complete historical exploit feed, universal injection resistance or provider weight-supply-chain guarantee. Artifact checks avoid deserialization entirely.</a:t>
            </a:r>
          </a:p>
          <a:p xmlns:a="http://schemas.openxmlformats.org/drawingml/2006/main">
            <a:r>
              <a:t>Sources:</a:t>
            </a:r>
          </a:p>
          <a:p xmlns:a="http://schemas.openxmlformats.org/drawingml/2006/main">
            <a:r>
              <a:t>https://github.com/ljaniec/Mathguard/blob/integration/aristotle-general-control/tests/test_gateway.py</a:t>
            </a:r>
          </a:p>
          <a:p xmlns:a="http://schemas.openxmlformats.org/drawingml/2006/main">
            <a:r>
              <a:t>https://github.com/ljaniec/Mathguard/blob/integration/aristotle-general-control/gateway/control.py</a:t>
            </a:r>
          </a:p>
          <a:p xmlns:a="http://schemas.openxmlformats.org/drawingml/2006/main">
            <a:r>
              <a:t>https://github.com/ljaniec/Mathguard/blob/integration/aristotle-general-control/feeds/demo-signatures.json</a:t>
            </a:r>
          </a:p>
          <a:p xmlns:a="http://schemas.openxmlformats.org/drawingml/2006/main">
            <a:r>
              <a:t>https://github.com/ljaniec/Mathguard/blob/integration/aristotle-general-control/docs/11-THREAT-MODEL.md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SHA256: 13368e2720221f70dfb714a77c0405b94a0fd1706e088f40237e098030b7bf32. Integration file contains exact source hashes. Counts are runtime checks, not classifier quality. G1 only propext and Quot.sound; whole catalog also uses permitted standard axioms.</a:t>
            </a:r>
          </a:p>
          <a:p xmlns:a="http://schemas.openxmlformats.org/drawingml/2006/main">
            <a:r>
              <a:t>Sources:</a:t>
            </a:r>
          </a:p>
          <a:p xmlns:a="http://schemas.openxmlformats.org/drawingml/2006/main">
            <a:r>
              <a:t>https://github.com/ljaniec/Mathguard/blob/integration/aristotle-general-control/evidence/integration.json</a:t>
            </a:r>
          </a:p>
          <a:p xmlns:a="http://schemas.openxmlformats.org/drawingml/2006/main">
            <a:r>
              <a:t>https://github.com/ljaniec/Mathguard/blob/integration/aristotle-general-control/evidence/rehearsal.json</a:t>
            </a:r>
          </a:p>
          <a:p xmlns:a="http://schemas.openxmlformats.org/drawingml/2006/main">
            <a:r>
              <a:t>https://github.com/ljaniec/Mathguard/blob/integration/aristotle-general-control/docs/verification/axioms.txt</a:t>
            </a:r>
          </a:p>
          <a:p xmlns:a="http://schemas.openxmlformats.org/drawingml/2006/main">
            <a:r>
              <a:t>https://github.com/ljaniec/Mathguard/blob/integration/aristotle-general-control/docs/verification/GENERAL-CONTROL-INTEGRATION.md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exists and JS/HTTP serving are checked. Browser visual QA/operator rehearsal remains pending. Audit is a bounded2000-event volatile metadata window, not a durable append-only database. No UI screenshot is presented as observed.</a:t>
            </a:r>
          </a:p>
          <a:p xmlns:a="http://schemas.openxmlformats.org/drawingml/2006/main">
            <a:r>
              <a:t>Sources:</a:t>
            </a:r>
          </a:p>
          <a:p xmlns:a="http://schemas.openxmlformats.org/drawingml/2006/main">
            <a:r>
              <a:t>https://github.com/ljaniec/Mathguard/blob/integration/aristotle-general-control/dashboard/app.js</a:t>
            </a:r>
          </a:p>
          <a:p xmlns:a="http://schemas.openxmlformats.org/drawingml/2006/main">
            <a:r>
              <a:t>https://github.com/ljaniec/Mathguard/blob/integration/aristotle-general-control/gateway/engine.py</a:t>
            </a:r>
          </a:p>
          <a:p xmlns:a="http://schemas.openxmlformats.org/drawingml/2006/main">
            <a:r>
              <a:t>https://github.com/ljaniec/Mathguard/blob/integration/aristotle-general-control/evidence/rehearsal.json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Submission must be finalized by the registered team. This deck does not certify completion of HackTribe submission or live quality. make run requires installed Lean toolchain and local provider. Source license/model record remains pending for installed weights.</a:t>
            </a:r>
          </a:p>
          <a:p xmlns:a="http://schemas.openxmlformats.org/drawingml/2006/main">
            <a:r>
              <a:t>Sources:</a:t>
            </a:r>
          </a:p>
          <a:p xmlns:a="http://schemas.openxmlformats.org/drawingml/2006/main">
            <a:r>
              <a:t>https://github.com/ljaniec/Mathguard/blob/integration/aristotle-general-control/docs/14-OPERATOR-REHEARSAL.md</a:t>
            </a:r>
          </a:p>
          <a:p xmlns:a="http://schemas.openxmlformats.org/drawingml/2006/main">
            <a:r>
              <a:t>https://github.com/ljaniec/Mathguard/blob/integration/aristotle-general-control/STATUS.md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c46f47539541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774bcb222e47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14af1148e742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98708d3a6e41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edc1366dc249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83971dac7748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6DA7376-C307-4D6E-B718-C7402E17F72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98D35CD-DF02-4445-89B5-453F7AABCA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B9622687-2A4C-47D0-BFD3-A809AE616C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227E5C91-A17D-483E-A34F-0BAC136DB825}"/>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0B9F6A57-6F73-42D7-9230-C376DF5900B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A28BA61-69E2-47CC-B283-A5315798EAC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FFA272C-5C2C-4F25-8BDC-7F3DDEB836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40A4619-4393-47F1-8BDA-7F6B67B7612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B817D2C-0483-4419-809B-FD1FD2A55E5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F41F5F1-EF39-467C-8BBE-B170705938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03F26C0-AD7D-427B-BDCF-B04B6A0873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ABA969C-96F8-4A7C-ADD2-936C8C5DD8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7BBC667-6391-4D3A-AE6B-4787FA82943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CB87EE0-889F-4D0F-9D45-78B0CCEE13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1F35FAF-4B37-417F-8E9B-E407A14689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a9f1f18d12436c" /><Relationship Type="http://schemas.openxmlformats.org/officeDocument/2006/relationships/slideLayout" Target="/ppt/slideLayouts/slideLayout1.xml" Id="Ra3f25504384444d8" /><Relationship Type="http://schemas.openxmlformats.org/officeDocument/2006/relationships/slideLayout" Target="/ppt/slideLayouts/slideLayout2.xml" Id="R8e2e137bd6a24950" /><Relationship Type="http://schemas.openxmlformats.org/officeDocument/2006/relationships/slideLayout" Target="/ppt/slideLayouts/slideLayout3.xml" Id="R2546aa7a583a437c" /><Relationship Type="http://schemas.openxmlformats.org/officeDocument/2006/relationships/slideLayout" Target="/ppt/slideLayouts/slideLayout4.xml" Id="Rf4fc05d104a74aa4" /><Relationship Type="http://schemas.openxmlformats.org/officeDocument/2006/relationships/slideLayout" Target="/ppt/slideLayouts/slideLayout5.xml" Id="Red542d36124540f7" /><Relationship Type="http://schemas.openxmlformats.org/officeDocument/2006/relationships/slideLayout" Target="/ppt/slideLayouts/slideLayout6.xml" Id="Rc105bae1ac2642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f25504384444d8"/>
    <p:sldLayoutId xmlns:r="http://schemas.openxmlformats.org/officeDocument/2006/relationships" id="2147483650" r:id="R8e2e137bd6a24950"/>
    <p:sldLayoutId xmlns:r="http://schemas.openxmlformats.org/officeDocument/2006/relationships" id="2147483651" r:id="R2546aa7a583a437c"/>
    <p:sldLayoutId xmlns:r="http://schemas.openxmlformats.org/officeDocument/2006/relationships" id="2147483652" r:id="Rf4fc05d104a74aa4"/>
    <p:sldLayoutId xmlns:r="http://schemas.openxmlformats.org/officeDocument/2006/relationships" id="2147483653" r:id="Red542d36124540f7"/>
    <p:sldLayoutId xmlns:r="http://schemas.openxmlformats.org/officeDocument/2006/relationships" id="2147483654" r:id="Rc105bae1ac2642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1f36dda8c6d4dee" /><Relationship Type="http://schemas.openxmlformats.org/officeDocument/2006/relationships/notesSlide" Target="/ppt/notesSlides/notesSlide1.xml" Id="R498c015dd76c4c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8ba3dab9dd48a3" /><Relationship Type="http://schemas.openxmlformats.org/officeDocument/2006/relationships/notesSlide" Target="/ppt/notesSlides/notesSlide2.xml" Id="Rcedfe4bf449b49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acb7019a474322" /><Relationship Type="http://schemas.openxmlformats.org/officeDocument/2006/relationships/notesSlide" Target="/ppt/notesSlides/notesSlide3.xml" Id="R63db796a705544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1a1badf3f24ea6" /><Relationship Type="http://schemas.openxmlformats.org/officeDocument/2006/relationships/notesSlide" Target="/ppt/notesSlides/notesSlide4.xml" Id="R7327900fd52746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caa147581448bb" /><Relationship Type="http://schemas.openxmlformats.org/officeDocument/2006/relationships/notesSlide" Target="/ppt/notesSlides/notesSlide5.xml" Id="Rc8272ee218ea4f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c9d9d904f264e87" /><Relationship Type="http://schemas.openxmlformats.org/officeDocument/2006/relationships/notesSlide" Target="/ppt/notesSlides/notesSlide6.xml" Id="R07f84b1e12fd4d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8f8b83ffad64402" /><Relationship Type="http://schemas.openxmlformats.org/officeDocument/2006/relationships/notesSlide" Target="/ppt/notesSlides/notesSlide7.xml" Id="R193f3e92205e4b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0cc39c202a446df" /><Relationship Type="http://schemas.openxmlformats.org/officeDocument/2006/relationships/notesSlide" Target="/ppt/notesSlides/notesSlide8.xml" Id="R13eccf8c045249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05d157645d464c" /><Relationship Type="http://schemas.openxmlformats.org/officeDocument/2006/relationships/notesSlide" Target="/ppt/notesSlides/notesSlide9.xml" Id="R2a5dd1c7a6c842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98b6ed082894593" /><Relationship Type="http://schemas.openxmlformats.org/officeDocument/2006/relationships/hyperlink" Target="https://github.com/ljaniec/Mathguard/pull/5" TargetMode="External" Id="Rafecfe4f138e4c55" /><Relationship Type="http://schemas.openxmlformats.org/officeDocument/2006/relationships/notesSlide" Target="/ppt/notesSlides/notesSlide10.xml" Id="Redcd22afd0b24bbb" /></Relationships>
</file>

<file path=ppt/slides/slide1.xml><?xml version="1.0" encoding="utf-8"?>
<p:sld xmlns:p="http://schemas.openxmlformats.org/presentationml/2006/main">
  <p:cSld>
    <p:bg>
      <p:bgPr>
        <a:solidFill xmlns:a="http://schemas.openxmlformats.org/drawingml/2006/main">
          <a:srgbClr val="101D3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E89AA8-8E2D-4E97-8AAC-A17C38F9A9A0}"/>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4ED"/>
                </a:solidFill>
                <a:latin typeface="DejaVu Sans"/>
                <a:ea typeface="DejaVu Sans"/>
                <a:cs typeface="DejaVu Sans"/>
              </a:defRPr>
            </a:pPr>
            <a:r>
              <a:rPr sz="3450" b="1">
                <a:solidFill>
                  <a:srgbClr val="F6F4ED"/>
                </a:solidFill>
                <a:latin typeface="DejaVu Sans"/>
                <a:ea typeface="DejaVu Sans"/>
                <a:cs typeface="DejaVu Sans"/>
              </a:rPr>
              <a:t>Mathguard</a:t>
            </a:r>
          </a:p>
        </p:txBody>
      </p:sp>
      <p:sp>
        <p:nvSpPr>
          <p:cNvPr id="2" name="">
            <a:extLst xmlns:a="http://schemas.openxmlformats.org/drawingml/2006/main">
              <a:ext uri="{FF2B5EF4-FFF2-40B4-BE49-F238E27FC236}">
                <a16:creationId xmlns:a16="http://schemas.microsoft.com/office/drawing/2014/main" id="{D4360D46-3357-45A6-9FC0-014982A3E8D6}"/>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3C7E7"/>
                </a:solidFill>
                <a:latin typeface="DejaVu Sans"/>
                <a:ea typeface="DejaVu Sans"/>
                <a:cs typeface="DejaVu Sans"/>
              </a:defRPr>
            </a:pPr>
            <a:r>
              <a:rPr sz="1200" b="0">
                <a:solidFill>
                  <a:srgbClr val="B3C7E7"/>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4AA01DA6-E92B-439E-90EA-0F76D80A1D4C}"/>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4ED"/>
                </a:solidFill>
                <a:latin typeface="DejaVu Sans"/>
                <a:ea typeface="DejaVu Sans"/>
                <a:cs typeface="DejaVu Sans"/>
              </a:defRPr>
            </a:pPr>
            <a:r>
              <a:rPr sz="1575" b="0">
                <a:solidFill>
                  <a:srgbClr val="F6F4ED"/>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A7D026F8-BC50-44F4-A61E-639B5DB317CA}"/>
              </a:ext>
            </a:extLst>
          </p:cNvPr>
          <p:cNvSpPr>
            <a:spLocks xmlns:a="http://schemas.openxmlformats.org/drawingml/2006/main" noGrp="1"/>
          </p:cNvSpPr>
          <p:nvPr/>
        </p:nvSpPr>
        <p:spPr>
          <a:xfrm xmlns:a="http://schemas.openxmlformats.org/drawingml/2006/main">
            <a:off x="685800" y="1752600"/>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6F4ED"/>
                </a:solidFill>
                <a:latin typeface="DejaVu Sans"/>
                <a:ea typeface="DejaVu Sans"/>
                <a:cs typeface="DejaVu Sans"/>
              </a:defRPr>
            </a:pPr>
            <a:r>
              <a:rPr sz="5100" b="1">
                <a:solidFill>
                  <a:srgbClr val="F6F4ED"/>
                </a:solidFill>
                <a:latin typeface="DejaVu Sans"/>
                <a:ea typeface="DejaVu Sans"/>
                <a:cs typeface="DejaVu Sans"/>
              </a:rPr>
              <a:t>A policy gateway</a:t>
            </a:r>
          </a:p>
          <a:p xmlns:a="http://schemas.openxmlformats.org/drawingml/2006/main">
            <a:pPr>
              <a:defRPr sz="5100" b="1">
                <a:solidFill>
                  <a:srgbClr val="F6F4ED"/>
                </a:solidFill>
                <a:latin typeface="DejaVu Sans"/>
                <a:ea typeface="DejaVu Sans"/>
                <a:cs typeface="DejaVu Sans"/>
              </a:defRPr>
            </a:pPr>
            <a:r>
              <a:rPr sz="5100" b="1">
                <a:solidFill>
                  <a:srgbClr val="F6F4ED"/>
                </a:solidFill>
                <a:latin typeface="DejaVu Sans"/>
                <a:ea typeface="DejaVu Sans"/>
                <a:cs typeface="DejaVu Sans"/>
              </a:rPr>
              <a:t>for AI agents</a:t>
            </a:r>
          </a:p>
        </p:txBody>
      </p:sp>
      <p:sp>
        <p:nvSpPr>
          <p:cNvPr id="5" name="">
            <a:extLst xmlns:a="http://schemas.openxmlformats.org/drawingml/2006/main">
              <a:ext uri="{FF2B5EF4-FFF2-40B4-BE49-F238E27FC236}">
                <a16:creationId xmlns:a16="http://schemas.microsoft.com/office/drawing/2014/main" id="{F70FCD32-7738-40DE-B884-46934AB96DF9}"/>
              </a:ext>
            </a:extLst>
          </p:cNvPr>
          <p:cNvSpPr>
            <a:spLocks xmlns:a="http://schemas.openxmlformats.org/drawingml/2006/main" noGrp="1"/>
          </p:cNvSpPr>
          <p:nvPr/>
        </p:nvSpPr>
        <p:spPr>
          <a:xfrm xmlns:a="http://schemas.openxmlformats.org/drawingml/2006/main">
            <a:off x="685800" y="404812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9E2F0"/>
                </a:solidFill>
                <a:latin typeface="DejaVu Sans"/>
                <a:ea typeface="DejaVu Sans"/>
                <a:cs typeface="DejaVu Sans"/>
              </a:defRPr>
            </a:pPr>
            <a:r>
              <a:rPr sz="2250" b="0">
                <a:solidFill>
                  <a:srgbClr val="D9E2F0"/>
                </a:solidFill>
                <a:latin typeface="DejaVu Sans"/>
                <a:ea typeface="DejaVu Sans"/>
                <a:cs typeface="DejaVu Sans"/>
              </a:rPr>
              <a:t>Inspect prompts, tool calls and messages.</a:t>
            </a:r>
          </a:p>
          <a:p xmlns:a="http://schemas.openxmlformats.org/drawingml/2006/main">
            <a:pPr>
              <a:defRPr sz="2250" b="0">
                <a:solidFill>
                  <a:srgbClr val="D9E2F0"/>
                </a:solidFill>
                <a:latin typeface="DejaVu Sans"/>
                <a:ea typeface="DejaVu Sans"/>
                <a:cs typeface="DejaVu Sans"/>
              </a:defRPr>
            </a:pPr>
            <a:r>
              <a:rPr sz="2250" b="0">
                <a:solidFill>
                  <a:srgbClr val="D9E2F0"/>
                </a:solidFill>
                <a:latin typeface="DejaVu Sans"/>
                <a:ea typeface="DejaVu Sans"/>
                <a:cs typeface="DejaVu Sans"/>
              </a:rPr>
              <a:t>Apply policy before releasing content or committing a tool effect.</a:t>
            </a:r>
          </a:p>
        </p:txBody>
      </p:sp>
      <p:sp>
        <p:nvSpPr>
          <p:cNvPr id="6" name="">
            <a:extLst xmlns:a="http://schemas.openxmlformats.org/drawingml/2006/main">
              <a:ext uri="{FF2B5EF4-FFF2-40B4-BE49-F238E27FC236}">
                <a16:creationId xmlns:a16="http://schemas.microsoft.com/office/drawing/2014/main" id="{0497F639-7F50-4EDD-9A43-609CD69E33C5}"/>
              </a:ext>
            </a:extLst>
          </p:cNvPr>
          <p:cNvSpPr>
            <a:spLocks xmlns:a="http://schemas.openxmlformats.org/drawingml/2006/main" noGrp="1"/>
          </p:cNvSpPr>
          <p:nvPr/>
        </p:nvSpPr>
        <p:spPr>
          <a:xfrm xmlns:a="http://schemas.openxmlformats.org/drawingml/2006/main">
            <a:off x="685800" y="55054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3C7E7"/>
                </a:solidFill>
                <a:latin typeface="DejaVu Sans"/>
                <a:ea typeface="DejaVu Sans"/>
                <a:cs typeface="DejaVu Sans"/>
              </a:defRPr>
            </a:pPr>
            <a:r>
              <a:rPr sz="1875" b="0">
                <a:solidFill>
                  <a:srgbClr val="B3C7E7"/>
                </a:solidFill>
                <a:latin typeface="DejaVu Sans"/>
                <a:ea typeface="DejaVu Sans"/>
                <a:cs typeface="DejaVu Sans"/>
              </a:rPr>
              <a:t>Team: Mathguard  ·  Goldman Sachs AI Control Layer</a:t>
            </a:r>
          </a:p>
        </p:txBody>
      </p:sp>
    </p:spTree>
    <p:extLst>
      <p:ext uri="{BB962C8B-B14F-4D97-AF65-F5344CB8AC3E}">
        <p14:creationId xmlns:p14="http://schemas.microsoft.com/office/powerpoint/2010/main" val="176084769"/>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cxnSp>
        <p:nvCxnSpPr>
          <p:cNvPr id="18" name=""/>
          <p:cNvCxnSpPr>
            <a:stCxn xmlns:a="http://schemas.openxmlformats.org/drawingml/2006/main" id="8" idx="3"/>
            <a:endCxn xmlns:a="http://schemas.openxmlformats.org/drawingml/2006/main" id="10" idx="1"/>
          </p:cNvCxnSpPr>
          <p:nvPr/>
        </p:nvCxnSpPr>
        <p:spPr>
          <a:xfrm xmlns:a="http://schemas.openxmlformats.org/drawingml/2006/main">
            <a:off x="7715250" y="4829175"/>
            <a:ext cx="838200" cy="0"/>
          </a:xfrm>
          <a:prstGeom xmlns:a="http://schemas.openxmlformats.org/drawingml/2006/main" prst="straightConnector1">
            <a:avLst/>
          </a:prstGeom>
          <a:ln xmlns:a="http://schemas.openxmlformats.org/drawingml/2006/main" w="19050">
            <a:solidFill>
              <a:srgbClr val="2A62C9"/>
            </a:solidFill>
            <a:tailEnd type="triangle" w="med" len="med"/>
          </a:ln>
        </p:spPr>
      </p:cxnSp>
      <p:cxnSp>
        <p:nvCxnSpPr>
          <p:cNvPr id="19" name=""/>
          <p:cNvCxnSpPr>
            <a:stCxn xmlns:a="http://schemas.openxmlformats.org/drawingml/2006/main" id="8" idx="1"/>
            <a:endCxn xmlns:a="http://schemas.openxmlformats.org/drawingml/2006/main" id="9" idx="3"/>
          </p:cNvCxnSpPr>
          <p:nvPr/>
        </p:nvCxnSpPr>
        <p:spPr>
          <a:xfrm xmlns:a="http://schemas.openxmlformats.org/drawingml/2006/main" flipH="1">
            <a:off x="3733800" y="4829175"/>
            <a:ext cx="933450" cy="0"/>
          </a:xfrm>
          <a:prstGeom xmlns:a="http://schemas.openxmlformats.org/drawingml/2006/main" prst="straightConnector1">
            <a:avLst/>
          </a:prstGeom>
          <a:ln xmlns:a="http://schemas.openxmlformats.org/drawingml/2006/main" w="19050">
            <a:solidFill>
              <a:srgbClr val="2A62C9"/>
            </a:solidFill>
            <a:tailEnd type="triangle" w="med" len="med"/>
          </a:ln>
        </p:spPr>
      </p:cxnSp>
      <p:cxnSp>
        <p:nvCxnSpPr>
          <p:cNvPr id="20" name=""/>
          <p:cNvCxnSpPr>
            <a:stCxn xmlns:a="http://schemas.openxmlformats.org/drawingml/2006/main" id="7" idx="2"/>
            <a:endCxn xmlns:a="http://schemas.openxmlformats.org/drawingml/2006/main" id="8" idx="0"/>
          </p:cNvCxnSpPr>
          <p:nvPr/>
        </p:nvCxnSpPr>
        <p:spPr>
          <a:xfrm xmlns:a="http://schemas.openxmlformats.org/drawingml/2006/main">
            <a:off x="6191250" y="3829050"/>
            <a:ext cx="0" cy="609600"/>
          </a:xfrm>
          <a:prstGeom xmlns:a="http://schemas.openxmlformats.org/drawingml/2006/main" prst="straightConnector1">
            <a:avLst/>
          </a:prstGeom>
          <a:ln xmlns:a="http://schemas.openxmlformats.org/drawingml/2006/main" w="19050">
            <a:solidFill>
              <a:srgbClr val="2A62C9"/>
            </a:solidFill>
            <a:tailEnd type="triangle" w="med" len="med"/>
          </a:ln>
        </p:spPr>
      </p:cxnSp>
      <p:cxnSp>
        <p:nvCxnSpPr>
          <p:cNvPr id="21" name=""/>
          <p:cNvCxnSpPr>
            <a:stCxn xmlns:a="http://schemas.openxmlformats.org/drawingml/2006/main" id="5" idx="2"/>
            <a:endCxn xmlns:a="http://schemas.openxmlformats.org/drawingml/2006/main" id="7" idx="0"/>
          </p:cNvCxnSpPr>
          <p:nvPr/>
        </p:nvCxnSpPr>
        <p:spPr>
          <a:xfrm xmlns:a="http://schemas.openxmlformats.org/drawingml/2006/main">
            <a:off x="6191250" y="2438400"/>
            <a:ext cx="0" cy="609600"/>
          </a:xfrm>
          <a:prstGeom xmlns:a="http://schemas.openxmlformats.org/drawingml/2006/main" prst="straightConnector1">
            <a:avLst/>
          </a:prstGeom>
          <a:ln xmlns:a="http://schemas.openxmlformats.org/drawingml/2006/main" w="19050">
            <a:solidFill>
              <a:srgbClr val="2A62C9"/>
            </a:solidFill>
            <a:tailEnd type="triangle" w="med" len="med"/>
          </a:ln>
        </p:spPr>
      </p:cxnSp>
      <p:cxnSp>
        <p:nvCxnSpPr>
          <p:cNvPr id="22" name=""/>
          <p:cNvCxnSpPr>
            <a:stCxn xmlns:a="http://schemas.openxmlformats.org/drawingml/2006/main" id="6" idx="1"/>
            <a:endCxn xmlns:a="http://schemas.openxmlformats.org/drawingml/2006/main" id="5" idx="3"/>
          </p:cNvCxnSpPr>
          <p:nvPr/>
        </p:nvCxnSpPr>
        <p:spPr>
          <a:xfrm xmlns:a="http://schemas.openxmlformats.org/drawingml/2006/main" flipH="1">
            <a:off x="7715250" y="2047875"/>
            <a:ext cx="838200" cy="0"/>
          </a:xfrm>
          <a:prstGeom xmlns:a="http://schemas.openxmlformats.org/drawingml/2006/main" prst="straightConnector1">
            <a:avLst/>
          </a:prstGeom>
          <a:ln xmlns:a="http://schemas.openxmlformats.org/drawingml/2006/main" w="19050">
            <a:solidFill>
              <a:srgbClr val="2A62C9"/>
            </a:solidFill>
            <a:tailEnd type="triangle" w="med" len="med"/>
          </a:ln>
        </p:spPr>
      </p:cxn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3733800" y="2047875"/>
            <a:ext cx="933450" cy="0"/>
          </a:xfrm>
          <a:prstGeom xmlns:a="http://schemas.openxmlformats.org/drawingml/2006/main" prst="straightConnector1">
            <a:avLst/>
          </a:prstGeom>
          <a:ln xmlns:a="http://schemas.openxmlformats.org/drawingml/2006/main" w="19050">
            <a:solidFill>
              <a:srgbClr val="2A62C9"/>
            </a:solidFill>
            <a:tailEnd type="triangle" w="med" len="med"/>
          </a:ln>
        </p:spPr>
      </p:cxnSp>
      <p:sp>
        <p:nvSpPr>
          <p:cNvPr id="24" name="">
            <a:extLst xmlns:a="http://schemas.openxmlformats.org/drawingml/2006/main">
              <a:ext uri="{FF2B5EF4-FFF2-40B4-BE49-F238E27FC236}">
                <a16:creationId xmlns:a16="http://schemas.microsoft.com/office/drawing/2014/main" id="{1DECC440-DD61-4F68-BF1D-4270964D6B32}"/>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D32"/>
                </a:solidFill>
                <a:latin typeface="DejaVu Sans"/>
                <a:ea typeface="DejaVu Sans"/>
                <a:cs typeface="DejaVu Sans"/>
              </a:defRPr>
            </a:pPr>
            <a:r>
              <a:rPr sz="3450" b="1">
                <a:solidFill>
                  <a:srgbClr val="101D32"/>
                </a:solidFill>
                <a:latin typeface="DejaVu Sans"/>
                <a:ea typeface="DejaVu Sans"/>
                <a:cs typeface="DejaVu Sans"/>
              </a:rPr>
              <a:t>One enforcement path</a:t>
            </a:r>
          </a:p>
        </p:txBody>
      </p:sp>
      <p:sp>
        <p:nvSpPr>
          <p:cNvPr id="2" name="">
            <a:extLst xmlns:a="http://schemas.openxmlformats.org/drawingml/2006/main">
              <a:ext uri="{FF2B5EF4-FFF2-40B4-BE49-F238E27FC236}">
                <a16:creationId xmlns:a16="http://schemas.microsoft.com/office/drawing/2014/main" id="{A7A8663B-B87D-47EA-8392-EDC0957210D5}"/>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6172"/>
                </a:solidFill>
                <a:latin typeface="DejaVu Sans"/>
                <a:ea typeface="DejaVu Sans"/>
                <a:cs typeface="DejaVu Sans"/>
              </a:defRPr>
            </a:pPr>
            <a:r>
              <a:rPr sz="1200" b="0">
                <a:solidFill>
                  <a:srgbClr val="556172"/>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10053B65-918D-44B5-B207-0ADBB9BC6989}"/>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172"/>
                </a:solidFill>
                <a:latin typeface="DejaVu Sans"/>
                <a:ea typeface="DejaVu Sans"/>
                <a:cs typeface="DejaVu Sans"/>
              </a:defRPr>
            </a:pPr>
            <a:r>
              <a:rPr sz="1575" b="0">
                <a:solidFill>
                  <a:srgbClr val="556172"/>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FB33D208-21CA-445E-ADE2-1D05F212505F}"/>
              </a:ext>
            </a:extLst>
          </p:cNvPr>
          <p:cNvSpPr>
            <a:spLocks xmlns:a="http://schemas.openxmlformats.org/drawingml/2006/main" noGrp="1"/>
          </p:cNvSpPr>
          <p:nvPr/>
        </p:nvSpPr>
        <p:spPr>
          <a:xfrm xmlns:a="http://schemas.openxmlformats.org/drawingml/2006/main">
            <a:off x="685800" y="1657350"/>
            <a:ext cx="3048000" cy="781050"/>
          </a:xfrm>
          <a:prstGeom xmlns:a="http://schemas.openxmlformats.org/drawingml/2006/main" prst="rect">
            <a:avLst/>
          </a:prstGeom>
          <a:solidFill xmlns:a="http://schemas.openxmlformats.org/drawingml/2006/main">
            <a:srgbClr val="F6F4ED"/>
          </a:solidFill>
          <a:ln xmlns:a="http://schemas.openxmlformats.org/drawingml/2006/main" w="19050">
            <a:solidFill>
              <a:srgbClr val="2A62C9"/>
            </a:solidFill>
          </a:ln>
        </p:spPr>
        <p:txBody>
          <a:bodyPr xmlns:a="http://schemas.openxmlformats.org/drawingml/2006/main"/>
          <a:lstStyle xmlns:a="http://schemas.openxmlformats.org/drawingml/2006/main"/>
          <a:p xmlns:a="http://schemas.openxmlformats.org/drawingml/2006/main">
            <a:pPr algn="ctr">
              <a:defRPr sz="1875" b="1">
                <a:solidFill>
                  <a:srgbClr val="101D32"/>
                </a:solidFill>
                <a:latin typeface="DejaVu Sans"/>
                <a:ea typeface="DejaVu Sans"/>
                <a:cs typeface="DejaVu Sans"/>
              </a:defRPr>
            </a:pPr>
            <a:r>
              <a:rPr sz="1875" b="1">
                <a:solidFill>
                  <a:srgbClr val="101D32"/>
                </a:solidFill>
                <a:latin typeface="DejaVu Sans"/>
                <a:ea typeface="DejaVu Sans"/>
                <a:cs typeface="DejaVu Sans"/>
              </a:rPr>
              <a:t>Application / agent SDK</a:t>
            </a:r>
          </a:p>
        </p:txBody>
      </p:sp>
      <p:sp>
        <p:nvSpPr>
          <p:cNvPr id="5" name="">
            <a:extLst xmlns:a="http://schemas.openxmlformats.org/drawingml/2006/main">
              <a:ext uri="{FF2B5EF4-FFF2-40B4-BE49-F238E27FC236}">
                <a16:creationId xmlns:a16="http://schemas.microsoft.com/office/drawing/2014/main" id="{CC0C02D4-FC7E-47E5-80B0-7B0FF0E3AA8F}"/>
              </a:ext>
            </a:extLst>
          </p:cNvPr>
          <p:cNvSpPr>
            <a:spLocks xmlns:a="http://schemas.openxmlformats.org/drawingml/2006/main" noGrp="1"/>
          </p:cNvSpPr>
          <p:nvPr/>
        </p:nvSpPr>
        <p:spPr>
          <a:xfrm xmlns:a="http://schemas.openxmlformats.org/drawingml/2006/main">
            <a:off x="4667250" y="1657350"/>
            <a:ext cx="3048000" cy="781050"/>
          </a:xfrm>
          <a:prstGeom xmlns:a="http://schemas.openxmlformats.org/drawingml/2006/main" prst="rect">
            <a:avLst/>
          </a:prstGeom>
          <a:solidFill xmlns:a="http://schemas.openxmlformats.org/drawingml/2006/main">
            <a:srgbClr val="F6F4ED"/>
          </a:solidFill>
          <a:ln xmlns:a="http://schemas.openxmlformats.org/drawingml/2006/main" w="19050">
            <a:solidFill>
              <a:srgbClr val="2A62C9"/>
            </a:solidFill>
          </a:ln>
        </p:spPr>
        <p:txBody>
          <a:bodyPr xmlns:a="http://schemas.openxmlformats.org/drawingml/2006/main"/>
          <a:lstStyle xmlns:a="http://schemas.openxmlformats.org/drawingml/2006/main"/>
          <a:p xmlns:a="http://schemas.openxmlformats.org/drawingml/2006/main">
            <a:pPr algn="ctr">
              <a:defRPr sz="1875" b="1">
                <a:solidFill>
                  <a:srgbClr val="101D32"/>
                </a:solidFill>
                <a:latin typeface="DejaVu Sans"/>
                <a:ea typeface="DejaVu Sans"/>
                <a:cs typeface="DejaVu Sans"/>
              </a:defRPr>
            </a:pPr>
            <a:r>
              <a:rPr sz="1875" b="1">
                <a:solidFill>
                  <a:srgbClr val="101D32"/>
                </a:solidFill>
                <a:latin typeface="DejaVu Sans"/>
                <a:ea typeface="DejaVu Sans"/>
                <a:cs typeface="DejaVu Sans"/>
              </a:rPr>
              <a:t>Authenticated gateway</a:t>
            </a:r>
          </a:p>
        </p:txBody>
      </p:sp>
      <p:sp>
        <p:nvSpPr>
          <p:cNvPr id="6" name="">
            <a:extLst xmlns:a="http://schemas.openxmlformats.org/drawingml/2006/main">
              <a:ext uri="{FF2B5EF4-FFF2-40B4-BE49-F238E27FC236}">
                <a16:creationId xmlns:a16="http://schemas.microsoft.com/office/drawing/2014/main" id="{C169E04F-FABA-4133-9DB5-95F7561F9F5F}"/>
              </a:ext>
            </a:extLst>
          </p:cNvPr>
          <p:cNvSpPr>
            <a:spLocks xmlns:a="http://schemas.openxmlformats.org/drawingml/2006/main" noGrp="1"/>
          </p:cNvSpPr>
          <p:nvPr/>
        </p:nvSpPr>
        <p:spPr>
          <a:xfrm xmlns:a="http://schemas.openxmlformats.org/drawingml/2006/main">
            <a:off x="8553450" y="1657350"/>
            <a:ext cx="2952750" cy="781050"/>
          </a:xfrm>
          <a:prstGeom xmlns:a="http://schemas.openxmlformats.org/drawingml/2006/main" prst="rect">
            <a:avLst/>
          </a:prstGeom>
          <a:solidFill xmlns:a="http://schemas.openxmlformats.org/drawingml/2006/main">
            <a:srgbClr val="F6F4ED"/>
          </a:solidFill>
          <a:ln xmlns:a="http://schemas.openxmlformats.org/drawingml/2006/main" w="19050">
            <a:solidFill>
              <a:srgbClr val="2A62C9"/>
            </a:solidFill>
          </a:ln>
        </p:spPr>
        <p:txBody>
          <a:bodyPr xmlns:a="http://schemas.openxmlformats.org/drawingml/2006/main"/>
          <a:lstStyle xmlns:a="http://schemas.openxmlformats.org/drawingml/2006/main"/>
          <a:p xmlns:a="http://schemas.openxmlformats.org/drawingml/2006/main">
            <a:pPr algn="ctr">
              <a:defRPr sz="1875" b="1">
                <a:solidFill>
                  <a:srgbClr val="101D32"/>
                </a:solidFill>
                <a:latin typeface="DejaVu Sans"/>
                <a:ea typeface="DejaVu Sans"/>
                <a:cs typeface="DejaVu Sans"/>
              </a:defRPr>
            </a:pPr>
            <a:r>
              <a:rPr sz="1875" b="1">
                <a:solidFill>
                  <a:srgbClr val="101D32"/>
                </a:solidFill>
                <a:latin typeface="DejaVu Sans"/>
                <a:ea typeface="DejaVu Sans"/>
                <a:cs typeface="DejaVu Sans"/>
              </a:rPr>
              <a:t>Policy + signature feed</a:t>
            </a:r>
          </a:p>
        </p:txBody>
      </p:sp>
      <p:sp>
        <p:nvSpPr>
          <p:cNvPr id="7" name="">
            <a:extLst xmlns:a="http://schemas.openxmlformats.org/drawingml/2006/main">
              <a:ext uri="{FF2B5EF4-FFF2-40B4-BE49-F238E27FC236}">
                <a16:creationId xmlns:a16="http://schemas.microsoft.com/office/drawing/2014/main" id="{30A9B9F8-BDCE-4067-A7BD-7F231FB7C8C5}"/>
              </a:ext>
            </a:extLst>
          </p:cNvPr>
          <p:cNvSpPr>
            <a:spLocks xmlns:a="http://schemas.openxmlformats.org/drawingml/2006/main" noGrp="1"/>
          </p:cNvSpPr>
          <p:nvPr/>
        </p:nvSpPr>
        <p:spPr>
          <a:xfrm xmlns:a="http://schemas.openxmlformats.org/drawingml/2006/main">
            <a:off x="4667250" y="3048000"/>
            <a:ext cx="3048000" cy="781050"/>
          </a:xfrm>
          <a:prstGeom xmlns:a="http://schemas.openxmlformats.org/drawingml/2006/main" prst="rect">
            <a:avLst/>
          </a:prstGeom>
          <a:solidFill xmlns:a="http://schemas.openxmlformats.org/drawingml/2006/main">
            <a:srgbClr val="F6F4ED"/>
          </a:solidFill>
          <a:ln xmlns:a="http://schemas.openxmlformats.org/drawingml/2006/main" w="19050">
            <a:solidFill>
              <a:srgbClr val="2A62C9"/>
            </a:solidFill>
          </a:ln>
        </p:spPr>
        <p:txBody>
          <a:bodyPr xmlns:a="http://schemas.openxmlformats.org/drawingml/2006/main"/>
          <a:lstStyle xmlns:a="http://schemas.openxmlformats.org/drawingml/2006/main"/>
          <a:p xmlns:a="http://schemas.openxmlformats.org/drawingml/2006/main">
            <a:pPr algn="ctr">
              <a:defRPr sz="1875" b="1">
                <a:solidFill>
                  <a:srgbClr val="101D32"/>
                </a:solidFill>
                <a:latin typeface="DejaVu Sans"/>
                <a:ea typeface="DejaVu Sans"/>
                <a:cs typeface="DejaVu Sans"/>
              </a:defRPr>
            </a:pPr>
            <a:r>
              <a:rPr sz="1875" b="1">
                <a:solidFill>
                  <a:srgbClr val="101D32"/>
                </a:solidFill>
                <a:latin typeface="DejaVu Sans"/>
                <a:ea typeface="DejaVu Sans"/>
                <a:cs typeface="DejaVu Sans"/>
              </a:rPr>
              <a:t>Pattern facts + local classifier</a:t>
            </a:r>
          </a:p>
        </p:txBody>
      </p:sp>
      <p:sp>
        <p:nvSpPr>
          <p:cNvPr id="8" name="">
            <a:extLst xmlns:a="http://schemas.openxmlformats.org/drawingml/2006/main">
              <a:ext uri="{FF2B5EF4-FFF2-40B4-BE49-F238E27FC236}">
                <a16:creationId xmlns:a16="http://schemas.microsoft.com/office/drawing/2014/main" id="{CD17F3DD-075F-40A8-BCED-FEF3154C46E9}"/>
              </a:ext>
            </a:extLst>
          </p:cNvPr>
          <p:cNvSpPr>
            <a:spLocks xmlns:a="http://schemas.openxmlformats.org/drawingml/2006/main" noGrp="1"/>
          </p:cNvSpPr>
          <p:nvPr/>
        </p:nvSpPr>
        <p:spPr>
          <a:xfrm xmlns:a="http://schemas.openxmlformats.org/drawingml/2006/main">
            <a:off x="4667250" y="4438650"/>
            <a:ext cx="3048000" cy="781050"/>
          </a:xfrm>
          <a:prstGeom xmlns:a="http://schemas.openxmlformats.org/drawingml/2006/main" prst="rect">
            <a:avLst/>
          </a:prstGeom>
          <a:solidFill xmlns:a="http://schemas.openxmlformats.org/drawingml/2006/main">
            <a:srgbClr val="F6F4ED"/>
          </a:solidFill>
          <a:ln xmlns:a="http://schemas.openxmlformats.org/drawingml/2006/main" w="19050">
            <a:solidFill>
              <a:srgbClr val="2A62C9"/>
            </a:solidFill>
          </a:ln>
        </p:spPr>
        <p:txBody>
          <a:bodyPr xmlns:a="http://schemas.openxmlformats.org/drawingml/2006/main"/>
          <a:lstStyle xmlns:a="http://schemas.openxmlformats.org/drawingml/2006/main"/>
          <a:p xmlns:a="http://schemas.openxmlformats.org/drawingml/2006/main">
            <a:pPr algn="ctr">
              <a:defRPr sz="1875" b="1">
                <a:solidFill>
                  <a:srgbClr val="101D32"/>
                </a:solidFill>
                <a:latin typeface="DejaVu Sans"/>
                <a:ea typeface="DejaVu Sans"/>
                <a:cs typeface="DejaVu Sans"/>
              </a:defRPr>
            </a:pPr>
            <a:r>
              <a:rPr sz="1875" b="1">
                <a:solidFill>
                  <a:srgbClr val="101D32"/>
                </a:solidFill>
                <a:latin typeface="DejaVu Sans"/>
                <a:ea typeface="DejaVu Sans"/>
                <a:cs typeface="DejaVu Sans"/>
              </a:rPr>
              <a:t>Compiled Lean gate + budgets</a:t>
            </a:r>
          </a:p>
        </p:txBody>
      </p:sp>
      <p:sp>
        <p:nvSpPr>
          <p:cNvPr id="9" name="">
            <a:extLst xmlns:a="http://schemas.openxmlformats.org/drawingml/2006/main">
              <a:ext uri="{FF2B5EF4-FFF2-40B4-BE49-F238E27FC236}">
                <a16:creationId xmlns:a16="http://schemas.microsoft.com/office/drawing/2014/main" id="{2D78E601-EA17-4D6C-AF92-AE3079F9F458}"/>
              </a:ext>
            </a:extLst>
          </p:cNvPr>
          <p:cNvSpPr>
            <a:spLocks xmlns:a="http://schemas.openxmlformats.org/drawingml/2006/main" noGrp="1"/>
          </p:cNvSpPr>
          <p:nvPr/>
        </p:nvSpPr>
        <p:spPr>
          <a:xfrm xmlns:a="http://schemas.openxmlformats.org/drawingml/2006/main">
            <a:off x="685800" y="4438650"/>
            <a:ext cx="3048000" cy="781050"/>
          </a:xfrm>
          <a:prstGeom xmlns:a="http://schemas.openxmlformats.org/drawingml/2006/main" prst="rect">
            <a:avLst/>
          </a:prstGeom>
          <a:solidFill xmlns:a="http://schemas.openxmlformats.org/drawingml/2006/main">
            <a:srgbClr val="F6F4ED"/>
          </a:solidFill>
          <a:ln xmlns:a="http://schemas.openxmlformats.org/drawingml/2006/main" w="19050">
            <a:solidFill>
              <a:srgbClr val="2A62C9"/>
            </a:solidFill>
          </a:ln>
        </p:spPr>
        <p:txBody>
          <a:bodyPr xmlns:a="http://schemas.openxmlformats.org/drawingml/2006/main"/>
          <a:lstStyle xmlns:a="http://schemas.openxmlformats.org/drawingml/2006/main"/>
          <a:p xmlns:a="http://schemas.openxmlformats.org/drawingml/2006/main">
            <a:pPr algn="ctr">
              <a:defRPr sz="1875" b="1">
                <a:solidFill>
                  <a:srgbClr val="101D32"/>
                </a:solidFill>
                <a:latin typeface="DejaVu Sans"/>
                <a:ea typeface="DejaVu Sans"/>
                <a:cs typeface="DejaVu Sans"/>
              </a:defRPr>
            </a:pPr>
            <a:r>
              <a:rPr sz="1875" b="1">
                <a:solidFill>
                  <a:srgbClr val="101D32"/>
                </a:solidFill>
                <a:latin typeface="DejaVu Sans"/>
                <a:ea typeface="DejaVu Sans"/>
                <a:cs typeface="DejaVu Sans"/>
              </a:rPr>
              <a:t>Ledger demonstrator</a:t>
            </a:r>
          </a:p>
        </p:txBody>
      </p:sp>
      <p:sp>
        <p:nvSpPr>
          <p:cNvPr id="10" name="">
            <a:extLst xmlns:a="http://schemas.openxmlformats.org/drawingml/2006/main">
              <a:ext uri="{FF2B5EF4-FFF2-40B4-BE49-F238E27FC236}">
                <a16:creationId xmlns:a16="http://schemas.microsoft.com/office/drawing/2014/main" id="{95E9DB8B-D419-4411-85C4-CCBE21AE5742}"/>
              </a:ext>
            </a:extLst>
          </p:cNvPr>
          <p:cNvSpPr>
            <a:spLocks xmlns:a="http://schemas.openxmlformats.org/drawingml/2006/main" noGrp="1"/>
          </p:cNvSpPr>
          <p:nvPr/>
        </p:nvSpPr>
        <p:spPr>
          <a:xfrm xmlns:a="http://schemas.openxmlformats.org/drawingml/2006/main">
            <a:off x="8553450" y="4438650"/>
            <a:ext cx="2952750" cy="781050"/>
          </a:xfrm>
          <a:prstGeom xmlns:a="http://schemas.openxmlformats.org/drawingml/2006/main" prst="rect">
            <a:avLst/>
          </a:prstGeom>
          <a:solidFill xmlns:a="http://schemas.openxmlformats.org/drawingml/2006/main">
            <a:srgbClr val="F6F4ED"/>
          </a:solidFill>
          <a:ln xmlns:a="http://schemas.openxmlformats.org/drawingml/2006/main" w="19050">
            <a:solidFill>
              <a:srgbClr val="2A62C9"/>
            </a:solidFill>
          </a:ln>
        </p:spPr>
        <p:txBody>
          <a:bodyPr xmlns:a="http://schemas.openxmlformats.org/drawingml/2006/main"/>
          <a:lstStyle xmlns:a="http://schemas.openxmlformats.org/drawingml/2006/main"/>
          <a:p xmlns:a="http://schemas.openxmlformats.org/drawingml/2006/main">
            <a:pPr algn="ctr">
              <a:defRPr sz="1875" b="1">
                <a:solidFill>
                  <a:srgbClr val="101D32"/>
                </a:solidFill>
                <a:latin typeface="DejaVu Sans"/>
                <a:ea typeface="DejaVu Sans"/>
                <a:cs typeface="DejaVu Sans"/>
              </a:defRPr>
            </a:pPr>
            <a:r>
              <a:rPr sz="1875" b="1">
                <a:solidFill>
                  <a:srgbClr val="101D32"/>
                </a:solidFill>
                <a:latin typeface="DejaVu Sans"/>
                <a:ea typeface="DejaVu Sans"/>
                <a:cs typeface="DejaVu Sans"/>
              </a:rPr>
              <a:t>Model / SDK tool delivery</a:t>
            </a:r>
          </a:p>
        </p:txBody>
      </p:sp>
      <p:sp>
        <p:nvSpPr>
          <p:cNvPr id="17" name="">
            <a:extLst xmlns:a="http://schemas.openxmlformats.org/drawingml/2006/main">
              <a:ext uri="{FF2B5EF4-FFF2-40B4-BE49-F238E27FC236}">
                <a16:creationId xmlns:a16="http://schemas.microsoft.com/office/drawing/2014/main" id="{673A0894-4F8E-4B8D-B06D-71FB24010EED}"/>
              </a:ext>
            </a:extLst>
          </p:cNvPr>
          <p:cNvSpPr>
            <a:spLocks xmlns:a="http://schemas.openxmlformats.org/drawingml/2006/main" noGrp="1"/>
          </p:cNvSpPr>
          <p:nvPr/>
        </p:nvSpPr>
        <p:spPr>
          <a:xfrm xmlns:a="http://schemas.openxmlformats.org/drawingml/2006/main">
            <a:off x="685800" y="55435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172"/>
                </a:solidFill>
                <a:latin typeface="DejaVu Sans"/>
                <a:ea typeface="DejaVu Sans"/>
                <a:cs typeface="DejaVu Sans"/>
              </a:defRPr>
            </a:pPr>
            <a:r>
              <a:rPr sz="1875" b="0">
                <a:solidFill>
                  <a:srgbClr val="556172"/>
                </a:solidFill>
                <a:latin typeface="DejaVu Sans"/>
                <a:ea typeface="DejaVu Sans"/>
                <a:cs typeface="DejaVu Sans"/>
              </a:rPr>
              <a:t>Sanitized decisions and resources feed the dashboard and audit export.</a:t>
            </a:r>
          </a:p>
        </p:txBody>
      </p:sp>
    </p:spTree>
    <p:extLst>
      <p:ext uri="{BB962C8B-B14F-4D97-AF65-F5344CB8AC3E}">
        <p14:creationId xmlns:p14="http://schemas.microsoft.com/office/powerpoint/2010/main" val="1005942301"/>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4C3745-92F9-4DD8-BFAE-E0C043F9847D}"/>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D32"/>
                </a:solidFill>
                <a:latin typeface="DejaVu Sans"/>
                <a:ea typeface="DejaVu Sans"/>
                <a:cs typeface="DejaVu Sans"/>
              </a:defRPr>
            </a:pPr>
            <a:r>
              <a:rPr sz="3450" b="1">
                <a:solidFill>
                  <a:srgbClr val="101D32"/>
                </a:solidFill>
                <a:latin typeface="DejaVu Sans"/>
                <a:ea typeface="DejaVu Sans"/>
                <a:cs typeface="DejaVu Sans"/>
              </a:rPr>
              <a:t>Hybrid decisions preserve hard restrictions</a:t>
            </a:r>
          </a:p>
        </p:txBody>
      </p:sp>
      <p:sp>
        <p:nvSpPr>
          <p:cNvPr id="2" name="">
            <a:extLst xmlns:a="http://schemas.openxmlformats.org/drawingml/2006/main">
              <a:ext uri="{FF2B5EF4-FFF2-40B4-BE49-F238E27FC236}">
                <a16:creationId xmlns:a16="http://schemas.microsoft.com/office/drawing/2014/main" id="{4159D5E6-FFEC-42B6-9689-8211458D0B34}"/>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6172"/>
                </a:solidFill>
                <a:latin typeface="DejaVu Sans"/>
                <a:ea typeface="DejaVu Sans"/>
                <a:cs typeface="DejaVu Sans"/>
              </a:defRPr>
            </a:pPr>
            <a:r>
              <a:rPr sz="1200" b="0">
                <a:solidFill>
                  <a:srgbClr val="556172"/>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2E034C0A-A98F-43AC-BACC-2B0E42EB5A4F}"/>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172"/>
                </a:solidFill>
                <a:latin typeface="DejaVu Sans"/>
                <a:ea typeface="DejaVu Sans"/>
                <a:cs typeface="DejaVu Sans"/>
              </a:defRPr>
            </a:pPr>
            <a:r>
              <a:rPr sz="1575" b="0">
                <a:solidFill>
                  <a:srgbClr val="556172"/>
                </a:solidFill>
                <a:latin typeface="DejaVu Sans"/>
                <a:ea typeface="DejaVu Sans"/>
                <a:cs typeface="DejaVu Sans"/>
              </a:rPr>
              <a:t>03</a:t>
            </a:r>
          </a:p>
        </p:txBody>
      </p:sp>
      <p:graphicFrame>
        <p:nvGraphicFramePr>
          <p:cNvPr id="10" name=""/>
          <p:cNvGraphicFramePr/>
          <p:nvPr/>
        </p:nvGraphicFramePr>
        <p:xfrm>
          <a:off xmlns:a="http://schemas.openxmlformats.org/drawingml/2006/main" x="685800" y="1752600"/>
          <a:ext xmlns:a="http://schemas.openxmlformats.org/drawingml/2006/main" cx="10820400" cy="3238500"/>
        </p:xfrm>
        <a:graphic xmlns:a="http://schemas.openxmlformats.org/drawingml/2006/main">
          <a:graphicData uri="http://schemas.openxmlformats.org/drawingml/2006/table">
            <a:tbl>
              <a:tblPr/>
              <a:tblGrid>
                <a:gridCol w="3952875"/>
                <a:gridCol w="3190875"/>
                <a:gridCol w="3676650"/>
              </a:tblGrid>
              <a:tr h="647700">
                <a:tc>
                  <a:txBody>
                    <a:bodyPr/>
                    <a:lstStyle/>
                    <a:p>
                      <a:r>
                        <a:rPr sz="1800" b="1">
                          <a:solidFill>
                            <a:srgbClr val="F6F4ED"/>
                          </a:solidFill>
                          <a:latin typeface="DejaVu Sans"/>
                          <a:ea typeface="DejaVu Sans"/>
                          <a:cs typeface="DejaVu Sans"/>
                        </a:rPr>
                        <a:t>Deterministic facts</a:t>
                      </a:r>
                    </a:p>
                  </a:txBody>
                  <a:tcPr marL="91440" marR="91440" marT="45720" marB="45720">
                    <a:solidFill>
                      <a:srgbClr val="101D32"/>
                    </a:solidFill>
                  </a:tcPr>
                </a:tc>
                <a:tc>
                  <a:txBody>
                    <a:bodyPr/>
                    <a:lstStyle/>
                    <a:p>
                      <a:r>
                        <a:rPr sz="1800" b="1">
                          <a:solidFill>
                            <a:srgbClr val="F6F4ED"/>
                          </a:solidFill>
                          <a:latin typeface="DejaVu Sans"/>
                          <a:ea typeface="DejaVu Sans"/>
                          <a:cs typeface="DejaVu Sans"/>
                        </a:rPr>
                        <a:t>Semantic result</a:t>
                      </a:r>
                    </a:p>
                  </a:txBody>
                  <a:tcPr marL="91440" marR="91440" marT="45720" marB="45720">
                    <a:solidFill>
                      <a:srgbClr val="101D32"/>
                    </a:solidFill>
                  </a:tcPr>
                </a:tc>
                <a:tc>
                  <a:txBody>
                    <a:bodyPr/>
                    <a:lstStyle/>
                    <a:p>
                      <a:r>
                        <a:rPr sz="1800" b="1">
                          <a:solidFill>
                            <a:srgbClr val="F6F4ED"/>
                          </a:solidFill>
                          <a:latin typeface="DejaVu Sans"/>
                          <a:ea typeface="DejaVu Sans"/>
                          <a:cs typeface="DejaVu Sans"/>
                        </a:rPr>
                        <a:t>Final admission</a:t>
                      </a:r>
                    </a:p>
                  </a:txBody>
                  <a:tcPr marL="91440" marR="91440" marT="45720" marB="45720">
                    <a:solidFill>
                      <a:srgbClr val="101D32"/>
                    </a:solidFill>
                  </a:tcPr>
                </a:tc>
              </a:tr>
              <a:tr h="647700">
                <a:tc>
                  <a:txBody>
                    <a:bodyPr/>
                    <a:lstStyle/>
                    <a:p>
                      <a:r>
                        <a:rPr sz="1800" b="0">
                          <a:solidFill>
                            <a:srgbClr val="101D32"/>
                          </a:solidFill>
                          <a:latin typeface="DejaVu Sans"/>
                          <a:ea typeface="DejaVu Sans"/>
                          <a:cs typeface="DejaVu Sans"/>
                        </a:rPr>
                        <a:t>Signature matched</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Safe / allow</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Denied</a:t>
                      </a:r>
                    </a:p>
                  </a:txBody>
                  <a:tcPr marL="91440" marR="91440" marT="45720" marB="45720">
                    <a:solidFill>
                      <a:srgbClr val="F6F4ED"/>
                    </a:solidFill>
                  </a:tcPr>
                </a:tc>
              </a:tr>
              <a:tr h="647700">
                <a:tc>
                  <a:txBody>
                    <a:bodyPr/>
                    <a:lstStyle/>
                    <a:p>
                      <a:r>
                        <a:rPr sz="1800" b="0">
                          <a:solidFill>
                            <a:srgbClr val="101D32"/>
                          </a:solidFill>
                          <a:latin typeface="DejaVu Sans"/>
                          <a:ea typeface="DejaVu Sans"/>
                          <a:cs typeface="DejaVu Sans"/>
                        </a:rPr>
                        <a:t>Tool outside allowlist</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Safe / allow</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Denied</a:t>
                      </a:r>
                    </a:p>
                  </a:txBody>
                  <a:tcPr marL="91440" marR="91440" marT="45720" marB="45720">
                    <a:solidFill>
                      <a:srgbClr val="F6F4ED"/>
                    </a:solidFill>
                  </a:tcPr>
                </a:tc>
              </a:tr>
              <a:tr h="647700">
                <a:tc>
                  <a:txBody>
                    <a:bodyPr/>
                    <a:lstStyle/>
                    <a:p>
                      <a:r>
                        <a:rPr sz="1800" b="0">
                          <a:solidFill>
                            <a:srgbClr val="101D32"/>
                          </a:solidFill>
                          <a:latin typeface="DejaVu Sans"/>
                          <a:ea typeface="DejaVu Sans"/>
                          <a:cs typeface="DejaVu Sans"/>
                        </a:rPr>
                        <a:t>No hard restriction</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Above block threshold</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Denied + review</a:t>
                      </a:r>
                    </a:p>
                  </a:txBody>
                  <a:tcPr marL="91440" marR="91440" marT="45720" marB="45720">
                    <a:solidFill>
                      <a:srgbClr val="F6F4ED"/>
                    </a:solidFill>
                  </a:tcPr>
                </a:tc>
              </a:tr>
              <a:tr h="647700">
                <a:tc>
                  <a:txBody>
                    <a:bodyPr/>
                    <a:lstStyle/>
                    <a:p>
                      <a:r>
                        <a:rPr sz="1800" b="0">
                          <a:solidFill>
                            <a:srgbClr val="101D32"/>
                          </a:solidFill>
                          <a:latin typeface="DejaVu Sans"/>
                          <a:ea typeface="DejaVu Sans"/>
                          <a:cs typeface="DejaVu Sans"/>
                        </a:rPr>
                        <a:t>Classifier unavailable</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Balanced policy</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Review; no dispatch</a:t>
                      </a:r>
                    </a:p>
                  </a:txBody>
                  <a:tcPr marL="91440" marR="91440" marT="45720" marB="45720">
                    <a:solidFill>
                      <a:srgbClr val="F6F4ED"/>
                    </a:solidFill>
                  </a:tcPr>
                </a:tc>
              </a:tr>
            </a:tbl>
          </a:graphicData>
        </a:graphic>
      </p:graphicFrame>
      <p:sp>
        <p:nvSpPr>
          <p:cNvPr id="5" name="">
            <a:extLst xmlns:a="http://schemas.openxmlformats.org/drawingml/2006/main">
              <a:ext uri="{FF2B5EF4-FFF2-40B4-BE49-F238E27FC236}">
                <a16:creationId xmlns:a16="http://schemas.microsoft.com/office/drawing/2014/main" id="{E0866B39-3135-4CF1-91CA-EFE66BCB226C}"/>
              </a:ext>
            </a:extLst>
          </p:cNvPr>
          <p:cNvSpPr>
            <a:spLocks xmlns:a="http://schemas.openxmlformats.org/drawingml/2006/main" noGrp="1"/>
          </p:cNvSpPr>
          <p:nvPr/>
        </p:nvSpPr>
        <p:spPr>
          <a:xfrm xmlns:a="http://schemas.openxmlformats.org/drawingml/2006/main">
            <a:off x="685800" y="523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A62C9"/>
                </a:solidFill>
                <a:latin typeface="DejaVu Sans"/>
                <a:ea typeface="DejaVu Sans"/>
                <a:cs typeface="DejaVu Sans"/>
              </a:defRPr>
            </a:pPr>
            <a:r>
              <a:rPr sz="2250" b="1">
                <a:solidFill>
                  <a:srgbClr val="2A62C9"/>
                </a:solidFill>
                <a:latin typeface="DejaVu Sans"/>
                <a:ea typeface="DejaVu Sans"/>
                <a:cs typeface="DejaVu Sans"/>
              </a:rPr>
              <a:t>Independent deny, review and redact flags combine by union.</a:t>
            </a:r>
          </a:p>
        </p:txBody>
      </p:sp>
      <p:sp>
        <p:nvSpPr>
          <p:cNvPr id="6" name="">
            <a:extLst xmlns:a="http://schemas.openxmlformats.org/drawingml/2006/main">
              <a:ext uri="{FF2B5EF4-FFF2-40B4-BE49-F238E27FC236}">
                <a16:creationId xmlns:a16="http://schemas.microsoft.com/office/drawing/2014/main" id="{32B1E7C5-10F1-4733-84C5-0D24DF0FDC4F}"/>
              </a:ext>
            </a:extLst>
          </p:cNvPr>
          <p:cNvSpPr>
            <a:spLocks xmlns:a="http://schemas.openxmlformats.org/drawingml/2006/main" noGrp="1"/>
          </p:cNvSpPr>
          <p:nvPr/>
        </p:nvSpPr>
        <p:spPr>
          <a:xfrm xmlns:a="http://schemas.openxmlformats.org/drawingml/2006/main">
            <a:off x="685800" y="5734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6172"/>
                </a:solidFill>
                <a:latin typeface="DejaVu Sans"/>
                <a:ea typeface="DejaVu Sans"/>
                <a:cs typeface="DejaVu Sans"/>
              </a:defRPr>
            </a:pPr>
            <a:r>
              <a:rPr sz="1800" b="0">
                <a:solidFill>
                  <a:srgbClr val="556172"/>
                </a:solidFill>
                <a:latin typeface="DejaVu Sans"/>
                <a:ea typeface="DejaVu Sans"/>
                <a:cs typeface="DejaVu Sans"/>
              </a:rPr>
              <a:t>The proofs cover rule composition. Detector completeness remains empirical.</a:t>
            </a:r>
          </a:p>
        </p:txBody>
      </p:sp>
    </p:spTree>
    <p:extLst>
      <p:ext uri="{BB962C8B-B14F-4D97-AF65-F5344CB8AC3E}">
        <p14:creationId xmlns:p14="http://schemas.microsoft.com/office/powerpoint/2010/main" val="522978397"/>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FD93FE-46D2-4747-A5F0-318B6134555E}"/>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D32"/>
                </a:solidFill>
                <a:latin typeface="DejaVu Sans"/>
                <a:ea typeface="DejaVu Sans"/>
                <a:cs typeface="DejaVu Sans"/>
              </a:defRPr>
            </a:pPr>
            <a:r>
              <a:rPr sz="3450" b="1">
                <a:solidFill>
                  <a:srgbClr val="101D32"/>
                </a:solidFill>
                <a:latin typeface="DejaVu Sans"/>
                <a:ea typeface="DejaVu Sans"/>
                <a:cs typeface="DejaVu Sans"/>
              </a:rPr>
              <a:t>Policy and feed edits take effect</a:t>
            </a:r>
          </a:p>
        </p:txBody>
      </p:sp>
      <p:sp>
        <p:nvSpPr>
          <p:cNvPr id="2" name="">
            <a:extLst xmlns:a="http://schemas.openxmlformats.org/drawingml/2006/main">
              <a:ext uri="{FF2B5EF4-FFF2-40B4-BE49-F238E27FC236}">
                <a16:creationId xmlns:a16="http://schemas.microsoft.com/office/drawing/2014/main" id="{44443496-9398-4F98-AB76-B08E6BEE6FFB}"/>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6172"/>
                </a:solidFill>
                <a:latin typeface="DejaVu Sans"/>
                <a:ea typeface="DejaVu Sans"/>
                <a:cs typeface="DejaVu Sans"/>
              </a:defRPr>
            </a:pPr>
            <a:r>
              <a:rPr sz="1200" b="0">
                <a:solidFill>
                  <a:srgbClr val="556172"/>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2CD9B978-D88C-4794-BE11-9ED9B5CA2E9E}"/>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172"/>
                </a:solidFill>
                <a:latin typeface="DejaVu Sans"/>
                <a:ea typeface="DejaVu Sans"/>
                <a:cs typeface="DejaVu Sans"/>
              </a:defRPr>
            </a:pPr>
            <a:r>
              <a:rPr sz="1575" b="0">
                <a:solidFill>
                  <a:srgbClr val="556172"/>
                </a:solidFill>
                <a:latin typeface="DejaVu Sans"/>
                <a:ea typeface="DejaVu Sans"/>
                <a:cs typeface="DejaVu Sans"/>
              </a:rPr>
              <a:t>04</a:t>
            </a:r>
          </a:p>
        </p:txBody>
      </p:sp>
      <p:graphicFrame>
        <p:nvGraphicFramePr>
          <p:cNvPr id="9" name=""/>
          <p:cNvGraphicFramePr/>
          <p:nvPr/>
        </p:nvGraphicFramePr>
        <p:xfrm>
          <a:off xmlns:a="http://schemas.openxmlformats.org/drawingml/2006/main" x="685800" y="1733550"/>
          <a:ext xmlns:a="http://schemas.openxmlformats.org/drawingml/2006/main" cx="10820400" cy="3400425"/>
        </p:xfrm>
        <a:graphic xmlns:a="http://schemas.openxmlformats.org/drawingml/2006/main">
          <a:graphicData uri="http://schemas.openxmlformats.org/drawingml/2006/table">
            <a:tbl>
              <a:tblPr/>
              <a:tblGrid>
                <a:gridCol w="4619625"/>
                <a:gridCol w="2333625"/>
                <a:gridCol w="3867150"/>
              </a:tblGrid>
              <a:tr h="680085">
                <a:tc>
                  <a:txBody>
                    <a:bodyPr/>
                    <a:lstStyle/>
                    <a:p>
                      <a:r>
                        <a:rPr sz="1800" b="1">
                          <a:solidFill>
                            <a:srgbClr val="F6F4ED"/>
                          </a:solidFill>
                          <a:latin typeface="DejaVu Sans"/>
                          <a:ea typeface="DejaVu Sans"/>
                          <a:cs typeface="DejaVu Sans"/>
                        </a:rPr>
                        <a:t>Observed HTTP rehearsal</a:t>
                      </a:r>
                    </a:p>
                  </a:txBody>
                  <a:tcPr marL="91440" marR="91440" marT="45720" marB="45720">
                    <a:solidFill>
                      <a:srgbClr val="101D32"/>
                    </a:solidFill>
                  </a:tcPr>
                </a:tc>
                <a:tc>
                  <a:txBody>
                    <a:bodyPr/>
                    <a:lstStyle/>
                    <a:p>
                      <a:r>
                        <a:rPr sz="1800" b="1">
                          <a:solidFill>
                            <a:srgbClr val="F6F4ED"/>
                          </a:solidFill>
                          <a:latin typeface="DejaVu Sans"/>
                          <a:ea typeface="DejaVu Sans"/>
                          <a:cs typeface="DejaVu Sans"/>
                        </a:rPr>
                        <a:t>Active version</a:t>
                      </a:r>
                    </a:p>
                  </a:txBody>
                  <a:tcPr marL="91440" marR="91440" marT="45720" marB="45720">
                    <a:solidFill>
                      <a:srgbClr val="101D32"/>
                    </a:solidFill>
                  </a:tcPr>
                </a:tc>
                <a:tc>
                  <a:txBody>
                    <a:bodyPr/>
                    <a:lstStyle/>
                    <a:p>
                      <a:r>
                        <a:rPr sz="1800" b="1">
                          <a:solidFill>
                            <a:srgbClr val="F6F4ED"/>
                          </a:solidFill>
                          <a:latin typeface="DejaVu Sans"/>
                          <a:ea typeface="DejaVu Sans"/>
                          <a:cs typeface="DejaVu Sans"/>
                        </a:rPr>
                        <a:t>Result</a:t>
                      </a:r>
                    </a:p>
                  </a:txBody>
                  <a:tcPr marL="91440" marR="91440" marT="45720" marB="45720">
                    <a:solidFill>
                      <a:srgbClr val="101D32"/>
                    </a:solidFill>
                  </a:tcPr>
                </a:tc>
              </a:tr>
              <a:tr h="680085">
                <a:tc>
                  <a:txBody>
                    <a:bodyPr/>
                    <a:lstStyle/>
                    <a:p>
                      <a:r>
                        <a:rPr sz="1800" b="0">
                          <a:solidFill>
                            <a:srgbClr val="101D32"/>
                          </a:solidFill>
                          <a:latin typeface="DejaVu Sans"/>
                          <a:ea typeface="DejaVu Sans"/>
                          <a:cs typeface="DejaVu Sans"/>
                        </a:rPr>
                        <a:t>Add a synthetic signature</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Feed 2</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Matching content blocked</a:t>
                      </a:r>
                    </a:p>
                  </a:txBody>
                  <a:tcPr marL="91440" marR="91440" marT="45720" marB="45720">
                    <a:solidFill>
                      <a:srgbClr val="F6F4ED"/>
                    </a:solidFill>
                  </a:tcPr>
                </a:tc>
              </a:tr>
              <a:tr h="680085">
                <a:tc>
                  <a:txBody>
                    <a:bodyPr/>
                    <a:lstStyle/>
                    <a:p>
                      <a:r>
                        <a:rPr sz="1800" b="0">
                          <a:solidFill>
                            <a:srgbClr val="101D32"/>
                          </a:solidFill>
                          <a:latin typeface="DejaVu Sans"/>
                          <a:ea typeface="DejaVu Sans"/>
                          <a:cs typeface="DejaVu Sans"/>
                        </a:rPr>
                        <a:t>Remove that signature</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Feed 3</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Same content allowed</a:t>
                      </a:r>
                    </a:p>
                  </a:txBody>
                  <a:tcPr marL="91440" marR="91440" marT="45720" marB="45720">
                    <a:solidFill>
                      <a:srgbClr val="F6F4ED"/>
                    </a:solidFill>
                  </a:tcPr>
                </a:tc>
              </a:tr>
              <a:tr h="680085">
                <a:tc>
                  <a:txBody>
                    <a:bodyPr/>
                    <a:lstStyle/>
                    <a:p>
                      <a:r>
                        <a:rPr sz="1800" b="0">
                          <a:solidFill>
                            <a:srgbClr val="101D32"/>
                          </a:solidFill>
                          <a:latin typeface="DejaVu Sans"/>
                          <a:ea typeface="DejaVu Sans"/>
                          <a:cs typeface="DejaVu Sans"/>
                        </a:rPr>
                        <a:t>Tighten PII handling</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Policy 8</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Email now blocked</a:t>
                      </a:r>
                    </a:p>
                  </a:txBody>
                  <a:tcPr marL="91440" marR="91440" marT="45720" marB="45720">
                    <a:solidFill>
                      <a:srgbClr val="F6F4ED"/>
                    </a:solidFill>
                  </a:tcPr>
                </a:tc>
              </a:tr>
              <a:tr h="680085">
                <a:tc>
                  <a:txBody>
                    <a:bodyPr/>
                    <a:lstStyle/>
                    <a:p>
                      <a:r>
                        <a:rPr sz="1800" b="0">
                          <a:solidFill>
                            <a:srgbClr val="101D32"/>
                          </a:solidFill>
                          <a:latin typeface="DejaVu Sans"/>
                          <a:ea typeface="DejaVu Sans"/>
                          <a:cs typeface="DejaVu Sans"/>
                        </a:rPr>
                        <a:t>Submit invalid policy JSON</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Policy 8 retained</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Last valid policy kept</a:t>
                      </a:r>
                    </a:p>
                  </a:txBody>
                  <a:tcPr marL="91440" marR="91440" marT="45720" marB="45720">
                    <a:solidFill>
                      <a:srgbClr val="F6F4ED"/>
                    </a:solidFill>
                  </a:tcPr>
                </a:tc>
              </a:tr>
            </a:tbl>
          </a:graphicData>
        </a:graphic>
      </p:graphicFrame>
      <p:sp>
        <p:nvSpPr>
          <p:cNvPr id="5" name="">
            <a:extLst xmlns:a="http://schemas.openxmlformats.org/drawingml/2006/main">
              <a:ext uri="{FF2B5EF4-FFF2-40B4-BE49-F238E27FC236}">
                <a16:creationId xmlns:a16="http://schemas.microsoft.com/office/drawing/2014/main" id="{4DEF113C-0C52-49FE-9090-9141AB453B45}"/>
              </a:ext>
            </a:extLst>
          </p:cNvPr>
          <p:cNvSpPr>
            <a:spLocks xmlns:a="http://schemas.openxmlformats.org/drawingml/2006/main" noGrp="1"/>
          </p:cNvSpPr>
          <p:nvPr/>
        </p:nvSpPr>
        <p:spPr>
          <a:xfrm xmlns:a="http://schemas.openxmlformats.org/drawingml/2006/main">
            <a:off x="685800" y="540067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A62C9"/>
                </a:solidFill>
                <a:latin typeface="DejaVu Sans"/>
                <a:ea typeface="DejaVu Sans"/>
                <a:cs typeface="DejaVu Sans"/>
              </a:defRPr>
            </a:pPr>
            <a:r>
              <a:rPr sz="2175" b="1">
                <a:solidFill>
                  <a:srgbClr val="2A62C9"/>
                </a:solidFill>
                <a:latin typeface="DejaVu Sans"/>
                <a:ea typeface="DejaVu Sans"/>
                <a:cs typeface="DejaVu Sans"/>
              </a:rPr>
              <a:t>Activation preserves ledger balances and previously charged resources.</a:t>
            </a:r>
          </a:p>
        </p:txBody>
      </p:sp>
    </p:spTree>
    <p:extLst>
      <p:ext uri="{BB962C8B-B14F-4D97-AF65-F5344CB8AC3E}">
        <p14:creationId xmlns:p14="http://schemas.microsoft.com/office/powerpoint/2010/main" val="134632537"/>
      </p:ext>
    </p:extLst>
  </p:cSld>
</p:sld>
</file>

<file path=ppt/slides/slide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40AC80-29FB-4AA9-B3BC-DD90B11D6760}"/>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D32"/>
                </a:solidFill>
                <a:latin typeface="DejaVu Sans"/>
                <a:ea typeface="DejaVu Sans"/>
                <a:cs typeface="DejaVu Sans"/>
              </a:defRPr>
            </a:pPr>
            <a:r>
              <a:rPr sz="3450" b="1">
                <a:solidFill>
                  <a:srgbClr val="101D32"/>
                </a:solidFill>
                <a:latin typeface="DejaVu Sans"/>
                <a:ea typeface="DejaVu Sans"/>
                <a:cs typeface="DejaVu Sans"/>
              </a:rPr>
              <a:t>Resource governance before dispatch</a:t>
            </a:r>
          </a:p>
        </p:txBody>
      </p:sp>
      <p:sp>
        <p:nvSpPr>
          <p:cNvPr id="2" name="">
            <a:extLst xmlns:a="http://schemas.openxmlformats.org/drawingml/2006/main">
              <a:ext uri="{FF2B5EF4-FFF2-40B4-BE49-F238E27FC236}">
                <a16:creationId xmlns:a16="http://schemas.microsoft.com/office/drawing/2014/main" id="{D76DFED1-1E65-4FCB-A0EA-F928D84AD7A3}"/>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6172"/>
                </a:solidFill>
                <a:latin typeface="DejaVu Sans"/>
                <a:ea typeface="DejaVu Sans"/>
                <a:cs typeface="DejaVu Sans"/>
              </a:defRPr>
            </a:pPr>
            <a:r>
              <a:rPr sz="1200" b="0">
                <a:solidFill>
                  <a:srgbClr val="556172"/>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23F707E6-F8CA-4661-8F26-5D6A84B77F1A}"/>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172"/>
                </a:solidFill>
                <a:latin typeface="DejaVu Sans"/>
                <a:ea typeface="DejaVu Sans"/>
                <a:cs typeface="DejaVu Sans"/>
              </a:defRPr>
            </a:pPr>
            <a:r>
              <a:rPr sz="1575" b="0">
                <a:solidFill>
                  <a:srgbClr val="556172"/>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0CC74EF9-AC03-491D-8432-9556CC5A4D88}"/>
              </a:ext>
            </a:extLst>
          </p:cNvPr>
          <p:cNvSpPr>
            <a:spLocks xmlns:a="http://schemas.openxmlformats.org/drawingml/2006/main" noGrp="1"/>
          </p:cNvSpPr>
          <p:nvPr/>
        </p:nvSpPr>
        <p:spPr>
          <a:xfrm xmlns:a="http://schemas.openxmlformats.org/drawingml/2006/main">
            <a:off x="685800" y="16859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A62C9"/>
                </a:solidFill>
                <a:latin typeface="DejaVu Sans"/>
                <a:ea typeface="DejaVu Sans"/>
                <a:cs typeface="DejaVu Sans"/>
              </a:defRPr>
            </a:pPr>
            <a:r>
              <a:rPr sz="2400" b="1">
                <a:solidFill>
                  <a:srgbClr val="2A62C9"/>
                </a:solidFill>
                <a:latin typeface="DejaVu Sans"/>
                <a:ea typeface="DejaVu Sans"/>
                <a:cs typeface="DejaVu Sans"/>
              </a:rPr>
              <a:t>Reserve a configured upper bound</a:t>
            </a:r>
          </a:p>
        </p:txBody>
      </p:sp>
      <p:sp>
        <p:nvSpPr>
          <p:cNvPr id="5" name="">
            <a:extLst xmlns:a="http://schemas.openxmlformats.org/drawingml/2006/main">
              <a:ext uri="{FF2B5EF4-FFF2-40B4-BE49-F238E27FC236}">
                <a16:creationId xmlns:a16="http://schemas.microsoft.com/office/drawing/2014/main" id="{CA1F5FCF-D642-4170-AD83-180465DE288D}"/>
              </a:ext>
            </a:extLst>
          </p:cNvPr>
          <p:cNvSpPr>
            <a:spLocks xmlns:a="http://schemas.openxmlformats.org/drawingml/2006/main" noGrp="1"/>
          </p:cNvSpPr>
          <p:nvPr/>
        </p:nvSpPr>
        <p:spPr>
          <a:xfrm xmlns:a="http://schemas.openxmlformats.org/drawingml/2006/main">
            <a:off x="685800" y="2133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D32"/>
                </a:solidFill>
                <a:latin typeface="DejaVu Sans"/>
                <a:ea typeface="DejaVu Sans"/>
                <a:cs typeface="DejaVu Sans"/>
              </a:defRPr>
            </a:pPr>
            <a:r>
              <a:rPr sz="2025" b="0">
                <a:solidFill>
                  <a:srgbClr val="101D32"/>
                </a:solidFill>
                <a:latin typeface="DejaVu Sans"/>
                <a:ea typeface="DejaVu Sans"/>
                <a:cs typeface="DejaVu Sans"/>
              </a:rPr>
              <a:t>Money, tokens, compute time and call count are charged conservatively.</a:t>
            </a:r>
          </a:p>
        </p:txBody>
      </p:sp>
      <p:sp>
        <p:nvSpPr>
          <p:cNvPr id="6" name="">
            <a:extLst xmlns:a="http://schemas.openxmlformats.org/drawingml/2006/main">
              <a:ext uri="{FF2B5EF4-FFF2-40B4-BE49-F238E27FC236}">
                <a16:creationId xmlns:a16="http://schemas.microsoft.com/office/drawing/2014/main" id="{8777C511-B5F1-4DAE-A218-4BF9A04862F4}"/>
              </a:ext>
            </a:extLst>
          </p:cNvPr>
          <p:cNvSpPr>
            <a:spLocks xmlns:a="http://schemas.openxmlformats.org/drawingml/2006/main" noGrp="1"/>
          </p:cNvSpPr>
          <p:nvPr/>
        </p:nvSpPr>
        <p:spPr>
          <a:xfrm xmlns:a="http://schemas.openxmlformats.org/drawingml/2006/main">
            <a:off x="685800" y="30289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A62C9"/>
                </a:solidFill>
                <a:latin typeface="DejaVu Sans"/>
                <a:ea typeface="DejaVu Sans"/>
                <a:cs typeface="DejaVu Sans"/>
              </a:defRPr>
            </a:pPr>
            <a:r>
              <a:rPr sz="2400" b="1">
                <a:solidFill>
                  <a:srgbClr val="2A62C9"/>
                </a:solidFill>
                <a:latin typeface="DejaVu Sans"/>
                <a:ea typeface="DejaVu Sans"/>
                <a:cs typeface="DejaVu Sans"/>
              </a:rPr>
              <a:t>Stop exhausted budgets and runaway sessions</a:t>
            </a:r>
          </a:p>
        </p:txBody>
      </p:sp>
      <p:sp>
        <p:nvSpPr>
          <p:cNvPr id="7" name="">
            <a:extLst xmlns:a="http://schemas.openxmlformats.org/drawingml/2006/main">
              <a:ext uri="{FF2B5EF4-FFF2-40B4-BE49-F238E27FC236}">
                <a16:creationId xmlns:a16="http://schemas.microsoft.com/office/drawing/2014/main" id="{9D9C117E-BA2F-4C79-8F61-F6894EF4E4B5}"/>
              </a:ext>
            </a:extLst>
          </p:cNvPr>
          <p:cNvSpPr>
            <a:spLocks xmlns:a="http://schemas.openxmlformats.org/drawingml/2006/main" noGrp="1"/>
          </p:cNvSpPr>
          <p:nvPr/>
        </p:nvSpPr>
        <p:spPr>
          <a:xfrm xmlns:a="http://schemas.openxmlformats.org/drawingml/2006/main">
            <a:off x="685800" y="3476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D32"/>
                </a:solidFill>
                <a:latin typeface="DejaVu Sans"/>
                <a:ea typeface="DejaVu Sans"/>
                <a:cs typeface="DejaVu Sans"/>
              </a:defRPr>
            </a:pPr>
            <a:r>
              <a:rPr sz="2025" b="0">
                <a:solidFill>
                  <a:srgbClr val="101D32"/>
                </a:solidFill>
                <a:latin typeface="DejaVu Sans"/>
                <a:ea typeface="DejaVu Sans"/>
                <a:cs typeface="DejaVu Sans"/>
              </a:rPr>
              <a:t>Actual worker tests reject before dispatch; per-session step and repeat caps apply.</a:t>
            </a:r>
          </a:p>
        </p:txBody>
      </p:sp>
      <p:sp>
        <p:nvSpPr>
          <p:cNvPr id="8" name="">
            <a:extLst xmlns:a="http://schemas.openxmlformats.org/drawingml/2006/main">
              <a:ext uri="{FF2B5EF4-FFF2-40B4-BE49-F238E27FC236}">
                <a16:creationId xmlns:a16="http://schemas.microsoft.com/office/drawing/2014/main" id="{F95B76F0-59C1-40B5-915C-39D8CCA89452}"/>
              </a:ext>
            </a:extLst>
          </p:cNvPr>
          <p:cNvSpPr>
            <a:spLocks xmlns:a="http://schemas.openxmlformats.org/drawingml/2006/main" noGrp="1"/>
          </p:cNvSpPr>
          <p:nvPr/>
        </p:nvSpPr>
        <p:spPr>
          <a:xfrm xmlns:a="http://schemas.openxmlformats.org/drawingml/2006/main">
            <a:off x="685800" y="43719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A62C9"/>
                </a:solidFill>
                <a:latin typeface="DejaVu Sans"/>
                <a:ea typeface="DejaVu Sans"/>
                <a:cs typeface="DejaVu Sans"/>
              </a:defRPr>
            </a:pPr>
            <a:r>
              <a:rPr sz="2400" b="1">
                <a:solidFill>
                  <a:srgbClr val="2A62C9"/>
                </a:solidFill>
                <a:latin typeface="DejaVu Sans"/>
                <a:ea typeface="DejaVu Sans"/>
                <a:cs typeface="DejaVu Sans"/>
              </a:rPr>
              <a:t>Quarantine after provider timeout</a:t>
            </a:r>
          </a:p>
        </p:txBody>
      </p:sp>
      <p:sp>
        <p:nvSpPr>
          <p:cNvPr id="9" name="">
            <a:extLst xmlns:a="http://schemas.openxmlformats.org/drawingml/2006/main">
              <a:ext uri="{FF2B5EF4-FFF2-40B4-BE49-F238E27FC236}">
                <a16:creationId xmlns:a16="http://schemas.microsoft.com/office/drawing/2014/main" id="{BD75251A-95A2-4C94-BF7E-2040DD2160BF}"/>
              </a:ext>
            </a:extLst>
          </p:cNvPr>
          <p:cNvSpPr>
            <a:spLocks xmlns:a="http://schemas.openxmlformats.org/drawingml/2006/main" noGrp="1"/>
          </p:cNvSpPr>
          <p:nvPr/>
        </p:nvSpPr>
        <p:spPr>
          <a:xfrm xmlns:a="http://schemas.openxmlformats.org/drawingml/2006/main">
            <a:off x="685800" y="48196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D32"/>
                </a:solidFill>
                <a:latin typeface="DejaVu Sans"/>
                <a:ea typeface="DejaVu Sans"/>
                <a:cs typeface="DejaVu Sans"/>
              </a:defRPr>
            </a:pPr>
            <a:r>
              <a:rPr sz="2025" b="0">
                <a:solidFill>
                  <a:srgbClr val="101D32"/>
                </a:solidFill>
                <a:latin typeface="DejaVu Sans"/>
                <a:ea typeface="DejaVu Sans"/>
                <a:cs typeface="DejaVu Sans"/>
              </a:rPr>
              <a:t>The adapter stops; an operator confirms upstream cleanup before recovery.</a:t>
            </a:r>
          </a:p>
        </p:txBody>
      </p:sp>
    </p:spTree>
    <p:extLst>
      <p:ext uri="{BB962C8B-B14F-4D97-AF65-F5344CB8AC3E}">
        <p14:creationId xmlns:p14="http://schemas.microsoft.com/office/powerpoint/2010/main" val="212802614"/>
      </p:ext>
    </p:extLst>
  </p:cSld>
</p:sld>
</file>

<file path=ppt/slides/slide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83F785-B407-4B46-9E8F-2F4C12696210}"/>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D32"/>
                </a:solidFill>
                <a:latin typeface="DejaVu Sans"/>
                <a:ea typeface="DejaVu Sans"/>
                <a:cs typeface="DejaVu Sans"/>
              </a:defRPr>
            </a:pPr>
            <a:r>
              <a:rPr sz="3450" b="1">
                <a:solidFill>
                  <a:srgbClr val="101D32"/>
                </a:solidFill>
                <a:latin typeface="DejaVu Sans"/>
                <a:ea typeface="DejaVu Sans"/>
                <a:cs typeface="DejaVu Sans"/>
              </a:rPr>
              <a:t>Approval and replay protect the ledger</a:t>
            </a:r>
          </a:p>
        </p:txBody>
      </p:sp>
      <p:sp>
        <p:nvSpPr>
          <p:cNvPr id="2" name="">
            <a:extLst xmlns:a="http://schemas.openxmlformats.org/drawingml/2006/main">
              <a:ext uri="{FF2B5EF4-FFF2-40B4-BE49-F238E27FC236}">
                <a16:creationId xmlns:a16="http://schemas.microsoft.com/office/drawing/2014/main" id="{3C241B63-B07D-4E58-96A7-C9AF94609DDC}"/>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6172"/>
                </a:solidFill>
                <a:latin typeface="DejaVu Sans"/>
                <a:ea typeface="DejaVu Sans"/>
                <a:cs typeface="DejaVu Sans"/>
              </a:defRPr>
            </a:pPr>
            <a:r>
              <a:rPr sz="1200" b="0">
                <a:solidFill>
                  <a:srgbClr val="556172"/>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716A7E30-7A5B-4B9B-96FB-CF333A8D8002}"/>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172"/>
                </a:solidFill>
                <a:latin typeface="DejaVu Sans"/>
                <a:ea typeface="DejaVu Sans"/>
                <a:cs typeface="DejaVu Sans"/>
              </a:defRPr>
            </a:pPr>
            <a:r>
              <a:rPr sz="1575" b="0">
                <a:solidFill>
                  <a:srgbClr val="556172"/>
                </a:solidFill>
                <a:latin typeface="DejaVu Sans"/>
                <a:ea typeface="DejaVu Sans"/>
                <a:cs typeface="DejaVu Sans"/>
              </a:rPr>
              <a:t>06</a:t>
            </a:r>
          </a:p>
        </p:txBody>
      </p:sp>
      <p:graphicFrame>
        <p:nvGraphicFramePr>
          <p:cNvPr id="9" name=""/>
          <p:cNvGraphicFramePr/>
          <p:nvPr/>
        </p:nvGraphicFramePr>
        <p:xfrm>
          <a:off xmlns:a="http://schemas.openxmlformats.org/drawingml/2006/main" x="685800" y="1724025"/>
          <a:ext xmlns:a="http://schemas.openxmlformats.org/drawingml/2006/main" cx="10820400" cy="3390900"/>
        </p:xfrm>
        <a:graphic xmlns:a="http://schemas.openxmlformats.org/drawingml/2006/main">
          <a:graphicData uri="http://schemas.openxmlformats.org/drawingml/2006/table">
            <a:tbl>
              <a:tblPr/>
              <a:tblGrid>
                <a:gridCol w="5334000"/>
                <a:gridCol w="2743200"/>
                <a:gridCol w="2743200"/>
              </a:tblGrid>
              <a:tr h="678180">
                <a:tc>
                  <a:txBody>
                    <a:bodyPr/>
                    <a:lstStyle/>
                    <a:p>
                      <a:r>
                        <a:rPr sz="1800" b="1">
                          <a:solidFill>
                            <a:srgbClr val="F6F4ED"/>
                          </a:solidFill>
                          <a:latin typeface="DejaVu Sans"/>
                          <a:ea typeface="DejaVu Sans"/>
                          <a:cs typeface="DejaVu Sans"/>
                        </a:rPr>
                        <a:t>Observed transition</a:t>
                      </a:r>
                    </a:p>
                  </a:txBody>
                  <a:tcPr marL="91440" marR="91440" marT="45720" marB="45720">
                    <a:solidFill>
                      <a:srgbClr val="101D32"/>
                    </a:solidFill>
                  </a:tcPr>
                </a:tc>
                <a:tc>
                  <a:txBody>
                    <a:bodyPr/>
                    <a:lstStyle/>
                    <a:p>
                      <a:r>
                        <a:rPr sz="1800" b="1">
                          <a:solidFill>
                            <a:srgbClr val="F6F4ED"/>
                          </a:solidFill>
                          <a:latin typeface="DejaVu Sans"/>
                          <a:ea typeface="DejaVu Sans"/>
                          <a:cs typeface="DejaVu Sans"/>
                        </a:rPr>
                        <a:t>Alice (PLN)</a:t>
                      </a:r>
                    </a:p>
                  </a:txBody>
                  <a:tcPr marL="91440" marR="91440" marT="45720" marB="45720">
                    <a:solidFill>
                      <a:srgbClr val="101D32"/>
                    </a:solidFill>
                  </a:tcPr>
                </a:tc>
                <a:tc>
                  <a:txBody>
                    <a:bodyPr/>
                    <a:lstStyle/>
                    <a:p>
                      <a:r>
                        <a:rPr sz="1800" b="1">
                          <a:solidFill>
                            <a:srgbClr val="F6F4ED"/>
                          </a:solidFill>
                          <a:latin typeface="DejaVu Sans"/>
                          <a:ea typeface="DejaVu Sans"/>
                          <a:cs typeface="DejaVu Sans"/>
                        </a:rPr>
                        <a:t>Bob (PLN)</a:t>
                      </a:r>
                    </a:p>
                  </a:txBody>
                  <a:tcPr marL="91440" marR="91440" marT="45720" marB="45720">
                    <a:solidFill>
                      <a:srgbClr val="101D32"/>
                    </a:solidFill>
                  </a:tcPr>
                </a:tc>
              </a:tr>
              <a:tr h="678180">
                <a:tc>
                  <a:txBody>
                    <a:bodyPr/>
                    <a:lstStyle/>
                    <a:p>
                      <a:r>
                        <a:rPr sz="1800" b="0">
                          <a:solidFill>
                            <a:srgbClr val="101D32"/>
                          </a:solidFill>
                          <a:latin typeface="DejaVu Sans"/>
                          <a:ea typeface="DejaVu Sans"/>
                          <a:cs typeface="DejaVu Sans"/>
                        </a:rPr>
                        <a:t>Initial state</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1,000.00</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200.00</a:t>
                      </a:r>
                    </a:p>
                  </a:txBody>
                  <a:tcPr marL="91440" marR="91440" marT="45720" marB="45720">
                    <a:solidFill>
                      <a:srgbClr val="F6F4ED"/>
                    </a:solidFill>
                  </a:tcPr>
                </a:tc>
              </a:tr>
              <a:tr h="678180">
                <a:tc>
                  <a:txBody>
                    <a:bodyPr/>
                    <a:lstStyle/>
                    <a:p>
                      <a:r>
                        <a:rPr sz="1800" b="0">
                          <a:solidFill>
                            <a:srgbClr val="101D32"/>
                          </a:solidFill>
                          <a:latin typeface="DejaVu Sans"/>
                          <a:ea typeface="DejaVu Sans"/>
                          <a:cs typeface="DejaVu Sans"/>
                        </a:rPr>
                        <a:t>25.00 transfer</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975.00</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225.00</a:t>
                      </a:r>
                    </a:p>
                  </a:txBody>
                  <a:tcPr marL="91440" marR="91440" marT="45720" marB="45720">
                    <a:solidFill>
                      <a:srgbClr val="F6F4ED"/>
                    </a:solidFill>
                  </a:tcPr>
                </a:tc>
              </a:tr>
              <a:tr h="678180">
                <a:tc>
                  <a:txBody>
                    <a:bodyPr/>
                    <a:lstStyle/>
                    <a:p>
                      <a:r>
                        <a:rPr sz="1800" b="0">
                          <a:solidFill>
                            <a:srgbClr val="101D32"/>
                          </a:solidFill>
                          <a:latin typeface="DejaVu Sans"/>
                          <a:ea typeface="DejaVu Sans"/>
                          <a:cs typeface="DejaVu Sans"/>
                        </a:rPr>
                        <a:t>100.00 approved transfer</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875.00</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325.00</a:t>
                      </a:r>
                    </a:p>
                  </a:txBody>
                  <a:tcPr marL="91440" marR="91440" marT="45720" marB="45720">
                    <a:solidFill>
                      <a:srgbClr val="F6F4ED"/>
                    </a:solidFill>
                  </a:tcPr>
                </a:tc>
              </a:tr>
              <a:tr h="678180">
                <a:tc>
                  <a:txBody>
                    <a:bodyPr/>
                    <a:lstStyle/>
                    <a:p>
                      <a:r>
                        <a:rPr sz="1800" b="0">
                          <a:solidFill>
                            <a:srgbClr val="101D32"/>
                          </a:solidFill>
                          <a:latin typeface="DejaVu Sans"/>
                          <a:ea typeface="DejaVu Sans"/>
                          <a:cs typeface="DejaVu Sans"/>
                        </a:rPr>
                        <a:t>Exact retries</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875.00</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325.00</a:t>
                      </a:r>
                    </a:p>
                  </a:txBody>
                  <a:tcPr marL="91440" marR="91440" marT="45720" marB="45720">
                    <a:solidFill>
                      <a:srgbClr val="F6F4ED"/>
                    </a:solidFill>
                  </a:tcPr>
                </a:tc>
              </a:tr>
            </a:tbl>
          </a:graphicData>
        </a:graphic>
      </p:graphicFrame>
      <p:sp>
        <p:nvSpPr>
          <p:cNvPr id="5" name="">
            <a:extLst xmlns:a="http://schemas.openxmlformats.org/drawingml/2006/main">
              <a:ext uri="{FF2B5EF4-FFF2-40B4-BE49-F238E27FC236}">
                <a16:creationId xmlns:a16="http://schemas.microsoft.com/office/drawing/2014/main" id="{E57925C6-54C3-47AC-A3CE-AE3314E5D2F5}"/>
              </a:ext>
            </a:extLst>
          </p:cNvPr>
          <p:cNvSpPr>
            <a:spLocks xmlns:a="http://schemas.openxmlformats.org/drawingml/2006/main" noGrp="1"/>
          </p:cNvSpPr>
          <p:nvPr/>
        </p:nvSpPr>
        <p:spPr>
          <a:xfrm xmlns:a="http://schemas.openxmlformats.org/drawingml/2006/main">
            <a:off x="685800" y="53816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A62C9"/>
                </a:solidFill>
                <a:latin typeface="DejaVu Sans"/>
                <a:ea typeface="DejaVu Sans"/>
                <a:cs typeface="DejaVu Sans"/>
              </a:defRPr>
            </a:pPr>
            <a:r>
              <a:rPr sz="2100" b="1">
                <a:solidFill>
                  <a:srgbClr val="2A62C9"/>
                </a:solidFill>
                <a:latin typeface="DejaVu Sans"/>
                <a:ea typeface="DejaVu Sans"/>
                <a:cs typeface="DejaVu Sans"/>
              </a:rPr>
              <a:t>Issuing approval causes no payment. Exact retry causes no new debit or charge.</a:t>
            </a:r>
          </a:p>
        </p:txBody>
      </p:sp>
    </p:spTree>
    <p:extLst>
      <p:ext uri="{BB962C8B-B14F-4D97-AF65-F5344CB8AC3E}">
        <p14:creationId xmlns:p14="http://schemas.microsoft.com/office/powerpoint/2010/main" val="387109927"/>
      </p:ext>
    </p:extLst>
  </p:cSld>
</p:sld>
</file>

<file path=ppt/slides/slide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F91975-4199-487B-9641-2068B7CB9B90}"/>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D32"/>
                </a:solidFill>
                <a:latin typeface="DejaVu Sans"/>
                <a:ea typeface="DejaVu Sans"/>
                <a:cs typeface="DejaVu Sans"/>
              </a:defRPr>
            </a:pPr>
            <a:r>
              <a:rPr sz="3450" b="1">
                <a:solidFill>
                  <a:srgbClr val="101D32"/>
                </a:solidFill>
                <a:latin typeface="DejaVu Sans"/>
                <a:ea typeface="DejaVu Sans"/>
                <a:cs typeface="DejaVu Sans"/>
              </a:rPr>
              <a:t>Attack and artifact boundaries</a:t>
            </a:r>
          </a:p>
        </p:txBody>
      </p:sp>
      <p:sp>
        <p:nvSpPr>
          <p:cNvPr id="2" name="">
            <a:extLst xmlns:a="http://schemas.openxmlformats.org/drawingml/2006/main">
              <a:ext uri="{FF2B5EF4-FFF2-40B4-BE49-F238E27FC236}">
                <a16:creationId xmlns:a16="http://schemas.microsoft.com/office/drawing/2014/main" id="{CCC10DB0-E857-49FF-8F07-6E127EAD3D80}"/>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6172"/>
                </a:solidFill>
                <a:latin typeface="DejaVu Sans"/>
                <a:ea typeface="DejaVu Sans"/>
                <a:cs typeface="DejaVu Sans"/>
              </a:defRPr>
            </a:pPr>
            <a:r>
              <a:rPr sz="1200" b="0">
                <a:solidFill>
                  <a:srgbClr val="556172"/>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A4CA9433-10F5-4E65-B324-10AAB2FF914E}"/>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172"/>
                </a:solidFill>
                <a:latin typeface="DejaVu Sans"/>
                <a:ea typeface="DejaVu Sans"/>
                <a:cs typeface="DejaVu Sans"/>
              </a:defRPr>
            </a:pPr>
            <a:r>
              <a:rPr sz="1575" b="0">
                <a:solidFill>
                  <a:srgbClr val="556172"/>
                </a:solidFill>
                <a:latin typeface="DejaVu Sans"/>
                <a:ea typeface="DejaVu Sans"/>
                <a:cs typeface="DejaVu Sans"/>
              </a:rPr>
              <a:t>07</a:t>
            </a:r>
          </a:p>
        </p:txBody>
      </p:sp>
      <p:sp>
        <p:nvSpPr>
          <p:cNvPr id="4" name="">
            <a:extLst xmlns:a="http://schemas.openxmlformats.org/drawingml/2006/main">
              <a:ext uri="{FF2B5EF4-FFF2-40B4-BE49-F238E27FC236}">
                <a16:creationId xmlns:a16="http://schemas.microsoft.com/office/drawing/2014/main" id="{BBE31AB6-B103-4D0B-B63B-AC62B307EF2B}"/>
              </a:ext>
            </a:extLst>
          </p:cNvPr>
          <p:cNvSpPr>
            <a:spLocks xmlns:a="http://schemas.openxmlformats.org/drawingml/2006/main" noGrp="1"/>
          </p:cNvSpPr>
          <p:nvPr/>
        </p:nvSpPr>
        <p:spPr>
          <a:xfrm xmlns:a="http://schemas.openxmlformats.org/drawingml/2006/main">
            <a:off x="685800" y="16573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A62C9"/>
                </a:solidFill>
                <a:latin typeface="DejaVu Sans"/>
                <a:ea typeface="DejaVu Sans"/>
                <a:cs typeface="DejaVu Sans"/>
              </a:defRPr>
            </a:pPr>
            <a:r>
              <a:rPr sz="2400" b="1">
                <a:solidFill>
                  <a:srgbClr val="2A62C9"/>
                </a:solidFill>
                <a:latin typeface="DejaVu Sans"/>
                <a:ea typeface="DejaVu Sans"/>
                <a:cs typeface="DejaVu Sans"/>
              </a:rPr>
              <a:t>Indirect and encoded content</a:t>
            </a:r>
          </a:p>
        </p:txBody>
      </p:sp>
      <p:sp>
        <p:nvSpPr>
          <p:cNvPr id="5" name="">
            <a:extLst xmlns:a="http://schemas.openxmlformats.org/drawingml/2006/main">
              <a:ext uri="{FF2B5EF4-FFF2-40B4-BE49-F238E27FC236}">
                <a16:creationId xmlns:a16="http://schemas.microsoft.com/office/drawing/2014/main" id="{50F57D6A-1AD1-4133-8CCD-FFB801287E93}"/>
              </a:ext>
            </a:extLst>
          </p:cNvPr>
          <p:cNvSpPr>
            <a:spLocks xmlns:a="http://schemas.openxmlformats.org/drawingml/2006/main" noGrp="1"/>
          </p:cNvSpPr>
          <p:nvPr/>
        </p:nvSpPr>
        <p:spPr>
          <a:xfrm xmlns:a="http://schemas.openxmlformats.org/drawingml/2006/main">
            <a:off x="685800" y="21050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D32"/>
                </a:solidFill>
                <a:latin typeface="DejaVu Sans"/>
                <a:ea typeface="DejaVu Sans"/>
                <a:cs typeface="DejaVu Sans"/>
              </a:defRPr>
            </a:pPr>
            <a:r>
              <a:rPr sz="2025" b="0">
                <a:solidFill>
                  <a:srgbClr val="101D32"/>
                </a:solidFill>
                <a:latin typeface="DejaVu Sans"/>
                <a:ea typeface="DejaVu Sans"/>
                <a:cs typeface="DejaVu Sans"/>
              </a:rPr>
              <a:t>Shared controls inspect tool results and session history; encoded sensitive data is refused.</a:t>
            </a:r>
          </a:p>
        </p:txBody>
      </p:sp>
      <p:sp>
        <p:nvSpPr>
          <p:cNvPr id="6" name="">
            <a:extLst xmlns:a="http://schemas.openxmlformats.org/drawingml/2006/main">
              <a:ext uri="{FF2B5EF4-FFF2-40B4-BE49-F238E27FC236}">
                <a16:creationId xmlns:a16="http://schemas.microsoft.com/office/drawing/2014/main" id="{790EF3E6-1D0D-4829-9F4C-3D9FFA7D823B}"/>
              </a:ext>
            </a:extLst>
          </p:cNvPr>
          <p:cNvSpPr>
            <a:spLocks xmlns:a="http://schemas.openxmlformats.org/drawingml/2006/main" noGrp="1"/>
          </p:cNvSpPr>
          <p:nvPr/>
        </p:nvSpPr>
        <p:spPr>
          <a:xfrm xmlns:a="http://schemas.openxmlformats.org/drawingml/2006/main">
            <a:off x="685800" y="30194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A62C9"/>
                </a:solidFill>
                <a:latin typeface="DejaVu Sans"/>
                <a:ea typeface="DejaVu Sans"/>
                <a:cs typeface="DejaVu Sans"/>
              </a:defRPr>
            </a:pPr>
            <a:r>
              <a:rPr sz="2400" b="1">
                <a:solidFill>
                  <a:srgbClr val="2A62C9"/>
                </a:solidFill>
                <a:latin typeface="DejaVu Sans"/>
                <a:ea typeface="DejaVu Sans"/>
                <a:cs typeface="DejaVu Sans"/>
              </a:rPr>
              <a:t>Pinned inert artifacts</a:t>
            </a:r>
          </a:p>
        </p:txBody>
      </p:sp>
      <p:sp>
        <p:nvSpPr>
          <p:cNvPr id="7" name="">
            <a:extLst xmlns:a="http://schemas.openxmlformats.org/drawingml/2006/main">
              <a:ext uri="{FF2B5EF4-FFF2-40B4-BE49-F238E27FC236}">
                <a16:creationId xmlns:a16="http://schemas.microsoft.com/office/drawing/2014/main" id="{43207ABF-1CB2-4B36-B63C-5F88BE0092D7}"/>
              </a:ext>
            </a:extLst>
          </p:cNvPr>
          <p:cNvSpPr>
            <a:spLocks xmlns:a="http://schemas.openxmlformats.org/drawingml/2006/main" noGrp="1"/>
          </p:cNvSpPr>
          <p:nvPr/>
        </p:nvSpPr>
        <p:spPr>
          <a:xfrm xmlns:a="http://schemas.openxmlformats.org/drawingml/2006/main">
            <a:off x="685800" y="34671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D32"/>
                </a:solidFill>
                <a:latin typeface="DejaVu Sans"/>
                <a:ea typeface="DejaVu Sans"/>
                <a:cs typeface="DejaVu Sans"/>
              </a:defRPr>
            </a:pPr>
            <a:r>
              <a:rPr sz="2025" b="0">
                <a:solidFill>
                  <a:srgbClr val="101D32"/>
                </a:solidFill>
                <a:latin typeface="DejaVu Sans"/>
                <a:ea typeface="DejaVu Sans"/>
                <a:cs typeface="DejaVu Sans"/>
              </a:rPr>
              <a:t>Bounded byte/hash/header checks; pickle and code-running formats are refused.</a:t>
            </a:r>
          </a:p>
        </p:txBody>
      </p:sp>
      <p:sp>
        <p:nvSpPr>
          <p:cNvPr id="8" name="">
            <a:extLst xmlns:a="http://schemas.openxmlformats.org/drawingml/2006/main">
              <a:ext uri="{FF2B5EF4-FFF2-40B4-BE49-F238E27FC236}">
                <a16:creationId xmlns:a16="http://schemas.microsoft.com/office/drawing/2014/main" id="{819E7602-7FA7-4757-8CBD-369482F722A3}"/>
              </a:ext>
            </a:extLst>
          </p:cNvPr>
          <p:cNvSpPr>
            <a:spLocks xmlns:a="http://schemas.openxmlformats.org/drawingml/2006/main" noGrp="1"/>
          </p:cNvSpPr>
          <p:nvPr/>
        </p:nvSpPr>
        <p:spPr>
          <a:xfrm xmlns:a="http://schemas.openxmlformats.org/drawingml/2006/main">
            <a:off x="685800" y="43815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A62C9"/>
                </a:solidFill>
                <a:latin typeface="DejaVu Sans"/>
                <a:ea typeface="DejaVu Sans"/>
                <a:cs typeface="DejaVu Sans"/>
              </a:defRPr>
            </a:pPr>
            <a:r>
              <a:rPr sz="2400" b="1">
                <a:solidFill>
                  <a:srgbClr val="2A62C9"/>
                </a:solidFill>
                <a:latin typeface="DejaVu Sans"/>
                <a:ea typeface="DejaVu Sans"/>
                <a:cs typeface="DejaVu Sans"/>
              </a:rPr>
              <a:t>Finite detector coverage</a:t>
            </a:r>
          </a:p>
        </p:txBody>
      </p:sp>
      <p:sp>
        <p:nvSpPr>
          <p:cNvPr id="9" name="">
            <a:extLst xmlns:a="http://schemas.openxmlformats.org/drawingml/2006/main">
              <a:ext uri="{FF2B5EF4-FFF2-40B4-BE49-F238E27FC236}">
                <a16:creationId xmlns:a16="http://schemas.microsoft.com/office/drawing/2014/main" id="{59A9692C-7A28-4B7B-A108-47AEF3EC4887}"/>
              </a:ext>
            </a:extLst>
          </p:cNvPr>
          <p:cNvSpPr>
            <a:spLocks xmlns:a="http://schemas.openxmlformats.org/drawingml/2006/main" noGrp="1"/>
          </p:cNvSpPr>
          <p:nvPr/>
        </p:nvSpPr>
        <p:spPr>
          <a:xfrm xmlns:a="http://schemas.openxmlformats.org/drawingml/2006/main">
            <a:off x="685800" y="482917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D32"/>
                </a:solidFill>
                <a:latin typeface="DejaVu Sans"/>
                <a:ea typeface="DejaVu Sans"/>
                <a:cs typeface="DejaVu Sans"/>
              </a:defRPr>
            </a:pPr>
            <a:r>
              <a:rPr sz="2025" b="0">
                <a:solidFill>
                  <a:srgbClr val="101D32"/>
                </a:solidFill>
                <a:latin typeface="DejaVu Sans"/>
                <a:ea typeface="DejaVu Sans"/>
                <a:cs typeface="DejaVu Sans"/>
              </a:rPr>
              <a:t>Synthetic feed examples and labeled fixtures demonstrate enforcement paths.</a:t>
            </a:r>
          </a:p>
        </p:txBody>
      </p:sp>
    </p:spTree>
    <p:extLst>
      <p:ext uri="{BB962C8B-B14F-4D97-AF65-F5344CB8AC3E}">
        <p14:creationId xmlns:p14="http://schemas.microsoft.com/office/powerpoint/2010/main" val="173429795"/>
      </p:ext>
    </p:extLst>
  </p:cSld>
</p:sld>
</file>

<file path=ppt/slides/slide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1C26C9-36D3-4706-A08D-50943D5B6C37}"/>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D32"/>
                </a:solidFill>
                <a:latin typeface="DejaVu Sans"/>
                <a:ea typeface="DejaVu Sans"/>
                <a:cs typeface="DejaVu Sans"/>
              </a:defRPr>
            </a:pPr>
            <a:r>
              <a:rPr sz="3450" b="1">
                <a:solidFill>
                  <a:srgbClr val="101D32"/>
                </a:solidFill>
                <a:latin typeface="DejaVu Sans"/>
                <a:ea typeface="DejaVu Sans"/>
                <a:cs typeface="DejaVu Sans"/>
              </a:rPr>
              <a:t>Reproducible evidence</a:t>
            </a:r>
          </a:p>
        </p:txBody>
      </p:sp>
      <p:sp>
        <p:nvSpPr>
          <p:cNvPr id="2" name="">
            <a:extLst xmlns:a="http://schemas.openxmlformats.org/drawingml/2006/main">
              <a:ext uri="{FF2B5EF4-FFF2-40B4-BE49-F238E27FC236}">
                <a16:creationId xmlns:a16="http://schemas.microsoft.com/office/drawing/2014/main" id="{93E6CF4D-D3A8-4E47-8644-57E598D57A55}"/>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6172"/>
                </a:solidFill>
                <a:latin typeface="DejaVu Sans"/>
                <a:ea typeface="DejaVu Sans"/>
                <a:cs typeface="DejaVu Sans"/>
              </a:defRPr>
            </a:pPr>
            <a:r>
              <a:rPr sz="1200" b="0">
                <a:solidFill>
                  <a:srgbClr val="556172"/>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BBD229CE-2977-4EF1-896A-5E0E94A369BB}"/>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172"/>
                </a:solidFill>
                <a:latin typeface="DejaVu Sans"/>
                <a:ea typeface="DejaVu Sans"/>
                <a:cs typeface="DejaVu Sans"/>
              </a:defRPr>
            </a:pPr>
            <a:r>
              <a:rPr sz="1575" b="0">
                <a:solidFill>
                  <a:srgbClr val="556172"/>
                </a:solidFill>
                <a:latin typeface="DejaVu Sans"/>
                <a:ea typeface="DejaVu Sans"/>
                <a:cs typeface="DejaVu Sans"/>
              </a:rPr>
              <a:t>08</a:t>
            </a:r>
          </a:p>
        </p:txBody>
      </p:sp>
      <p:graphicFrame>
        <p:nvGraphicFramePr>
          <p:cNvPr id="10" name=""/>
          <p:cNvGraphicFramePr/>
          <p:nvPr/>
        </p:nvGraphicFramePr>
        <p:xfrm>
          <a:off xmlns:a="http://schemas.openxmlformats.org/drawingml/2006/main" x="685800" y="1676400"/>
          <a:ext xmlns:a="http://schemas.openxmlformats.org/drawingml/2006/main" cx="10820400" cy="3390900"/>
        </p:xfrm>
        <a:graphic xmlns:a="http://schemas.openxmlformats.org/drawingml/2006/main">
          <a:graphicData uri="http://schemas.openxmlformats.org/drawingml/2006/table">
            <a:tbl>
              <a:tblPr/>
              <a:tblGrid>
                <a:gridCol w="5524500"/>
                <a:gridCol w="1905000"/>
                <a:gridCol w="3390900"/>
              </a:tblGrid>
              <a:tr h="678180">
                <a:tc>
                  <a:txBody>
                    <a:bodyPr/>
                    <a:lstStyle/>
                    <a:p>
                      <a:r>
                        <a:rPr sz="1800" b="1">
                          <a:solidFill>
                            <a:srgbClr val="F6F4ED"/>
                          </a:solidFill>
                          <a:latin typeface="DejaVu Sans"/>
                          <a:ea typeface="DejaVu Sans"/>
                          <a:cs typeface="DejaVu Sans"/>
                        </a:rPr>
                        <a:t>Evidence</a:t>
                      </a:r>
                    </a:p>
                  </a:txBody>
                  <a:tcPr marL="91440" marR="91440" marT="45720" marB="45720">
                    <a:solidFill>
                      <a:srgbClr val="101D32"/>
                    </a:solidFill>
                  </a:tcPr>
                </a:tc>
                <a:tc>
                  <a:txBody>
                    <a:bodyPr/>
                    <a:lstStyle/>
                    <a:p>
                      <a:r>
                        <a:rPr sz="1800" b="1">
                          <a:solidFill>
                            <a:srgbClr val="F6F4ED"/>
                          </a:solidFill>
                          <a:latin typeface="DejaVu Sans"/>
                          <a:ea typeface="DejaVu Sans"/>
                          <a:cs typeface="DejaVu Sans"/>
                        </a:rPr>
                        <a:t>Result</a:t>
                      </a:r>
                    </a:p>
                  </a:txBody>
                  <a:tcPr marL="91440" marR="91440" marT="45720" marB="45720">
                    <a:solidFill>
                      <a:srgbClr val="101D32"/>
                    </a:solidFill>
                  </a:tcPr>
                </a:tc>
                <a:tc>
                  <a:txBody>
                    <a:bodyPr/>
                    <a:lstStyle/>
                    <a:p>
                      <a:r>
                        <a:rPr sz="1800" b="1">
                          <a:solidFill>
                            <a:srgbClr val="F6F4ED"/>
                          </a:solidFill>
                          <a:latin typeface="DejaVu Sans"/>
                          <a:ea typeface="DejaVu Sans"/>
                          <a:cs typeface="DejaVu Sans"/>
                        </a:rPr>
                        <a:t>Scope</a:t>
                      </a:r>
                    </a:p>
                  </a:txBody>
                  <a:tcPr marL="91440" marR="91440" marT="45720" marB="45720">
                    <a:solidFill>
                      <a:srgbClr val="101D32"/>
                    </a:solidFill>
                  </a:tcPr>
                </a:tc>
              </a:tr>
              <a:tr h="678180">
                <a:tc>
                  <a:txBody>
                    <a:bodyPr/>
                    <a:lstStyle/>
                    <a:p>
                      <a:r>
                        <a:rPr sz="1800" b="0">
                          <a:solidFill>
                            <a:srgbClr val="101D32"/>
                          </a:solidFill>
                          <a:latin typeface="DejaVu Sans"/>
                          <a:ea typeface="DejaVu Sans"/>
                          <a:cs typeface="DejaVu Sans"/>
                        </a:rPr>
                        <a:t>Fresh axiom audit</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156 records</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Pinned Lean + Mathlib</a:t>
                      </a:r>
                    </a:p>
                  </a:txBody>
                  <a:tcPr marL="91440" marR="91440" marT="45720" marB="45720">
                    <a:solidFill>
                      <a:srgbClr val="F6F4ED"/>
                    </a:solidFill>
                  </a:tcPr>
                </a:tc>
              </a:tr>
              <a:tr h="678180">
                <a:tc>
                  <a:txBody>
                    <a:bodyPr/>
                    <a:lstStyle/>
                    <a:p>
                      <a:r>
                        <a:rPr sz="1800" b="0">
                          <a:solidFill>
                            <a:srgbClr val="101D32"/>
                          </a:solidFill>
                          <a:latin typeface="DejaVu Sans"/>
                          <a:ea typeface="DejaVu Sans"/>
                          <a:cs typeface="DejaVu Sans"/>
                        </a:rPr>
                        <a:t>Gateway/provider/SDK/evaluator suite</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83 passed</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Actual worker + fixtures</a:t>
                      </a:r>
                    </a:p>
                  </a:txBody>
                  <a:tcPr marL="91440" marR="91440" marT="45720" marB="45720">
                    <a:solidFill>
                      <a:srgbClr val="F6F4ED"/>
                    </a:solidFill>
                  </a:tcPr>
                </a:tc>
              </a:tr>
              <a:tr h="678180">
                <a:tc>
                  <a:txBody>
                    <a:bodyPr/>
                    <a:lstStyle/>
                    <a:p>
                      <a:r>
                        <a:rPr sz="1800" b="0">
                          <a:solidFill>
                            <a:srgbClr val="101D32"/>
                          </a:solidFill>
                          <a:latin typeface="DejaVu Sans"/>
                          <a:ea typeface="DejaVu Sans"/>
                          <a:cs typeface="DejaVu Sans"/>
                        </a:rPr>
                        <a:t>Static audit/parser regressions</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14 passed</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Provenance and parsing</a:t>
                      </a:r>
                    </a:p>
                  </a:txBody>
                  <a:tcPr marL="91440" marR="91440" marT="45720" marB="45720">
                    <a:solidFill>
                      <a:srgbClr val="F6F4ED"/>
                    </a:solidFill>
                  </a:tcPr>
                </a:tc>
              </a:tr>
              <a:tr h="678180">
                <a:tc>
                  <a:txBody>
                    <a:bodyPr/>
                    <a:lstStyle/>
                    <a:p>
                      <a:r>
                        <a:rPr sz="1800" b="0">
                          <a:solidFill>
                            <a:srgbClr val="101D32"/>
                          </a:solidFill>
                          <a:latin typeface="DejaVu Sans"/>
                          <a:ea typeface="DejaVu Sans"/>
                          <a:cs typeface="DejaVu Sans"/>
                        </a:rPr>
                        <a:t>Public HTTP rehearsal</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16 passed</a:t>
                      </a:r>
                    </a:p>
                  </a:txBody>
                  <a:tcPr marL="91440" marR="91440" marT="45720" marB="45720">
                    <a:solidFill>
                      <a:srgbClr val="F6F4ED"/>
                    </a:solidFill>
                  </a:tcPr>
                </a:tc>
                <a:tc>
                  <a:txBody>
                    <a:bodyPr/>
                    <a:lstStyle/>
                    <a:p>
                      <a:r>
                        <a:rPr sz="1800" b="0">
                          <a:solidFill>
                            <a:srgbClr val="101D32"/>
                          </a:solidFill>
                          <a:latin typeface="DejaVu Sans"/>
                          <a:ea typeface="DejaVu Sans"/>
                          <a:cs typeface="DejaVu Sans"/>
                        </a:rPr>
                        <a:t>Policy/feed/approval/export</a:t>
                      </a:r>
                    </a:p>
                  </a:txBody>
                  <a:tcPr marL="91440" marR="91440" marT="45720" marB="45720">
                    <a:solidFill>
                      <a:srgbClr val="F6F4ED"/>
                    </a:solidFill>
                  </a:tcPr>
                </a:tc>
              </a:tr>
            </a:tbl>
          </a:graphicData>
        </a:graphic>
      </p:graphicFrame>
      <p:sp>
        <p:nvSpPr>
          <p:cNvPr id="5" name="">
            <a:extLst xmlns:a="http://schemas.openxmlformats.org/drawingml/2006/main">
              <a:ext uri="{FF2B5EF4-FFF2-40B4-BE49-F238E27FC236}">
                <a16:creationId xmlns:a16="http://schemas.microsoft.com/office/drawing/2014/main" id="{86BF1338-D526-4091-893A-F6F3B3A85450}"/>
              </a:ext>
            </a:extLst>
          </p:cNvPr>
          <p:cNvSpPr>
            <a:spLocks xmlns:a="http://schemas.openxmlformats.org/drawingml/2006/main" noGrp="1"/>
          </p:cNvSpPr>
          <p:nvPr/>
        </p:nvSpPr>
        <p:spPr>
          <a:xfrm xmlns:a="http://schemas.openxmlformats.org/drawingml/2006/main">
            <a:off x="685800" y="53340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A62C9"/>
                </a:solidFill>
                <a:latin typeface="DejaVu Sans"/>
                <a:ea typeface="DejaVu Sans"/>
                <a:cs typeface="DejaVu Sans"/>
              </a:defRPr>
            </a:pPr>
            <a:r>
              <a:rPr sz="2100" b="1">
                <a:solidFill>
                  <a:srgbClr val="2A62C9"/>
                </a:solidFill>
                <a:latin typeface="DejaVu Sans"/>
                <a:ea typeface="DejaVu Sans"/>
                <a:cs typeface="DejaVu Sans"/>
              </a:rPr>
              <a:t>Live-model accuracy and independent unseen evaluation: pending</a:t>
            </a:r>
          </a:p>
        </p:txBody>
      </p:sp>
      <p:sp>
        <p:nvSpPr>
          <p:cNvPr id="6" name="">
            <a:extLst xmlns:a="http://schemas.openxmlformats.org/drawingml/2006/main">
              <a:ext uri="{FF2B5EF4-FFF2-40B4-BE49-F238E27FC236}">
                <a16:creationId xmlns:a16="http://schemas.microsoft.com/office/drawing/2014/main" id="{1C124B5A-1808-4896-ADC6-79E3BE4A7296}"/>
              </a:ext>
            </a:extLst>
          </p:cNvPr>
          <p:cNvSpPr>
            <a:spLocks xmlns:a="http://schemas.openxmlformats.org/drawingml/2006/main" noGrp="1"/>
          </p:cNvSpPr>
          <p:nvPr/>
        </p:nvSpPr>
        <p:spPr>
          <a:xfrm xmlns:a="http://schemas.openxmlformats.org/drawingml/2006/main">
            <a:off x="685800" y="58197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6172"/>
                </a:solidFill>
                <a:latin typeface="DejaVu Sans"/>
                <a:ea typeface="DejaVu Sans"/>
                <a:cs typeface="DejaVu Sans"/>
              </a:defRPr>
            </a:pPr>
            <a:r>
              <a:rPr sz="1725" b="0">
                <a:solidFill>
                  <a:srgbClr val="556172"/>
                </a:solidFill>
                <a:latin typeface="DejaVu Sans"/>
                <a:ea typeface="DejaVu Sans"/>
                <a:cs typeface="DejaVu Sans"/>
              </a:rPr>
              <a:t>156 is the audit catalog size, not 156 distinct security requirements.</a:t>
            </a:r>
          </a:p>
        </p:txBody>
      </p:sp>
    </p:spTree>
    <p:extLst>
      <p:ext uri="{BB962C8B-B14F-4D97-AF65-F5344CB8AC3E}">
        <p14:creationId xmlns:p14="http://schemas.microsoft.com/office/powerpoint/2010/main" val="2021352137"/>
      </p:ext>
    </p:extLst>
  </p:cSld>
</p:sld>
</file>

<file path=ppt/slides/slide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DBDEA7-048B-49B2-8FA7-69B45C041925}"/>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D32"/>
                </a:solidFill>
                <a:latin typeface="DejaVu Sans"/>
                <a:ea typeface="DejaVu Sans"/>
                <a:cs typeface="DejaVu Sans"/>
              </a:defRPr>
            </a:pPr>
            <a:r>
              <a:rPr sz="3450" b="1">
                <a:solidFill>
                  <a:srgbClr val="101D32"/>
                </a:solidFill>
                <a:latin typeface="DejaVu Sans"/>
                <a:ea typeface="DejaVu Sans"/>
                <a:cs typeface="DejaVu Sans"/>
              </a:rPr>
              <a:t>Reporting for operators and judges</a:t>
            </a:r>
          </a:p>
        </p:txBody>
      </p:sp>
      <p:sp>
        <p:nvSpPr>
          <p:cNvPr id="2" name="">
            <a:extLst xmlns:a="http://schemas.openxmlformats.org/drawingml/2006/main">
              <a:ext uri="{FF2B5EF4-FFF2-40B4-BE49-F238E27FC236}">
                <a16:creationId xmlns:a16="http://schemas.microsoft.com/office/drawing/2014/main" id="{9226C233-35F3-4E3A-A984-174B7C89AD5A}"/>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6172"/>
                </a:solidFill>
                <a:latin typeface="DejaVu Sans"/>
                <a:ea typeface="DejaVu Sans"/>
                <a:cs typeface="DejaVu Sans"/>
              </a:defRPr>
            </a:pPr>
            <a:r>
              <a:rPr sz="1200" b="0">
                <a:solidFill>
                  <a:srgbClr val="556172"/>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29B7687D-DEEF-441F-B13A-E0AFD5DF7AC9}"/>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172"/>
                </a:solidFill>
                <a:latin typeface="DejaVu Sans"/>
                <a:ea typeface="DejaVu Sans"/>
                <a:cs typeface="DejaVu Sans"/>
              </a:defRPr>
            </a:pPr>
            <a:r>
              <a:rPr sz="1575" b="0">
                <a:solidFill>
                  <a:srgbClr val="556172"/>
                </a:solidFill>
                <a:latin typeface="DejaVu Sans"/>
                <a:ea typeface="DejaVu Sans"/>
                <a:cs typeface="DejaVu Sans"/>
              </a:rPr>
              <a:t>09</a:t>
            </a:r>
          </a:p>
        </p:txBody>
      </p:sp>
      <p:sp>
        <p:nvSpPr>
          <p:cNvPr id="4" name="">
            <a:extLst xmlns:a="http://schemas.openxmlformats.org/drawingml/2006/main">
              <a:ext uri="{FF2B5EF4-FFF2-40B4-BE49-F238E27FC236}">
                <a16:creationId xmlns:a16="http://schemas.microsoft.com/office/drawing/2014/main" id="{01DD7017-31C0-48AC-8743-FD39554120F1}"/>
              </a:ext>
            </a:extLst>
          </p:cNvPr>
          <p:cNvSpPr>
            <a:spLocks xmlns:a="http://schemas.openxmlformats.org/drawingml/2006/main" noGrp="1"/>
          </p:cNvSpPr>
          <p:nvPr/>
        </p:nvSpPr>
        <p:spPr>
          <a:xfrm xmlns:a="http://schemas.openxmlformats.org/drawingml/2006/main">
            <a:off x="685800" y="16859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A62C9"/>
                </a:solidFill>
                <a:latin typeface="DejaVu Sans"/>
                <a:ea typeface="DejaVu Sans"/>
                <a:cs typeface="DejaVu Sans"/>
              </a:defRPr>
            </a:pPr>
            <a:r>
              <a:rPr sz="2400" b="1">
                <a:solidFill>
                  <a:srgbClr val="2A62C9"/>
                </a:solidFill>
                <a:latin typeface="DejaVu Sans"/>
                <a:ea typeface="DejaVu Sans"/>
                <a:cs typeface="DejaVu Sans"/>
              </a:rPr>
              <a:t>Decision and resource visibility</a:t>
            </a:r>
          </a:p>
        </p:txBody>
      </p:sp>
      <p:sp>
        <p:nvSpPr>
          <p:cNvPr id="5" name="">
            <a:extLst xmlns:a="http://schemas.openxmlformats.org/drawingml/2006/main">
              <a:ext uri="{FF2B5EF4-FFF2-40B4-BE49-F238E27FC236}">
                <a16:creationId xmlns:a16="http://schemas.microsoft.com/office/drawing/2014/main" id="{57079B82-9697-4E00-9EDE-1C7F1C5C79B7}"/>
              </a:ext>
            </a:extLst>
          </p:cNvPr>
          <p:cNvSpPr>
            <a:spLocks xmlns:a="http://schemas.openxmlformats.org/drawingml/2006/main" noGrp="1"/>
          </p:cNvSpPr>
          <p:nvPr/>
        </p:nvSpPr>
        <p:spPr>
          <a:xfrm xmlns:a="http://schemas.openxmlformats.org/drawingml/2006/main">
            <a:off x="685800" y="2133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D32"/>
                </a:solidFill>
                <a:latin typeface="DejaVu Sans"/>
                <a:ea typeface="DejaVu Sans"/>
                <a:cs typeface="DejaVu Sans"/>
              </a:defRPr>
            </a:pPr>
            <a:r>
              <a:rPr sz="2025" b="0">
                <a:solidFill>
                  <a:srgbClr val="101D32"/>
                </a:solidFill>
                <a:latin typeface="DejaVu Sans"/>
                <a:ea typeface="DejaVu Sans"/>
                <a:cs typeface="DejaVu Sans"/>
              </a:rPr>
              <a:t>Dashboard: allow/block/review/redaction, policy/feed version, p50/p95 and remaining bounds.</a:t>
            </a:r>
          </a:p>
        </p:txBody>
      </p:sp>
      <p:sp>
        <p:nvSpPr>
          <p:cNvPr id="6" name="">
            <a:extLst xmlns:a="http://schemas.openxmlformats.org/drawingml/2006/main">
              <a:ext uri="{FF2B5EF4-FFF2-40B4-BE49-F238E27FC236}">
                <a16:creationId xmlns:a16="http://schemas.microsoft.com/office/drawing/2014/main" id="{C55A3C24-560D-4EC2-9C9A-815189C6E91A}"/>
              </a:ext>
            </a:extLst>
          </p:cNvPr>
          <p:cNvSpPr>
            <a:spLocks xmlns:a="http://schemas.openxmlformats.org/drawingml/2006/main" noGrp="1"/>
          </p:cNvSpPr>
          <p:nvPr/>
        </p:nvSpPr>
        <p:spPr>
          <a:xfrm xmlns:a="http://schemas.openxmlformats.org/drawingml/2006/main">
            <a:off x="685800" y="30289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A62C9"/>
                </a:solidFill>
                <a:latin typeface="DejaVu Sans"/>
                <a:ea typeface="DejaVu Sans"/>
                <a:cs typeface="DejaVu Sans"/>
              </a:defRPr>
            </a:pPr>
            <a:r>
              <a:rPr sz="2400" b="1">
                <a:solidFill>
                  <a:srgbClr val="2A62C9"/>
                </a:solidFill>
                <a:latin typeface="DejaVu Sans"/>
                <a:ea typeface="DejaVu Sans"/>
                <a:cs typeface="DejaVu Sans"/>
              </a:rPr>
              <a:t>Sanitized management export</a:t>
            </a:r>
          </a:p>
        </p:txBody>
      </p:sp>
      <p:sp>
        <p:nvSpPr>
          <p:cNvPr id="7" name="">
            <a:extLst xmlns:a="http://schemas.openxmlformats.org/drawingml/2006/main">
              <a:ext uri="{FF2B5EF4-FFF2-40B4-BE49-F238E27FC236}">
                <a16:creationId xmlns:a16="http://schemas.microsoft.com/office/drawing/2014/main" id="{E100DE73-557A-4BFB-8486-EB152380EB9C}"/>
              </a:ext>
            </a:extLst>
          </p:cNvPr>
          <p:cNvSpPr>
            <a:spLocks xmlns:a="http://schemas.openxmlformats.org/drawingml/2006/main" noGrp="1"/>
          </p:cNvSpPr>
          <p:nvPr/>
        </p:nvSpPr>
        <p:spPr>
          <a:xfrm xmlns:a="http://schemas.openxmlformats.org/drawingml/2006/main">
            <a:off x="685800" y="3476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D32"/>
                </a:solidFill>
                <a:latin typeface="DejaVu Sans"/>
                <a:ea typeface="DejaVu Sans"/>
                <a:cs typeface="DejaVu Sans"/>
              </a:defRPr>
            </a:pPr>
            <a:r>
              <a:rPr sz="2025" b="0">
                <a:solidFill>
                  <a:srgbClr val="101D32"/>
                </a:solidFill>
                <a:latin typeface="DejaVu Sans"/>
                <a:ea typeface="DejaVu Sans"/>
                <a:cs typeface="DejaVu Sans"/>
              </a:rPr>
              <a:t>HTTP rehearsal verified that example PII and credentials are absent from exported metadata.</a:t>
            </a:r>
          </a:p>
        </p:txBody>
      </p:sp>
      <p:sp>
        <p:nvSpPr>
          <p:cNvPr id="8" name="">
            <a:extLst xmlns:a="http://schemas.openxmlformats.org/drawingml/2006/main">
              <a:ext uri="{FF2B5EF4-FFF2-40B4-BE49-F238E27FC236}">
                <a16:creationId xmlns:a16="http://schemas.microsoft.com/office/drawing/2014/main" id="{2007FB98-0DCA-48B0-B59C-064D3FD44AF4}"/>
              </a:ext>
            </a:extLst>
          </p:cNvPr>
          <p:cNvSpPr>
            <a:spLocks xmlns:a="http://schemas.openxmlformats.org/drawingml/2006/main" noGrp="1"/>
          </p:cNvSpPr>
          <p:nvPr/>
        </p:nvSpPr>
        <p:spPr>
          <a:xfrm xmlns:a="http://schemas.openxmlformats.org/drawingml/2006/main">
            <a:off x="685800" y="43719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A62C9"/>
                </a:solidFill>
                <a:latin typeface="DejaVu Sans"/>
                <a:ea typeface="DejaVu Sans"/>
                <a:cs typeface="DejaVu Sans"/>
              </a:defRPr>
            </a:pPr>
            <a:r>
              <a:rPr sz="2400" b="1">
                <a:solidFill>
                  <a:srgbClr val="2A62C9"/>
                </a:solidFill>
                <a:latin typeface="DejaVu Sans"/>
                <a:ea typeface="DejaVu Sans"/>
                <a:cs typeface="DejaVu Sans"/>
              </a:rPr>
              <a:t>Explicit assurance and current limits</a:t>
            </a:r>
          </a:p>
        </p:txBody>
      </p:sp>
      <p:sp>
        <p:nvSpPr>
          <p:cNvPr id="9" name="">
            <a:extLst xmlns:a="http://schemas.openxmlformats.org/drawingml/2006/main">
              <a:ext uri="{FF2B5EF4-FFF2-40B4-BE49-F238E27FC236}">
                <a16:creationId xmlns:a16="http://schemas.microsoft.com/office/drawing/2014/main" id="{058F0F61-8717-47C7-BCED-9C827DD3BB30}"/>
              </a:ext>
            </a:extLst>
          </p:cNvPr>
          <p:cNvSpPr>
            <a:spLocks xmlns:a="http://schemas.openxmlformats.org/drawingml/2006/main" noGrp="1"/>
          </p:cNvSpPr>
          <p:nvPr/>
        </p:nvSpPr>
        <p:spPr>
          <a:xfrm xmlns:a="http://schemas.openxmlformats.org/drawingml/2006/main">
            <a:off x="685800" y="48196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D32"/>
                </a:solidFill>
                <a:latin typeface="DejaVu Sans"/>
                <a:ea typeface="DejaVu Sans"/>
                <a:cs typeface="DejaVu Sans"/>
              </a:defRPr>
            </a:pPr>
            <a:r>
              <a:rPr sz="2025" b="0">
                <a:solidFill>
                  <a:srgbClr val="101D32"/>
                </a:solidFill>
                <a:latin typeface="DejaVu Sans"/>
                <a:ea typeface="DejaVu Sans"/>
                <a:cs typeface="DejaVu Sans"/>
              </a:rPr>
              <a:t>Live versus fixture mode, quarantine, invalid reloads and volatile audit window are visible.</a:t>
            </a:r>
          </a:p>
        </p:txBody>
      </p:sp>
    </p:spTree>
    <p:extLst>
      <p:ext uri="{BB962C8B-B14F-4D97-AF65-F5344CB8AC3E}">
        <p14:creationId xmlns:p14="http://schemas.microsoft.com/office/powerpoint/2010/main" val="1265141361"/>
      </p:ext>
    </p:extLst>
  </p:cSld>
</p:sld>
</file>

<file path=ppt/slides/slide10.xml><?xml version="1.0" encoding="utf-8"?>
<p:sld xmlns:p="http://schemas.openxmlformats.org/presentationml/2006/main">
  <p:cSld>
    <p:bg>
      <p:bgPr>
        <a:solidFill xmlns:a="http://schemas.openxmlformats.org/drawingml/2006/main">
          <a:srgbClr val="101D3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B27B70-E636-4A99-8EF7-30BF051A7B97}"/>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4ED"/>
                </a:solidFill>
                <a:latin typeface="DejaVu Sans"/>
                <a:ea typeface="DejaVu Sans"/>
                <a:cs typeface="DejaVu Sans"/>
              </a:defRPr>
            </a:pPr>
            <a:r>
              <a:rPr sz="3450" b="1">
                <a:solidFill>
                  <a:srgbClr val="F6F4ED"/>
                </a:solidFill>
                <a:latin typeface="DejaVu Sans"/>
                <a:ea typeface="DejaVu Sans"/>
                <a:cs typeface="DejaVu Sans"/>
              </a:rPr>
              <a:t>Run, demonstrate, finalize</a:t>
            </a:r>
          </a:p>
        </p:txBody>
      </p:sp>
      <p:sp>
        <p:nvSpPr>
          <p:cNvPr id="2" name="">
            <a:extLst xmlns:a="http://schemas.openxmlformats.org/drawingml/2006/main">
              <a:ext uri="{FF2B5EF4-FFF2-40B4-BE49-F238E27FC236}">
                <a16:creationId xmlns:a16="http://schemas.microsoft.com/office/drawing/2014/main" id="{6194E78A-31B4-4B87-BC0E-A482D25F0672}"/>
              </a:ext>
            </a:extLst>
          </p:cNvPr>
          <p:cNvSpPr>
            <a:spLocks xmlns:a="http://schemas.openxmlformats.org/drawingml/2006/main" noGrp="1"/>
          </p:cNvSpPr>
          <p:nvPr/>
        </p:nvSpPr>
        <p:spPr>
          <a:xfrm xmlns:a="http://schemas.openxmlformats.org/drawingml/2006/main">
            <a:off x="685800" y="63055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3C7E7"/>
                </a:solidFill>
                <a:latin typeface="DejaVu Sans"/>
                <a:ea typeface="DejaVu Sans"/>
                <a:cs typeface="DejaVu Sans"/>
              </a:defRPr>
            </a:pPr>
            <a:r>
              <a:rPr sz="1200" b="0">
                <a:solidFill>
                  <a:srgbClr val="B3C7E7"/>
                </a:solidFill>
                <a:latin typeface="DejaVu Sans"/>
                <a:ea typeface="DejaVu Sans"/>
                <a:cs typeface="DejaVu Sans"/>
              </a:rPr>
              <a:t>MATHGUARD  /  HACKYEAH 2026</a:t>
            </a:r>
          </a:p>
        </p:txBody>
      </p:sp>
      <p:sp>
        <p:nvSpPr>
          <p:cNvPr id="3" name="">
            <a:extLst xmlns:a="http://schemas.openxmlformats.org/drawingml/2006/main">
              <a:ext uri="{FF2B5EF4-FFF2-40B4-BE49-F238E27FC236}">
                <a16:creationId xmlns:a16="http://schemas.microsoft.com/office/drawing/2014/main" id="{15B7B62A-5586-480F-8A6A-84B394B4B143}"/>
              </a:ext>
            </a:extLst>
          </p:cNvPr>
          <p:cNvSpPr>
            <a:spLocks xmlns:a="http://schemas.openxmlformats.org/drawingml/2006/main" noGrp="1"/>
          </p:cNvSpPr>
          <p:nvPr/>
        </p:nvSpPr>
        <p:spPr>
          <a:xfrm xmlns:a="http://schemas.openxmlformats.org/drawingml/2006/main">
            <a:off x="10953750" y="62484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4ED"/>
                </a:solidFill>
                <a:latin typeface="DejaVu Sans"/>
                <a:ea typeface="DejaVu Sans"/>
                <a:cs typeface="DejaVu Sans"/>
              </a:defRPr>
            </a:pPr>
            <a:r>
              <a:rPr sz="1575" b="0">
                <a:solidFill>
                  <a:srgbClr val="F6F4ED"/>
                </a:solidFill>
                <a:latin typeface="DejaVu Sans"/>
                <a:ea typeface="DejaVu Sans"/>
                <a:cs typeface="DejaVu Sans"/>
              </a:rPr>
              <a:t>10</a:t>
            </a:r>
          </a:p>
        </p:txBody>
      </p:sp>
      <p:sp>
        <p:nvSpPr>
          <p:cNvPr id="4" name="">
            <a:extLst xmlns:a="http://schemas.openxmlformats.org/drawingml/2006/main">
              <a:ext uri="{FF2B5EF4-FFF2-40B4-BE49-F238E27FC236}">
                <a16:creationId xmlns:a16="http://schemas.microsoft.com/office/drawing/2014/main" id="{77343491-8C3B-4B38-AF65-EE40FA56882C}"/>
              </a:ext>
            </a:extLst>
          </p:cNvPr>
          <p:cNvSpPr>
            <a:spLocks xmlns:a="http://schemas.openxmlformats.org/drawingml/2006/main" noGrp="1"/>
          </p:cNvSpPr>
          <p:nvPr/>
        </p:nvSpPr>
        <p:spPr>
          <a:xfrm xmlns:a="http://schemas.openxmlformats.org/drawingml/2006/main">
            <a:off x="685800" y="16002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7C5FF"/>
                </a:solidFill>
                <a:latin typeface="DejaVu Sans"/>
                <a:ea typeface="DejaVu Sans"/>
                <a:cs typeface="DejaVu Sans"/>
              </a:defRPr>
            </a:pPr>
            <a:r>
              <a:rPr sz="3150" b="1">
                <a:solidFill>
                  <a:srgbClr val="A7C5FF"/>
                </a:solidFill>
                <a:latin typeface="DejaVu Sans"/>
                <a:ea typeface="DejaVu Sans"/>
                <a:cs typeface="DejaVu Sans"/>
              </a:rPr>
              <a:t>make test   ·   make run</a:t>
            </a:r>
          </a:p>
        </p:txBody>
      </p:sp>
      <p:sp>
        <p:nvSpPr>
          <p:cNvPr id="5" name="">
            <a:extLst xmlns:a="http://schemas.openxmlformats.org/drawingml/2006/main">
              <a:ext uri="{FF2B5EF4-FFF2-40B4-BE49-F238E27FC236}">
                <a16:creationId xmlns:a16="http://schemas.microsoft.com/office/drawing/2014/main" id="{86A8583A-632A-4A61-90AF-E8E0EA862E42}"/>
              </a:ext>
            </a:extLst>
          </p:cNvPr>
          <p:cNvSpPr>
            <a:spLocks xmlns:a="http://schemas.openxmlformats.org/drawingml/2006/main" noGrp="1"/>
          </p:cNvSpPr>
          <p:nvPr/>
        </p:nvSpPr>
        <p:spPr>
          <a:xfrm xmlns:a="http://schemas.openxmlformats.org/drawingml/2006/main">
            <a:off x="685800" y="242887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4ED"/>
                </a:solidFill>
                <a:latin typeface="DejaVu Sans"/>
                <a:ea typeface="DejaVu Sans"/>
                <a:cs typeface="DejaVu Sans"/>
              </a:defRPr>
            </a:pPr>
            <a:r>
              <a:rPr sz="2175" b="0">
                <a:solidFill>
                  <a:srgbClr val="F6F4ED"/>
                </a:solidFill>
                <a:latin typeface="DejaVu Sans"/>
                <a:ea typeface="DejaVu Sans"/>
                <a:cs typeface="DejaVu Sans"/>
              </a:rPr>
              <a:t>Use the installed local model’s exact ID and endpoint.</a:t>
            </a:r>
          </a:p>
          <a:p xmlns:a="http://schemas.openxmlformats.org/drawingml/2006/main">
            <a:pPr>
              <a:defRPr sz="2175" b="0">
                <a:solidFill>
                  <a:srgbClr val="F6F4ED"/>
                </a:solidFill>
                <a:latin typeface="DejaVu Sans"/>
                <a:ea typeface="DejaVu Sans"/>
                <a:cs typeface="DejaVu Sans"/>
              </a:defRPr>
            </a:pPr>
            <a:r>
              <a:rPr sz="2175" b="0">
                <a:solidFill>
                  <a:srgbClr val="F6F4ED"/>
                </a:solidFill>
                <a:latin typeface="DejaVu Sans"/>
                <a:ea typeface="DejaVu Sans"/>
                <a:cs typeface="DejaVu Sans"/>
              </a:rPr>
              <a:t>Record server / weights version and license, then run the live evaluator.</a:t>
            </a:r>
          </a:p>
        </p:txBody>
      </p:sp>
      <p:sp>
        <p:nvSpPr>
          <p:cNvPr id="6" name="">
            <a:extLst xmlns:a="http://schemas.openxmlformats.org/drawingml/2006/main">
              <a:ext uri="{FF2B5EF4-FFF2-40B4-BE49-F238E27FC236}">
                <a16:creationId xmlns:a16="http://schemas.microsoft.com/office/drawing/2014/main" id="{13B3BD41-1ED9-407D-AF1B-2948DE4DC589}"/>
              </a:ext>
            </a:extLst>
          </p:cNvPr>
          <p:cNvSpPr>
            <a:spLocks xmlns:a="http://schemas.openxmlformats.org/drawingml/2006/main" noGrp="1"/>
          </p:cNvSpPr>
          <p:nvPr/>
        </p:nvSpPr>
        <p:spPr>
          <a:xfrm xmlns:a="http://schemas.openxmlformats.org/drawingml/2006/main">
            <a:off x="685800" y="38576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7C5FF"/>
                </a:solidFill>
                <a:latin typeface="DejaVu Sans"/>
                <a:ea typeface="DejaVu Sans"/>
                <a:cs typeface="DejaVu Sans"/>
              </a:defRPr>
            </a:pPr>
            <a:r>
              <a:rPr sz="2400" b="1">
                <a:solidFill>
                  <a:srgbClr val="A7C5FF"/>
                </a:solidFill>
                <a:latin typeface="DejaVu Sans"/>
                <a:ea typeface="DejaVu Sans"/>
                <a:cs typeface="DejaVu Sans"/>
              </a:rPr>
              <a:t>Remaining submission evidence</a:t>
            </a:r>
          </a:p>
        </p:txBody>
      </p:sp>
      <p:sp>
        <p:nvSpPr>
          <p:cNvPr id="7" name="">
            <a:extLst xmlns:a="http://schemas.openxmlformats.org/drawingml/2006/main">
              <a:ext uri="{FF2B5EF4-FFF2-40B4-BE49-F238E27FC236}">
                <a16:creationId xmlns:a16="http://schemas.microsoft.com/office/drawing/2014/main" id="{48542B11-E218-46B4-B55E-34B09A43B238}"/>
              </a:ext>
            </a:extLst>
          </p:cNvPr>
          <p:cNvSpPr>
            <a:spLocks xmlns:a="http://schemas.openxmlformats.org/drawingml/2006/main" noGrp="1"/>
          </p:cNvSpPr>
          <p:nvPr/>
        </p:nvSpPr>
        <p:spPr>
          <a:xfrm xmlns:a="http://schemas.openxmlformats.org/drawingml/2006/main">
            <a:off x="685800" y="43815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6F4ED"/>
                </a:solidFill>
                <a:latin typeface="DejaVu Sans"/>
                <a:ea typeface="DejaVu Sans"/>
                <a:cs typeface="DejaVu Sans"/>
              </a:defRPr>
            </a:pPr>
            <a:r>
              <a:rPr sz="1950" b="0">
                <a:solidFill>
                  <a:srgbClr val="F6F4ED"/>
                </a:solidFill>
                <a:latin typeface="DejaVu Sans"/>
                <a:ea typeface="DejaVu Sans"/>
                <a:cs typeface="DejaVu Sans"/>
              </a:rPr>
              <a:t>Live local-model results · independent human-authored prompt set</a:t>
            </a:r>
          </a:p>
          <a:p xmlns:a="http://schemas.openxmlformats.org/drawingml/2006/main">
            <a:pPr>
              <a:defRPr sz="1950" b="0">
                <a:solidFill>
                  <a:srgbClr val="F6F4ED"/>
                </a:solidFill>
                <a:latin typeface="DejaVu Sans"/>
                <a:ea typeface="DejaVu Sans"/>
                <a:cs typeface="DejaVu Sans"/>
              </a:defRPr>
            </a:pPr>
            <a:r>
              <a:rPr sz="1950" b="0">
                <a:solidFill>
                  <a:srgbClr val="F6F4ED"/>
                </a:solidFill>
                <a:latin typeface="DejaVu Sans"/>
                <a:ea typeface="DejaVu Sans"/>
                <a:cs typeface="DejaVu Sans"/>
              </a:rPr>
              <a:t>Browser/operator rehearsal · registered member list · HackTribe entry</a:t>
            </a:r>
          </a:p>
        </p:txBody>
      </p:sp>
      <p:sp>
        <p:nvSpPr>
          <p:cNvPr id="8" name="">
            <a:extLst xmlns:a="http://schemas.openxmlformats.org/drawingml/2006/main">
              <a:ext uri="{FF2B5EF4-FFF2-40B4-BE49-F238E27FC236}">
                <a16:creationId xmlns:a16="http://schemas.microsoft.com/office/drawing/2014/main" id="{E3893004-C421-46B7-AF57-E32D0A946F19}"/>
              </a:ext>
            </a:extLst>
          </p:cNvPr>
          <p:cNvSpPr>
            <a:spLocks xmlns:a="http://schemas.openxmlformats.org/drawingml/2006/main" noGrp="1"/>
          </p:cNvSpPr>
          <p:nvPr/>
        </p:nvSpPr>
        <p:spPr>
          <a:xfrm xmlns:a="http://schemas.openxmlformats.org/drawingml/2006/main">
            <a:off x="685800" y="553402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7C5FF"/>
                </a:solidFill>
                <a:latin typeface="DejaVu Sans"/>
                <a:ea typeface="DejaVu Sans"/>
                <a:cs typeface="DejaVu Sans"/>
              </a:defRPr>
            </a:pPr>
            <a:r>
              <a:rPr sz="2025" b="0">
                <a:solidFill>
                  <a:srgbClr val="A7C5FF"/>
                </a:solidFill>
                <a:latin typeface="DejaVu Sans"/>
                <a:ea typeface="DejaVu Sans"/>
                <a:cs typeface="DejaVu Sans"/>
                <a:hlinkClick xmlns:r="http://schemas.openxmlformats.org/officeDocument/2006/relationships" r:id="Rafecfe4f138e4c55"/>
              </a:rPr>
              <a:t>github.com/ljaniec/Mathguard/pull/5</a:t>
            </a:r>
          </a:p>
        </p:txBody>
      </p:sp>
    </p:spTree>
    <p:extLst>
      <p:ext uri="{BB962C8B-B14F-4D97-AF65-F5344CB8AC3E}">
        <p14:creationId xmlns:p14="http://schemas.microsoft.com/office/powerpoint/2010/main" val="10910353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2026-10-04T00:01:24.7300000Z</dcterms:created>
  <dcterms:modified xsi:type="dcterms:W3CDTF">2026-10-04T00:01:24.7300000Z</dcterms:modified>
</coreProperties>
</file>